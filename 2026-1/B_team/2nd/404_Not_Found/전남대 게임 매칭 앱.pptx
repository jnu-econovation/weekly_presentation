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4384000" cy="13716000"/>
  <p:notesSz cx="6858000" cy="9144000"/>
  <p:embeddedFontLst>
    <p:embeddedFont>
      <p:font typeface="Pretendard Medium"/>
      <p:bold r:id="rId16"/>
    </p:embeddedFont>
    <p:embeddedFont>
      <p:font typeface="Pretendard ExtraBold"/>
      <p:bold r:id="rId17"/>
    </p:embeddedFont>
    <p:embeddedFont>
      <p:font typeface="Pretendard Regular"/>
      <p:regular r:id="rId18"/>
    </p:embeddedFont>
    <p:embeddedFont>
      <p:font typeface="Pretendard Bold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fonts/font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0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15.png" Type="http://schemas.openxmlformats.org/officeDocument/2006/relationships/image"/><Relationship Id="rId5" Target="../media/image34.png" Type="http://schemas.openxmlformats.org/officeDocument/2006/relationships/image"/><Relationship Id="rId6" Target="../media/image10.png" Type="http://schemas.openxmlformats.org/officeDocument/2006/relationships/image"/><Relationship Id="rId7" Target="../media/image17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10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93700" y="-12700"/>
            <a:ext cx="24892000" cy="1511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143000" y="11671300"/>
            <a:ext cx="25527000" cy="208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263100" y="9550400"/>
            <a:ext cx="2146300" cy="2146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2100" y="4546600"/>
            <a:ext cx="7277100" cy="7543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140700" y="6540500"/>
            <a:ext cx="13055600" cy="2298700"/>
          </a:xfrm>
          <a:prstGeom prst="rect">
            <a:avLst/>
          </a:prstGeom>
        </p:spPr>
        <p:txBody>
          <a:bodyPr anchor="t" rtlCol="false" lIns="0" tIns="164253" rIns="0" bIns="0"/>
          <a:lstStyle/>
          <a:p>
            <a:pPr algn="ctr" lvl="0">
              <a:lnSpc>
                <a:spcPct val="99600"/>
              </a:lnSpc>
            </a:pPr>
            <a:r>
              <a:rPr lang="en-US" sz="12933" b="false" i="false" u="none" strike="noStrike" spc="-4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전남대 게임 매칭 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10500" y="5461000"/>
            <a:ext cx="12700000" cy="762000"/>
          </a:xfrm>
          <a:prstGeom prst="rect">
            <a:avLst/>
          </a:prstGeom>
        </p:spPr>
        <p:txBody>
          <a:bodyPr anchor="b" rtlCol="false" lIns="0" tIns="0" rIns="0" bIns="54187"/>
          <a:lstStyle/>
          <a:p>
            <a:pPr algn="ctr" lvl="0">
              <a:lnSpc>
                <a:spcPct val="99600"/>
              </a:lnSpc>
            </a:pPr>
            <a:r>
              <a:rPr lang="en-US" sz="4266" b="false" i="false" u="none" strike="noStrike">
                <a:solidFill>
                  <a:srgbClr val="37664B"/>
                </a:solidFill>
                <a:latin typeface="Pretendard Medium"/>
                <a:ea typeface="Pretendard Medium"/>
                <a:cs typeface="Pretendard Medium"/>
              </a:rPr>
              <a:t>404 not found 팀의 프로젝트 소개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618200" y="736600"/>
            <a:ext cx="5308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366000" y="8229600"/>
            <a:ext cx="96520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58900" y="571500"/>
            <a:ext cx="22428200" cy="1930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759200" y="952500"/>
            <a:ext cx="195453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6533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31800" y="254000"/>
            <a:ext cx="2882900" cy="2273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489200" y="4025900"/>
            <a:ext cx="9118600" cy="711200"/>
          </a:xfrm>
          <a:prstGeom prst="rect">
            <a:avLst/>
          </a:prstGeom>
        </p:spPr>
        <p:txBody>
          <a:bodyPr anchor="b" rtlCol="false" lIns="0" tIns="0" rIns="0" bIns="5080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프로젝트 개요 및 팀 소개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9200" y="4864100"/>
            <a:ext cx="908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팀 404 not found 구성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전남대 학생 전용 게임 매칭 앱 개발 목표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6200" y="3416300"/>
            <a:ext cx="838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0190"/>
              </a:lnSpc>
            </a:pPr>
            <a:r>
              <a:rPr lang="en-US" sz="3333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89200" y="7353300"/>
            <a:ext cx="9118600" cy="711200"/>
          </a:xfrm>
          <a:prstGeom prst="rect">
            <a:avLst/>
          </a:prstGeom>
        </p:spPr>
        <p:txBody>
          <a:bodyPr anchor="b" rtlCol="false" lIns="0" tIns="0" rIns="0" bIns="5080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문제 인식 및 기획 배경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89200" y="8178800"/>
            <a:ext cx="90805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기존 게임 파티 구하기의 불편함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같은 학교 학생 매칭 서비스 부재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해결 방향 제시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6200" y="6743700"/>
            <a:ext cx="838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0190"/>
              </a:lnSpc>
            </a:pPr>
            <a:r>
              <a:rPr lang="en-US" sz="3333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9200" y="10668000"/>
            <a:ext cx="9118600" cy="711200"/>
          </a:xfrm>
          <a:prstGeom prst="rect">
            <a:avLst/>
          </a:prstGeom>
        </p:spPr>
        <p:txBody>
          <a:bodyPr anchor="b" rtlCol="false" lIns="0" tIns="0" rIns="0" bIns="5080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프로젝트 목표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89200" y="11506200"/>
            <a:ext cx="908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안전한 학생 전용 매칭 서비스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빠르고 간단한 핵심 기능 중심 설계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6200" y="10058400"/>
            <a:ext cx="838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0190"/>
              </a:lnSpc>
            </a:pPr>
            <a:r>
              <a:rPr lang="en-US" sz="3333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71600" y="4025900"/>
            <a:ext cx="9118600" cy="711200"/>
          </a:xfrm>
          <a:prstGeom prst="rect">
            <a:avLst/>
          </a:prstGeom>
        </p:spPr>
        <p:txBody>
          <a:bodyPr anchor="b" rtlCol="false" lIns="0" tIns="0" rIns="0" bIns="5080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지원 게임 및 매칭 방식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71600" y="4864100"/>
            <a:ext cx="908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- 5개 인기 게임 지원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티어 및 매너 점수 기반 매칭 알고리즘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8600" y="3416300"/>
            <a:ext cx="838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0190"/>
              </a:lnSpc>
            </a:pPr>
            <a:r>
              <a:rPr lang="en-US" sz="3333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71600" y="7353300"/>
            <a:ext cx="9118600" cy="711200"/>
          </a:xfrm>
          <a:prstGeom prst="rect">
            <a:avLst/>
          </a:prstGeom>
        </p:spPr>
        <p:txBody>
          <a:bodyPr anchor="b" rtlCol="false" lIns="0" tIns="0" rIns="0" bIns="5080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프로필 및 해시태그 시스템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71600" y="8178800"/>
            <a:ext cx="908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게임 정보 및 플레이 스타일 표시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학과 정보 선택적 공개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28600" y="6743700"/>
            <a:ext cx="838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0190"/>
              </a:lnSpc>
            </a:pPr>
            <a:r>
              <a:rPr lang="en-US" sz="3333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71600" y="10668000"/>
            <a:ext cx="9118600" cy="711200"/>
          </a:xfrm>
          <a:prstGeom prst="rect">
            <a:avLst/>
          </a:prstGeom>
        </p:spPr>
        <p:txBody>
          <a:bodyPr anchor="b" rtlCol="false" lIns="0" tIns="0" rIns="0" bIns="5080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핵심 기능 및 평가 시스템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71600" y="11506200"/>
            <a:ext cx="90805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단순한 UI/UX 설계</a:t>
            </a:r>
          </a:p>
          <a:p>
            <a:pPr algn="l" lvl="0">
              <a:lnSpc>
                <a:spcPct val="116199"/>
              </a:lnSpc>
            </a:pPr>
            <a:r>
              <a:rPr lang="en-US" sz="2933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게임 후 매너 평가 및 랭킹 시스템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28600" y="10058400"/>
            <a:ext cx="838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60190"/>
              </a:lnSpc>
            </a:pPr>
            <a:r>
              <a:rPr lang="en-US" sz="3333" b="false" i="false" u="none" strike="noStrike" spc="-1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58900" y="571500"/>
            <a:ext cx="22428200" cy="1930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759200" y="952500"/>
            <a:ext cx="195453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6533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404 팀소개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1800" y="254000"/>
            <a:ext cx="2882900" cy="2273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143000" y="12458700"/>
            <a:ext cx="25527000" cy="129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09700" y="3771900"/>
            <a:ext cx="5715000" cy="7048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54000" y="4889500"/>
            <a:ext cx="7708900" cy="736600"/>
          </a:xfrm>
          <a:prstGeom prst="rect">
            <a:avLst/>
          </a:prstGeom>
        </p:spPr>
        <p:txBody>
          <a:bodyPr anchor="b" rtlCol="false" lIns="0" tIns="0" rIns="0" bIns="26247"/>
          <a:lstStyle/>
          <a:p>
            <a:pPr algn="ctr" lvl="0">
              <a:lnSpc>
                <a:spcPct val="107899"/>
              </a:lnSpc>
            </a:pPr>
            <a:r>
              <a:rPr lang="en-US" sz="4133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팀원 구성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9600" y="6235700"/>
            <a:ext cx="7683500" cy="273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박세현: 프론트엔드 개발</a:t>
            </a:r>
          </a:p>
          <a:p>
            <a:pPr algn="l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윤지환: 백엔드 개발</a:t>
            </a:r>
          </a:p>
          <a:p>
            <a:pPr algn="l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장수연: 디자이너</a:t>
            </a:r>
          </a:p>
          <a:p>
            <a:pPr algn="l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조다은: PM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70700" y="3175000"/>
            <a:ext cx="533400" cy="381000"/>
          </a:xfrm>
          <a:prstGeom prst="rect">
            <a:avLst/>
          </a:prstGeom>
        </p:spPr>
        <p:txBody>
          <a:bodyPr anchor="ctr" rtlCol="false" lIns="0" tIns="33867" rIns="0" bIns="33867"/>
          <a:lstStyle/>
          <a:p>
            <a:pPr algn="ctr" lvl="0">
              <a:lnSpc>
                <a:spcPct val="95449"/>
              </a:lnSpc>
            </a:pPr>
            <a:r>
              <a:rPr lang="en-US" sz="21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927600" y="8013700"/>
            <a:ext cx="5067300" cy="4229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591300" y="3022600"/>
            <a:ext cx="17932400" cy="1333500"/>
          </a:xfrm>
          <a:prstGeom prst="rect">
            <a:avLst/>
          </a:prstGeom>
        </p:spPr>
        <p:txBody>
          <a:bodyPr anchor="t" rtlCol="false" lIns="0" tIns="95058" rIns="0" bIns="0"/>
          <a:lstStyle/>
          <a:p>
            <a:pPr algn="ctr" lvl="0">
              <a:lnSpc>
                <a:spcPct val="99600"/>
              </a:lnSpc>
            </a:pPr>
            <a:r>
              <a:rPr lang="en-US" sz="7484" b="false" i="false" u="none" strike="noStrike" spc="-3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저희는 회의를 거쳐 후보중에서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85000" y="4279900"/>
            <a:ext cx="17932400" cy="1333500"/>
          </a:xfrm>
          <a:prstGeom prst="rect">
            <a:avLst/>
          </a:prstGeom>
        </p:spPr>
        <p:txBody>
          <a:bodyPr anchor="t" rtlCol="false" lIns="0" tIns="95058" rIns="0" bIns="0"/>
          <a:lstStyle/>
          <a:p>
            <a:pPr algn="ctr" lvl="0">
              <a:lnSpc>
                <a:spcPct val="99600"/>
              </a:lnSpc>
            </a:pPr>
            <a:r>
              <a:rPr lang="en-US" sz="7484" b="false" i="false" u="none" strike="noStrike" spc="-3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유기견 구조 관련 앱을 만들기로 했습니다!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85000" y="5626100"/>
            <a:ext cx="17932400" cy="1333500"/>
          </a:xfrm>
          <a:prstGeom prst="rect">
            <a:avLst/>
          </a:prstGeom>
        </p:spPr>
        <p:txBody>
          <a:bodyPr anchor="t" rtlCol="false" lIns="0" tIns="95058" rIns="0" bIns="0"/>
          <a:lstStyle/>
          <a:p>
            <a:pPr algn="ctr" lvl="0">
              <a:lnSpc>
                <a:spcPct val="99600"/>
              </a:lnSpc>
            </a:pPr>
            <a:r>
              <a:rPr lang="en-US" sz="7484" b="false" i="false" u="none" strike="noStrike" spc="-3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앱기능도 정했습니다!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5000" y="6959600"/>
            <a:ext cx="17932400" cy="1333500"/>
          </a:xfrm>
          <a:prstGeom prst="rect">
            <a:avLst/>
          </a:prstGeom>
        </p:spPr>
        <p:txBody>
          <a:bodyPr anchor="t" rtlCol="false" lIns="0" tIns="95058" rIns="0" bIns="0"/>
          <a:lstStyle/>
          <a:p>
            <a:pPr algn="ctr" lvl="0">
              <a:lnSpc>
                <a:spcPct val="99600"/>
              </a:lnSpc>
            </a:pPr>
            <a:r>
              <a:rPr lang="en-US" sz="7484" b="false" i="false" u="none" strike="noStrike" spc="-3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너무 똑같은 앱을 발견해서...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91300" y="8801100"/>
            <a:ext cx="17932400" cy="1333500"/>
          </a:xfrm>
          <a:prstGeom prst="rect">
            <a:avLst/>
          </a:prstGeom>
        </p:spPr>
        <p:txBody>
          <a:bodyPr anchor="t" rtlCol="false" lIns="0" tIns="95058" rIns="0" bIns="0"/>
          <a:lstStyle/>
          <a:p>
            <a:pPr algn="ctr" lvl="0">
              <a:lnSpc>
                <a:spcPct val="99600"/>
              </a:lnSpc>
            </a:pPr>
            <a:r>
              <a:rPr lang="en-US" sz="7484" b="false" i="false" u="none" strike="noStrike" spc="-3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다시 시작했습니다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85000" y="10147300"/>
            <a:ext cx="17932400" cy="1333500"/>
          </a:xfrm>
          <a:prstGeom prst="rect">
            <a:avLst/>
          </a:prstGeom>
        </p:spPr>
        <p:txBody>
          <a:bodyPr anchor="t" rtlCol="false" lIns="0" tIns="95058" rIns="0" bIns="0"/>
          <a:lstStyle/>
          <a:p>
            <a:pPr algn="ctr" lvl="0">
              <a:lnSpc>
                <a:spcPct val="99600"/>
              </a:lnSpc>
            </a:pPr>
            <a:r>
              <a:rPr lang="en-US" sz="7484" b="false" i="false" u="none" strike="noStrike" spc="-3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새로 구상한 프로젝트입니다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58900" y="571500"/>
            <a:ext cx="22428200" cy="1930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759200" y="952500"/>
            <a:ext cx="195453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6533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문제 인식 및 기획 배경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1800" y="254000"/>
            <a:ext cx="2882900" cy="2273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3505200"/>
            <a:ext cx="21894800" cy="800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048000" y="7505700"/>
            <a:ext cx="73406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896100" y="6489700"/>
            <a:ext cx="5092700" cy="273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같은 학교 학생들과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게임을 하고 싶어도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이를 연결해주는 서비스가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거의 없음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0" y="5308600"/>
            <a:ext cx="5118100" cy="685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ctr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기존 문제점 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16500" y="5334000"/>
            <a:ext cx="673100" cy="673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054600" y="5397500"/>
            <a:ext cx="571500" cy="546100"/>
          </a:xfrm>
          <a:prstGeom prst="rect">
            <a:avLst/>
          </a:prstGeom>
        </p:spPr>
        <p:txBody>
          <a:bodyPr anchor="ctr" rtlCol="false" lIns="0" tIns="48683" rIns="0" bIns="48683"/>
          <a:lstStyle/>
          <a:p>
            <a:pPr algn="ctr" lvl="0">
              <a:lnSpc>
                <a:spcPct val="95449"/>
              </a:lnSpc>
            </a:pPr>
            <a:r>
              <a:rPr lang="en-US" sz="3066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5100" y="6489700"/>
            <a:ext cx="5092700" cy="273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 파티를 구하기 위해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오픈채팅, 디스코드 등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여러 곳을 찾아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다녀야 하는 불편함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82500" y="6489700"/>
            <a:ext cx="5092700" cy="342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익명의 외부인과 게임하는 것보다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학교 학생들과 하면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 친구가 될수도 있음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+ 친근감도 있고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56200" y="5308600"/>
            <a:ext cx="5118100" cy="685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ctr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해결 방향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56200" y="6489700"/>
            <a:ext cx="5092700" cy="273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전남대 학생들끼리 쉽고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편하게 게임 파티를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구할 수 있는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앱을 만들어보자 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1143000" y="12458700"/>
            <a:ext cx="25527000" cy="129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521700" y="7467600"/>
            <a:ext cx="7340600" cy="12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982700" y="7454900"/>
            <a:ext cx="7340600" cy="127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6642100" y="5308600"/>
            <a:ext cx="5118100" cy="685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ctr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기존 문제점 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77500" y="5334000"/>
            <a:ext cx="673100" cy="6731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0528300" y="5397500"/>
            <a:ext cx="571500" cy="546100"/>
          </a:xfrm>
          <a:prstGeom prst="rect">
            <a:avLst/>
          </a:prstGeom>
        </p:spPr>
        <p:txBody>
          <a:bodyPr anchor="ctr" rtlCol="false" lIns="0" tIns="48683" rIns="0" bIns="48683"/>
          <a:lstStyle/>
          <a:p>
            <a:pPr algn="ctr" lvl="0">
              <a:lnSpc>
                <a:spcPct val="95449"/>
              </a:lnSpc>
            </a:pPr>
            <a:r>
              <a:rPr lang="en-US" sz="3066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42800" y="5308600"/>
            <a:ext cx="5118100" cy="685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ctr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기존 문제점 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192500" y="5334000"/>
            <a:ext cx="673100" cy="6731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6243300" y="5397500"/>
            <a:ext cx="571500" cy="546100"/>
          </a:xfrm>
          <a:prstGeom prst="rect">
            <a:avLst/>
          </a:prstGeom>
        </p:spPr>
        <p:txBody>
          <a:bodyPr anchor="ctr" rtlCol="false" lIns="0" tIns="48683" rIns="0" bIns="48683"/>
          <a:lstStyle/>
          <a:p>
            <a:pPr algn="ctr" lvl="0">
              <a:lnSpc>
                <a:spcPct val="95449"/>
              </a:lnSpc>
            </a:pPr>
            <a:r>
              <a:rPr lang="en-US" sz="3066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58900" y="571500"/>
            <a:ext cx="22428200" cy="1930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759200" y="952500"/>
            <a:ext cx="195453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6533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지원 게임 및 매칭 방식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1800" y="254000"/>
            <a:ext cx="2882900" cy="2273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3505200"/>
            <a:ext cx="21894800" cy="800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048000" y="7505700"/>
            <a:ext cx="73406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896100" y="5308600"/>
            <a:ext cx="5118100" cy="685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ctr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게임 선택 방식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05900" y="4267200"/>
            <a:ext cx="673100" cy="673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169400" y="4381500"/>
            <a:ext cx="5588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96100" y="6489700"/>
            <a:ext cx="5092700" cy="201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매칭할 게임을 고르고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매칭 대기 최대 시간을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설정하고 대기한다.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2400" y="5308600"/>
            <a:ext cx="5118100" cy="685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ctr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지원 게임 5종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44900" y="4267200"/>
            <a:ext cx="673100" cy="6731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3695700" y="4381500"/>
            <a:ext cx="5588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5100" y="6489700"/>
            <a:ext cx="5092700" cy="342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롤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발로란트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배틀그라운드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-피-파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오버워치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96800" y="5308600"/>
            <a:ext cx="5118100" cy="685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ctr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티어 기반 매칭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719300" y="4267200"/>
            <a:ext cx="673100" cy="673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4782800" y="4381500"/>
            <a:ext cx="5588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9500" y="6489700"/>
            <a:ext cx="5092700" cy="342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사용자의 게임 티어를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기준으로 비슷한 실력의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플레이어끼리 매칭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+ 내가 처음에 매칭할때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원하는 상대방 티어 범위 설정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856200" y="5308600"/>
            <a:ext cx="5118100" cy="685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ctr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매너 점수 반영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078700" y="4267200"/>
            <a:ext cx="673100" cy="6731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0129500" y="4381500"/>
            <a:ext cx="5588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856200" y="6489700"/>
            <a:ext cx="5092700" cy="273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매너 점수를 매칭할때 반영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+ 별점이 비슷한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사람들끼리 할 </a:t>
            </a:r>
          </a:p>
          <a:p>
            <a:pPr algn="ctr" lvl="0">
              <a:lnSpc>
                <a:spcPct val="132800"/>
              </a:lnSpc>
            </a:pPr>
            <a:r>
              <a:rPr lang="en-US" sz="3466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가능성이 큼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1143000" y="12458700"/>
            <a:ext cx="25527000" cy="1295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521700" y="7467600"/>
            <a:ext cx="7340600" cy="12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4249400" y="7467600"/>
            <a:ext cx="73406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58900" y="571500"/>
            <a:ext cx="22428200" cy="1930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759200" y="952500"/>
            <a:ext cx="195453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6533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게임 후 평가 및 랭킹 시스템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1800" y="254000"/>
            <a:ext cx="2882900" cy="2273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3505200"/>
            <a:ext cx="21894800" cy="800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048000" y="7505700"/>
            <a:ext cx="73406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896100" y="5397500"/>
            <a:ext cx="5105400" cy="635000"/>
          </a:xfrm>
          <a:prstGeom prst="rect">
            <a:avLst/>
          </a:prstGeom>
        </p:spPr>
        <p:txBody>
          <a:bodyPr anchor="b" rtlCol="false" lIns="0" tIns="0" rIns="0" bIns="22860"/>
          <a:lstStyle/>
          <a:p>
            <a:pPr algn="ctr" lvl="0">
              <a:lnSpc>
                <a:spcPct val="107899"/>
              </a:lnSpc>
            </a:pPr>
            <a:r>
              <a:rPr lang="en-US" sz="3600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매너 평가 시스템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05900" y="4267200"/>
            <a:ext cx="673100" cy="673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169400" y="4381500"/>
            <a:ext cx="5588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08800" y="6489700"/>
            <a:ext cx="5080000" cy="121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게임 매너 상호 평가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반복 신고 시 제재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2400" y="5397500"/>
            <a:ext cx="5105400" cy="635000"/>
          </a:xfrm>
          <a:prstGeom prst="rect">
            <a:avLst/>
          </a:prstGeom>
        </p:spPr>
        <p:txBody>
          <a:bodyPr anchor="b" rtlCol="false" lIns="0" tIns="0" rIns="0" bIns="22860"/>
          <a:lstStyle/>
          <a:p>
            <a:pPr algn="ctr" lvl="0">
              <a:lnSpc>
                <a:spcPct val="107899"/>
              </a:lnSpc>
            </a:pPr>
            <a:r>
              <a:rPr lang="en-US" sz="3600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승패 기록 시스템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44900" y="4267200"/>
            <a:ext cx="673100" cy="6731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3695700" y="4381500"/>
            <a:ext cx="5588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5100" y="6489700"/>
            <a:ext cx="50800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양쪽 사용자가 동일한 결과 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선택 시에만 반영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신뢰성 있는 전적 관리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공정한 기록 시스템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2500" y="5397500"/>
            <a:ext cx="5105400" cy="635000"/>
          </a:xfrm>
          <a:prstGeom prst="rect">
            <a:avLst/>
          </a:prstGeom>
        </p:spPr>
        <p:txBody>
          <a:bodyPr anchor="b" rtlCol="false" lIns="0" tIns="0" rIns="0" bIns="22860"/>
          <a:lstStyle/>
          <a:p>
            <a:pPr algn="ctr" lvl="0">
              <a:lnSpc>
                <a:spcPct val="107899"/>
              </a:lnSpc>
            </a:pPr>
            <a:r>
              <a:rPr lang="en-US" sz="3600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비매너 사용자 관리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592300" y="4267200"/>
            <a:ext cx="673100" cy="673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4655800" y="4381500"/>
            <a:ext cx="5588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82500" y="6489700"/>
            <a:ext cx="50800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비슷한 매너 점수끼리 우선 매칭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일반 사용자 보호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쾌적한 게임 환경 제공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856200" y="5397500"/>
            <a:ext cx="5105400" cy="635000"/>
          </a:xfrm>
          <a:prstGeom prst="rect">
            <a:avLst/>
          </a:prstGeom>
        </p:spPr>
        <p:txBody>
          <a:bodyPr anchor="b" rtlCol="false" lIns="0" tIns="0" rIns="0" bIns="22860"/>
          <a:lstStyle/>
          <a:p>
            <a:pPr algn="ctr" lvl="0">
              <a:lnSpc>
                <a:spcPct val="107899"/>
              </a:lnSpc>
            </a:pPr>
            <a:r>
              <a:rPr lang="en-US" sz="3600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게임별 랭킹 시스템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078700" y="4267200"/>
            <a:ext cx="673100" cy="6731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0129500" y="4381500"/>
            <a:ext cx="5588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868900" y="6489700"/>
            <a:ext cx="50800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롤, 발로란트, 오버워치 등 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게임별 랭킹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승패 횟수 표시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게임횟수 표시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1143000" y="12458700"/>
            <a:ext cx="25527000" cy="1295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521700" y="7467600"/>
            <a:ext cx="7340600" cy="12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982700" y="7454900"/>
            <a:ext cx="73406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58900" y="571500"/>
            <a:ext cx="22428200" cy="1930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759200" y="952500"/>
            <a:ext cx="195453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6533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초반에 인원이 많이 필요할텐데... 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1800" y="254000"/>
            <a:ext cx="2882900" cy="2273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3505200"/>
            <a:ext cx="21894800" cy="8001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759200" y="8991600"/>
            <a:ext cx="16294100" cy="1320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l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에브리타임, 학과 단톡방 등을 활용해 전남대 학생들에게 앱을 홍보하기</a:t>
            </a:r>
          </a:p>
          <a:p>
            <a:pPr algn="l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(+ 같은 학교 학생끼리 게임하면 더 재밌을거라고 어필하기)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41600" y="8991600"/>
            <a:ext cx="673100" cy="673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705100" y="9093200"/>
            <a:ext cx="5461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143000" y="12458700"/>
            <a:ext cx="25527000" cy="1295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759200" y="7505700"/>
            <a:ext cx="16294100" cy="685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l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학교 축제와 교내 행사때 QR코드 포스터로 앱을 홍보한다.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41600" y="7505700"/>
            <a:ext cx="673100" cy="673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705100" y="7620000"/>
            <a:ext cx="5461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59200" y="5372100"/>
            <a:ext cx="16294100" cy="1320800"/>
          </a:xfrm>
          <a:prstGeom prst="rect">
            <a:avLst/>
          </a:prstGeom>
        </p:spPr>
        <p:txBody>
          <a:bodyPr anchor="b" rtlCol="false" lIns="0" tIns="0" rIns="0" bIns="24553"/>
          <a:lstStyle/>
          <a:p>
            <a:pPr algn="l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처음에는 과에서 랭킹 몇등, 우리학교에서 랭킹 몇등, </a:t>
            </a:r>
          </a:p>
          <a:p>
            <a:pPr algn="l" lvl="0">
              <a:lnSpc>
                <a:spcPct val="107899"/>
              </a:lnSpc>
            </a:pPr>
            <a:r>
              <a:rPr lang="en-US" sz="38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게임별로 몇 등을 기준으로 상품을 주면서 경쟁하게 !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41600" y="5410200"/>
            <a:ext cx="673100" cy="673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2705100" y="5511800"/>
            <a:ext cx="558800" cy="444500"/>
          </a:xfrm>
          <a:prstGeom prst="rect">
            <a:avLst/>
          </a:prstGeom>
        </p:spPr>
        <p:txBody>
          <a:bodyPr anchor="ctr" rtlCol="false" lIns="0" tIns="40217" rIns="0" bIns="40217"/>
          <a:lstStyle/>
          <a:p>
            <a:pPr algn="ctr" lvl="0">
              <a:lnSpc>
                <a:spcPct val="95449"/>
              </a:lnSpc>
            </a:pPr>
            <a:r>
              <a:rPr lang="en-US" sz="2533" b="false" i="false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1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97400" y="4165600"/>
            <a:ext cx="51943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527300" y="63500"/>
            <a:ext cx="34505900" cy="14859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143000" y="12458700"/>
            <a:ext cx="25527000" cy="129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88900"/>
            <a:ext cx="20485100" cy="1365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58900" y="571500"/>
            <a:ext cx="22428200" cy="1930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759200" y="952500"/>
            <a:ext cx="19545300" cy="1155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6533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프로젝트 팀 목표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1800" y="254000"/>
            <a:ext cx="2882900" cy="2273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143000" y="12458700"/>
            <a:ext cx="25527000" cy="129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70100" y="3276600"/>
            <a:ext cx="20205700" cy="8559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82800" y="7543800"/>
            <a:ext cx="6718300" cy="4279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667500" y="5397500"/>
            <a:ext cx="42672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303000" y="7543800"/>
            <a:ext cx="85598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2070100" y="7543800"/>
            <a:ext cx="20205700" cy="12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514600" y="4140200"/>
            <a:ext cx="5613400" cy="622300"/>
          </a:xfrm>
          <a:prstGeom prst="rect">
            <a:avLst/>
          </a:prstGeom>
        </p:spPr>
        <p:txBody>
          <a:bodyPr anchor="b" rtlCol="false" lIns="0" tIns="0" rIns="0" bIns="22013"/>
          <a:lstStyle/>
          <a:p>
            <a:pPr algn="ctr" lvl="0">
              <a:lnSpc>
                <a:spcPct val="107899"/>
              </a:lnSpc>
            </a:pPr>
            <a:r>
              <a:rPr lang="en-US" sz="34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실제 동작하는 앱 완성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14600" y="4914900"/>
            <a:ext cx="5600700" cy="186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최우선 목표 설정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아이디어에서 실제 앱으로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부족해도 되니까 꼭 완성까지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85300" y="4140200"/>
            <a:ext cx="5613400" cy="622300"/>
          </a:xfrm>
          <a:prstGeom prst="rect">
            <a:avLst/>
          </a:prstGeom>
        </p:spPr>
        <p:txBody>
          <a:bodyPr anchor="b" rtlCol="false" lIns="0" tIns="0" rIns="0" bIns="22013"/>
          <a:lstStyle/>
          <a:p>
            <a:pPr algn="ctr" lvl="0">
              <a:lnSpc>
                <a:spcPct val="107899"/>
              </a:lnSpc>
            </a:pPr>
            <a:r>
              <a:rPr lang="en-US" sz="34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첫 팀 개발 경험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85300" y="4914900"/>
            <a:ext cx="5600700" cy="186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팀 단위 앱 개발 첫 경험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시행착오 예상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문제 해결 과정 경험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67100" y="4140200"/>
            <a:ext cx="5613400" cy="622300"/>
          </a:xfrm>
          <a:prstGeom prst="rect">
            <a:avLst/>
          </a:prstGeom>
        </p:spPr>
        <p:txBody>
          <a:bodyPr anchor="b" rtlCol="false" lIns="0" tIns="0" rIns="0" bIns="22013"/>
          <a:lstStyle/>
          <a:p>
            <a:pPr algn="ctr" lvl="0">
              <a:lnSpc>
                <a:spcPct val="107899"/>
              </a:lnSpc>
            </a:pPr>
            <a:r>
              <a:rPr lang="en-US" sz="34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협업을 통한 성장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67100" y="4914900"/>
            <a:ext cx="56007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역할 분담 및 협업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프론트엔드, 백엔드, 디자인, PM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팀워크 향상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문제 해결 능력 배양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67100" y="8089900"/>
            <a:ext cx="5613400" cy="622300"/>
          </a:xfrm>
          <a:prstGeom prst="rect">
            <a:avLst/>
          </a:prstGeom>
        </p:spPr>
        <p:txBody>
          <a:bodyPr anchor="b" rtlCol="false" lIns="0" tIns="0" rIns="0" bIns="22013"/>
          <a:lstStyle/>
          <a:p>
            <a:pPr algn="ctr" lvl="0">
              <a:lnSpc>
                <a:spcPct val="107899"/>
              </a:lnSpc>
            </a:pPr>
            <a:r>
              <a:rPr lang="en-US" sz="34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실제로 이앱이 쓰인다면...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67100" y="9055100"/>
            <a:ext cx="5600700" cy="121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실제 사용자가 사용 가능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가능하다면 배포랑 사용까지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85300" y="8089900"/>
            <a:ext cx="5613400" cy="622300"/>
          </a:xfrm>
          <a:prstGeom prst="rect">
            <a:avLst/>
          </a:prstGeom>
        </p:spPr>
        <p:txBody>
          <a:bodyPr anchor="b" rtlCol="false" lIns="0" tIns="0" rIns="0" bIns="22013"/>
          <a:lstStyle/>
          <a:p>
            <a:pPr algn="ctr" lvl="0">
              <a:lnSpc>
                <a:spcPct val="107899"/>
              </a:lnSpc>
            </a:pPr>
            <a:r>
              <a:rPr lang="en-US" sz="3466" b="false" i="false" u="none" strike="noStrike" spc="-100">
                <a:solidFill>
                  <a:srgbClr val="37664B"/>
                </a:solidFill>
                <a:latin typeface="Pretendard Bold"/>
                <a:ea typeface="Pretendard Bold"/>
                <a:cs typeface="Pretendard Bold"/>
              </a:rPr>
              <a:t>개발 전 과정 경험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85300" y="9055100"/>
            <a:ext cx="5600700" cy="186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기획부터 배포까지 전 과정 !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프로젝트 경험 해보기</a:t>
            </a:r>
          </a:p>
          <a:p>
            <a:pPr algn="ctr" lvl="0">
              <a:lnSpc>
                <a:spcPct val="132800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내가 맡은 역할에 대해 배우기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12900" y="72263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93700" y="-12700"/>
            <a:ext cx="24892000" cy="1511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143000" y="11671300"/>
            <a:ext cx="25527000" cy="2082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740400" y="3810000"/>
            <a:ext cx="18199100" cy="4508500"/>
          </a:xfrm>
          <a:prstGeom prst="rect">
            <a:avLst/>
          </a:prstGeom>
        </p:spPr>
        <p:txBody>
          <a:bodyPr anchor="t" rtlCol="false" lIns="0" tIns="118533" rIns="0" bIns="0"/>
          <a:lstStyle/>
          <a:p>
            <a:pPr algn="ctr" lvl="0">
              <a:lnSpc>
                <a:spcPct val="99600"/>
              </a:lnSpc>
            </a:pPr>
            <a:r>
              <a:rPr lang="en-US" sz="9333" b="false" i="false" u="none" strike="noStrike" spc="-3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발표를 잘 들어주셔서 감사합니다.</a:t>
            </a:r>
          </a:p>
          <a:p>
            <a:pPr algn="ctr" lvl="0">
              <a:lnSpc>
                <a:spcPct val="99600"/>
              </a:lnSpc>
            </a:pPr>
            <a:r>
              <a:rPr lang="en-US" sz="9333" b="false" i="false" u="none" strike="noStrike" spc="-3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질문이나 조언, 좋은 아이디어 있으시면</a:t>
            </a:r>
          </a:p>
          <a:p>
            <a:pPr algn="ctr" lvl="0">
              <a:lnSpc>
                <a:spcPct val="99600"/>
              </a:lnSpc>
            </a:pPr>
            <a:r>
              <a:rPr lang="en-US" sz="9333" b="false" i="false" u="none" strike="noStrike" spc="-300">
                <a:solidFill>
                  <a:srgbClr val="37664B"/>
                </a:solidFill>
                <a:latin typeface="Pretendard ExtraBold"/>
                <a:ea typeface="Pretendard ExtraBold"/>
                <a:cs typeface="Pretendard ExtraBold"/>
              </a:rPr>
              <a:t>말씀해주세요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96300" y="9042400"/>
            <a:ext cx="12700000" cy="1409700"/>
          </a:xfrm>
          <a:prstGeom prst="rect">
            <a:avLst/>
          </a:prstGeom>
        </p:spPr>
        <p:txBody>
          <a:bodyPr anchor="b" rtlCol="false" lIns="0" tIns="0" rIns="0" bIns="54187"/>
          <a:lstStyle/>
          <a:p>
            <a:pPr algn="ctr" lvl="0">
              <a:lnSpc>
                <a:spcPct val="99600"/>
              </a:lnSpc>
            </a:pPr>
            <a:r>
              <a:rPr lang="en-US" sz="4266" b="false" i="false" u="none" strike="noStrike">
                <a:solidFill>
                  <a:srgbClr val="37664B"/>
                </a:solidFill>
                <a:latin typeface="Pretendard Medium"/>
                <a:ea typeface="Pretendard Medium"/>
                <a:cs typeface="Pretendard Medium"/>
              </a:rPr>
              <a:t>다음번에는 구체적인 기획과 
디자인으로 만나요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2844800"/>
            <a:ext cx="5778500" cy="803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