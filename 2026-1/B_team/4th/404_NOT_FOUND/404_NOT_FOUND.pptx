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1" d="100"/>
          <a:sy n="81" d="100"/>
        </p:scale>
        <p:origin x="867" y="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765" cy="7556500"/>
          </a:xfrm>
          <a:custGeom>
            <a:avLst/>
            <a:gdLst/>
            <a:ahLst/>
            <a:cxnLst/>
            <a:rect l="l" t="t" r="r" b="b"/>
            <a:pathLst>
              <a:path w="10692765" h="7556500">
                <a:moveTo>
                  <a:pt x="10692383" y="7555991"/>
                </a:moveTo>
                <a:lnTo>
                  <a:pt x="0" y="7555991"/>
                </a:lnTo>
                <a:lnTo>
                  <a:pt x="0" y="0"/>
                </a:lnTo>
                <a:lnTo>
                  <a:pt x="10692383" y="0"/>
                </a:lnTo>
                <a:lnTo>
                  <a:pt x="10692383" y="7555991"/>
                </a:lnTo>
                <a:close/>
              </a:path>
            </a:pathLst>
          </a:custGeom>
          <a:solidFill>
            <a:srgbClr val="FFFA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04751" y="1922042"/>
            <a:ext cx="4483896" cy="1113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1" i="0">
                <a:solidFill>
                  <a:srgbClr val="1F2937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rgbClr val="1F2937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rgbClr val="1F2937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rgbClr val="1F2937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0692765" cy="7556500"/>
          </a:xfrm>
          <a:custGeom>
            <a:avLst/>
            <a:gdLst/>
            <a:ahLst/>
            <a:cxnLst/>
            <a:rect l="l" t="t" r="r" b="b"/>
            <a:pathLst>
              <a:path w="10692765" h="7556500">
                <a:moveTo>
                  <a:pt x="10692383" y="7555991"/>
                </a:moveTo>
                <a:lnTo>
                  <a:pt x="0" y="7555991"/>
                </a:lnTo>
                <a:lnTo>
                  <a:pt x="0" y="0"/>
                </a:lnTo>
                <a:lnTo>
                  <a:pt x="10692383" y="0"/>
                </a:lnTo>
                <a:lnTo>
                  <a:pt x="10692383" y="7555991"/>
                </a:lnTo>
                <a:close/>
              </a:path>
            </a:pathLst>
          </a:custGeom>
          <a:solidFill>
            <a:srgbClr val="FFFA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68535" y="1136511"/>
            <a:ext cx="9359900" cy="25400"/>
          </a:xfrm>
          <a:custGeom>
            <a:avLst/>
            <a:gdLst/>
            <a:ahLst/>
            <a:cxnLst/>
            <a:rect l="l" t="t" r="r" b="b"/>
            <a:pathLst>
              <a:path w="9359900" h="25400">
                <a:moveTo>
                  <a:pt x="9359502" y="25070"/>
                </a:moveTo>
                <a:lnTo>
                  <a:pt x="0" y="25070"/>
                </a:lnTo>
                <a:lnTo>
                  <a:pt x="0" y="0"/>
                </a:lnTo>
                <a:lnTo>
                  <a:pt x="9359502" y="0"/>
                </a:lnTo>
                <a:lnTo>
                  <a:pt x="9359502" y="25070"/>
                </a:lnTo>
                <a:close/>
              </a:path>
            </a:pathLst>
          </a:custGeom>
          <a:solidFill>
            <a:srgbClr val="ECFD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5835" y="465972"/>
            <a:ext cx="7480300" cy="557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1" i="0">
                <a:solidFill>
                  <a:srgbClr val="1F2937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8792" y="2130962"/>
            <a:ext cx="9419590" cy="275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104751" y="2280436"/>
            <a:ext cx="4483896" cy="111378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35"/>
              </a:spcBef>
            </a:pPr>
            <a:r>
              <a:rPr sz="7100" spc="-940" dirty="0">
                <a:solidFill>
                  <a:srgbClr val="0FB981"/>
                </a:solidFill>
                <a:latin typeface="Trebuchet MS"/>
                <a:cs typeface="Trebuchet MS"/>
              </a:rPr>
              <a:t>F</a:t>
            </a:r>
            <a:r>
              <a:rPr sz="7100" spc="-350" dirty="0">
                <a:solidFill>
                  <a:srgbClr val="0FB981"/>
                </a:solidFill>
                <a:latin typeface="Trebuchet MS"/>
                <a:cs typeface="Trebuchet MS"/>
              </a:rPr>
              <a:t>A</a:t>
            </a:r>
            <a:r>
              <a:rPr sz="7100" spc="-225" dirty="0">
                <a:solidFill>
                  <a:srgbClr val="0FB981"/>
                </a:solidFill>
                <a:latin typeface="Trebuchet MS"/>
                <a:cs typeface="Trebuchet MS"/>
              </a:rPr>
              <a:t>S</a:t>
            </a:r>
            <a:r>
              <a:rPr sz="7100" spc="-805" dirty="0">
                <a:solidFill>
                  <a:srgbClr val="0FB981"/>
                </a:solidFill>
                <a:latin typeface="Trebuchet MS"/>
                <a:cs typeface="Trebuchet MS"/>
              </a:rPr>
              <a:t>T</a:t>
            </a:r>
            <a:r>
              <a:rPr sz="7100" spc="-350" dirty="0">
                <a:solidFill>
                  <a:srgbClr val="0FB981"/>
                </a:solidFill>
                <a:latin typeface="Trebuchet MS"/>
                <a:cs typeface="Trebuchet MS"/>
              </a:rPr>
              <a:t>A</a:t>
            </a:r>
            <a:r>
              <a:rPr sz="7100" spc="-250" dirty="0">
                <a:solidFill>
                  <a:srgbClr val="0FB981"/>
                </a:solidFill>
                <a:latin typeface="Trebuchet MS"/>
                <a:cs typeface="Trebuchet MS"/>
              </a:rPr>
              <a:t>P</a:t>
            </a:r>
            <a:r>
              <a:rPr sz="7100" spc="550" dirty="0">
                <a:solidFill>
                  <a:srgbClr val="0FB981"/>
                </a:solidFill>
                <a:latin typeface="Trebuchet MS"/>
                <a:cs typeface="Trebuchet MS"/>
              </a:rPr>
              <a:t>I</a:t>
            </a:r>
            <a:r>
              <a:rPr sz="7100" spc="-420" dirty="0">
                <a:solidFill>
                  <a:srgbClr val="0FB981"/>
                </a:solidFill>
              </a:rPr>
              <a:t>란</a:t>
            </a:r>
            <a:r>
              <a:rPr sz="7100" spc="-15" dirty="0">
                <a:solidFill>
                  <a:srgbClr val="0FB981"/>
                </a:solidFill>
                <a:latin typeface="Trebuchet MS"/>
                <a:cs typeface="Trebuchet MS"/>
              </a:rPr>
              <a:t>?</a:t>
            </a:r>
            <a:endParaRPr sz="71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08247" y="3641090"/>
            <a:ext cx="3679190" cy="1203960"/>
            <a:chOff x="3508247" y="3282696"/>
            <a:chExt cx="3679190" cy="1203960"/>
          </a:xfrm>
        </p:grpSpPr>
        <p:sp>
          <p:nvSpPr>
            <p:cNvPr id="4" name="object 4"/>
            <p:cNvSpPr/>
            <p:nvPr/>
          </p:nvSpPr>
          <p:spPr>
            <a:xfrm>
              <a:off x="3508247" y="3282696"/>
              <a:ext cx="3679190" cy="1203960"/>
            </a:xfrm>
            <a:custGeom>
              <a:avLst/>
              <a:gdLst/>
              <a:ahLst/>
              <a:cxnLst/>
              <a:rect l="l" t="t" r="r" b="b"/>
              <a:pathLst>
                <a:path w="3679190" h="1203960">
                  <a:moveTo>
                    <a:pt x="3678935" y="1203959"/>
                  </a:moveTo>
                  <a:lnTo>
                    <a:pt x="0" y="1203959"/>
                  </a:lnTo>
                  <a:lnTo>
                    <a:pt x="0" y="0"/>
                  </a:lnTo>
                  <a:lnTo>
                    <a:pt x="3678935" y="0"/>
                  </a:lnTo>
                  <a:lnTo>
                    <a:pt x="3678935" y="218760"/>
                  </a:lnTo>
                  <a:lnTo>
                    <a:pt x="603248" y="218760"/>
                  </a:lnTo>
                  <a:lnTo>
                    <a:pt x="588468" y="219122"/>
                  </a:lnTo>
                  <a:lnTo>
                    <a:pt x="544556" y="224541"/>
                  </a:lnTo>
                  <a:lnTo>
                    <a:pt x="501913" y="236338"/>
                  </a:lnTo>
                  <a:lnTo>
                    <a:pt x="461430" y="254280"/>
                  </a:lnTo>
                  <a:lnTo>
                    <a:pt x="424021" y="277972"/>
                  </a:lnTo>
                  <a:lnTo>
                    <a:pt x="390520" y="306875"/>
                  </a:lnTo>
                  <a:lnTo>
                    <a:pt x="361618" y="340375"/>
                  </a:lnTo>
                  <a:lnTo>
                    <a:pt x="337926" y="377784"/>
                  </a:lnTo>
                  <a:lnTo>
                    <a:pt x="319984" y="418267"/>
                  </a:lnTo>
                  <a:lnTo>
                    <a:pt x="308186" y="460910"/>
                  </a:lnTo>
                  <a:lnTo>
                    <a:pt x="302768" y="504822"/>
                  </a:lnTo>
                  <a:lnTo>
                    <a:pt x="302406" y="519602"/>
                  </a:lnTo>
                  <a:lnTo>
                    <a:pt x="302768" y="534381"/>
                  </a:lnTo>
                  <a:lnTo>
                    <a:pt x="308186" y="578292"/>
                  </a:lnTo>
                  <a:lnTo>
                    <a:pt x="319984" y="620935"/>
                  </a:lnTo>
                  <a:lnTo>
                    <a:pt x="337926" y="661418"/>
                  </a:lnTo>
                  <a:lnTo>
                    <a:pt x="361618" y="698827"/>
                  </a:lnTo>
                  <a:lnTo>
                    <a:pt x="390520" y="732328"/>
                  </a:lnTo>
                  <a:lnTo>
                    <a:pt x="424021" y="761230"/>
                  </a:lnTo>
                  <a:lnTo>
                    <a:pt x="461430" y="784922"/>
                  </a:lnTo>
                  <a:lnTo>
                    <a:pt x="501913" y="802864"/>
                  </a:lnTo>
                  <a:lnTo>
                    <a:pt x="544556" y="814662"/>
                  </a:lnTo>
                  <a:lnTo>
                    <a:pt x="588468" y="820081"/>
                  </a:lnTo>
                  <a:lnTo>
                    <a:pt x="603248" y="820443"/>
                  </a:lnTo>
                  <a:lnTo>
                    <a:pt x="3678935" y="820443"/>
                  </a:lnTo>
                  <a:lnTo>
                    <a:pt x="3678935" y="1203959"/>
                  </a:lnTo>
                  <a:close/>
                </a:path>
                <a:path w="3679190" h="1203960">
                  <a:moveTo>
                    <a:pt x="3678935" y="820443"/>
                  </a:moveTo>
                  <a:lnTo>
                    <a:pt x="3076830" y="820443"/>
                  </a:lnTo>
                  <a:lnTo>
                    <a:pt x="3091610" y="820081"/>
                  </a:lnTo>
                  <a:lnTo>
                    <a:pt x="3106318" y="818997"/>
                  </a:lnTo>
                  <a:lnTo>
                    <a:pt x="3149945" y="811424"/>
                  </a:lnTo>
                  <a:lnTo>
                    <a:pt x="3191956" y="797542"/>
                  </a:lnTo>
                  <a:lnTo>
                    <a:pt x="3231478" y="777652"/>
                  </a:lnTo>
                  <a:lnTo>
                    <a:pt x="3267683" y="752157"/>
                  </a:lnTo>
                  <a:lnTo>
                    <a:pt x="3299751" y="721622"/>
                  </a:lnTo>
                  <a:lnTo>
                    <a:pt x="3326969" y="686739"/>
                  </a:lnTo>
                  <a:lnTo>
                    <a:pt x="3348781" y="648244"/>
                  </a:lnTo>
                  <a:lnTo>
                    <a:pt x="3364720" y="606932"/>
                  </a:lnTo>
                  <a:lnTo>
                    <a:pt x="3374419" y="563726"/>
                  </a:lnTo>
                  <a:lnTo>
                    <a:pt x="3377672" y="519602"/>
                  </a:lnTo>
                  <a:lnTo>
                    <a:pt x="3377310" y="504822"/>
                  </a:lnTo>
                  <a:lnTo>
                    <a:pt x="3371890" y="460910"/>
                  </a:lnTo>
                  <a:lnTo>
                    <a:pt x="3360093" y="418267"/>
                  </a:lnTo>
                  <a:lnTo>
                    <a:pt x="3342151" y="377784"/>
                  </a:lnTo>
                  <a:lnTo>
                    <a:pt x="3318458" y="340375"/>
                  </a:lnTo>
                  <a:lnTo>
                    <a:pt x="3289556" y="306875"/>
                  </a:lnTo>
                  <a:lnTo>
                    <a:pt x="3256055" y="277972"/>
                  </a:lnTo>
                  <a:lnTo>
                    <a:pt x="3218646" y="254280"/>
                  </a:lnTo>
                  <a:lnTo>
                    <a:pt x="3178164" y="236338"/>
                  </a:lnTo>
                  <a:lnTo>
                    <a:pt x="3135520" y="224541"/>
                  </a:lnTo>
                  <a:lnTo>
                    <a:pt x="3091610" y="219122"/>
                  </a:lnTo>
                  <a:lnTo>
                    <a:pt x="3076830" y="218760"/>
                  </a:lnTo>
                  <a:lnTo>
                    <a:pt x="3678935" y="218760"/>
                  </a:lnTo>
                  <a:lnTo>
                    <a:pt x="3678935" y="820443"/>
                  </a:lnTo>
                  <a:close/>
                </a:path>
              </a:pathLst>
            </a:custGeom>
            <a:solidFill>
              <a:srgbClr val="0FB981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10654" y="3501456"/>
              <a:ext cx="3075305" cy="601980"/>
            </a:xfrm>
            <a:custGeom>
              <a:avLst/>
              <a:gdLst/>
              <a:ahLst/>
              <a:cxnLst/>
              <a:rect l="l" t="t" r="r" b="b"/>
              <a:pathLst>
                <a:path w="3075304" h="601979">
                  <a:moveTo>
                    <a:pt x="2774424" y="601682"/>
                  </a:moveTo>
                  <a:lnTo>
                    <a:pt x="300841" y="601682"/>
                  </a:lnTo>
                  <a:lnTo>
                    <a:pt x="293455" y="601591"/>
                  </a:lnTo>
                  <a:lnTo>
                    <a:pt x="249410" y="597253"/>
                  </a:lnTo>
                  <a:lnTo>
                    <a:pt x="206470" y="586497"/>
                  </a:lnTo>
                  <a:lnTo>
                    <a:pt x="165581" y="569560"/>
                  </a:lnTo>
                  <a:lnTo>
                    <a:pt x="127612" y="546802"/>
                  </a:lnTo>
                  <a:lnTo>
                    <a:pt x="93400" y="518726"/>
                  </a:lnTo>
                  <a:lnTo>
                    <a:pt x="63672" y="485926"/>
                  </a:lnTo>
                  <a:lnTo>
                    <a:pt x="39084" y="449127"/>
                  </a:lnTo>
                  <a:lnTo>
                    <a:pt x="20157" y="409109"/>
                  </a:lnTo>
                  <a:lnTo>
                    <a:pt x="7309" y="366757"/>
                  </a:lnTo>
                  <a:lnTo>
                    <a:pt x="814" y="322970"/>
                  </a:lnTo>
                  <a:lnTo>
                    <a:pt x="0" y="300841"/>
                  </a:lnTo>
                  <a:lnTo>
                    <a:pt x="90" y="293455"/>
                  </a:lnTo>
                  <a:lnTo>
                    <a:pt x="4428" y="249410"/>
                  </a:lnTo>
                  <a:lnTo>
                    <a:pt x="15184" y="206470"/>
                  </a:lnTo>
                  <a:lnTo>
                    <a:pt x="32121" y="165581"/>
                  </a:lnTo>
                  <a:lnTo>
                    <a:pt x="54878" y="127612"/>
                  </a:lnTo>
                  <a:lnTo>
                    <a:pt x="82956" y="93400"/>
                  </a:lnTo>
                  <a:lnTo>
                    <a:pt x="115756" y="63672"/>
                  </a:lnTo>
                  <a:lnTo>
                    <a:pt x="152555" y="39084"/>
                  </a:lnTo>
                  <a:lnTo>
                    <a:pt x="192571" y="20157"/>
                  </a:lnTo>
                  <a:lnTo>
                    <a:pt x="234924" y="7310"/>
                  </a:lnTo>
                  <a:lnTo>
                    <a:pt x="278712" y="815"/>
                  </a:lnTo>
                  <a:lnTo>
                    <a:pt x="300841" y="0"/>
                  </a:lnTo>
                  <a:lnTo>
                    <a:pt x="2774424" y="0"/>
                  </a:lnTo>
                  <a:lnTo>
                    <a:pt x="2818566" y="3256"/>
                  </a:lnTo>
                  <a:lnTo>
                    <a:pt x="2861753" y="12954"/>
                  </a:lnTo>
                  <a:lnTo>
                    <a:pt x="2903050" y="28883"/>
                  </a:lnTo>
                  <a:lnTo>
                    <a:pt x="2941562" y="50700"/>
                  </a:lnTo>
                  <a:lnTo>
                    <a:pt x="2976456" y="77932"/>
                  </a:lnTo>
                  <a:lnTo>
                    <a:pt x="3006977" y="109989"/>
                  </a:lnTo>
                  <a:lnTo>
                    <a:pt x="3032463" y="146177"/>
                  </a:lnTo>
                  <a:lnTo>
                    <a:pt x="3052364" y="185713"/>
                  </a:lnTo>
                  <a:lnTo>
                    <a:pt x="3066249" y="227742"/>
                  </a:lnTo>
                  <a:lnTo>
                    <a:pt x="3073816" y="271353"/>
                  </a:lnTo>
                  <a:lnTo>
                    <a:pt x="3075265" y="300841"/>
                  </a:lnTo>
                  <a:lnTo>
                    <a:pt x="3075174" y="308226"/>
                  </a:lnTo>
                  <a:lnTo>
                    <a:pt x="3070836" y="352271"/>
                  </a:lnTo>
                  <a:lnTo>
                    <a:pt x="3060080" y="395211"/>
                  </a:lnTo>
                  <a:lnTo>
                    <a:pt x="3043143" y="436100"/>
                  </a:lnTo>
                  <a:lnTo>
                    <a:pt x="3020385" y="474069"/>
                  </a:lnTo>
                  <a:lnTo>
                    <a:pt x="2992308" y="508281"/>
                  </a:lnTo>
                  <a:lnTo>
                    <a:pt x="2959509" y="538009"/>
                  </a:lnTo>
                  <a:lnTo>
                    <a:pt x="2922709" y="562598"/>
                  </a:lnTo>
                  <a:lnTo>
                    <a:pt x="2882692" y="581524"/>
                  </a:lnTo>
                  <a:lnTo>
                    <a:pt x="2840340" y="594372"/>
                  </a:lnTo>
                  <a:lnTo>
                    <a:pt x="2796553" y="600867"/>
                  </a:lnTo>
                  <a:lnTo>
                    <a:pt x="2774424" y="6016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0654" y="3501456"/>
              <a:ext cx="3075305" cy="601980"/>
            </a:xfrm>
            <a:custGeom>
              <a:avLst/>
              <a:gdLst/>
              <a:ahLst/>
              <a:cxnLst/>
              <a:rect l="l" t="t" r="r" b="b"/>
              <a:pathLst>
                <a:path w="3075304" h="601979">
                  <a:moveTo>
                    <a:pt x="0" y="300841"/>
                  </a:moveTo>
                  <a:lnTo>
                    <a:pt x="3255" y="256698"/>
                  </a:lnTo>
                  <a:lnTo>
                    <a:pt x="12954" y="213511"/>
                  </a:lnTo>
                  <a:lnTo>
                    <a:pt x="28883" y="172214"/>
                  </a:lnTo>
                  <a:lnTo>
                    <a:pt x="50700" y="133702"/>
                  </a:lnTo>
                  <a:lnTo>
                    <a:pt x="77932" y="98808"/>
                  </a:lnTo>
                  <a:lnTo>
                    <a:pt x="109990" y="68287"/>
                  </a:lnTo>
                  <a:lnTo>
                    <a:pt x="146177" y="42800"/>
                  </a:lnTo>
                  <a:lnTo>
                    <a:pt x="185713" y="22899"/>
                  </a:lnTo>
                  <a:lnTo>
                    <a:pt x="227742" y="9015"/>
                  </a:lnTo>
                  <a:lnTo>
                    <a:pt x="271353" y="1448"/>
                  </a:lnTo>
                  <a:lnTo>
                    <a:pt x="300841" y="0"/>
                  </a:lnTo>
                  <a:lnTo>
                    <a:pt x="2774424" y="0"/>
                  </a:lnTo>
                  <a:lnTo>
                    <a:pt x="2818566" y="3256"/>
                  </a:lnTo>
                  <a:lnTo>
                    <a:pt x="2861753" y="12954"/>
                  </a:lnTo>
                  <a:lnTo>
                    <a:pt x="2903050" y="28883"/>
                  </a:lnTo>
                  <a:lnTo>
                    <a:pt x="2941562" y="50700"/>
                  </a:lnTo>
                  <a:lnTo>
                    <a:pt x="2976456" y="77932"/>
                  </a:lnTo>
                  <a:lnTo>
                    <a:pt x="3006977" y="109989"/>
                  </a:lnTo>
                  <a:lnTo>
                    <a:pt x="3032463" y="146177"/>
                  </a:lnTo>
                  <a:lnTo>
                    <a:pt x="3052364" y="185713"/>
                  </a:lnTo>
                  <a:lnTo>
                    <a:pt x="3066249" y="227742"/>
                  </a:lnTo>
                  <a:lnTo>
                    <a:pt x="3073816" y="271353"/>
                  </a:lnTo>
                  <a:lnTo>
                    <a:pt x="3075265" y="300841"/>
                  </a:lnTo>
                  <a:lnTo>
                    <a:pt x="3075174" y="308226"/>
                  </a:lnTo>
                  <a:lnTo>
                    <a:pt x="3070836" y="352271"/>
                  </a:lnTo>
                  <a:lnTo>
                    <a:pt x="3060080" y="395211"/>
                  </a:lnTo>
                  <a:lnTo>
                    <a:pt x="3043143" y="436100"/>
                  </a:lnTo>
                  <a:lnTo>
                    <a:pt x="3020385" y="474069"/>
                  </a:lnTo>
                  <a:lnTo>
                    <a:pt x="2992308" y="508281"/>
                  </a:lnTo>
                  <a:lnTo>
                    <a:pt x="2959509" y="538009"/>
                  </a:lnTo>
                  <a:lnTo>
                    <a:pt x="2922709" y="562598"/>
                  </a:lnTo>
                  <a:lnTo>
                    <a:pt x="2882692" y="581524"/>
                  </a:lnTo>
                  <a:lnTo>
                    <a:pt x="2840340" y="594372"/>
                  </a:lnTo>
                  <a:lnTo>
                    <a:pt x="2796553" y="600867"/>
                  </a:lnTo>
                  <a:lnTo>
                    <a:pt x="2774424" y="601682"/>
                  </a:lnTo>
                  <a:lnTo>
                    <a:pt x="300841" y="601682"/>
                  </a:lnTo>
                  <a:lnTo>
                    <a:pt x="256698" y="598426"/>
                  </a:lnTo>
                  <a:lnTo>
                    <a:pt x="213511" y="588728"/>
                  </a:lnTo>
                  <a:lnTo>
                    <a:pt x="172214" y="572798"/>
                  </a:lnTo>
                  <a:lnTo>
                    <a:pt x="133702" y="550981"/>
                  </a:lnTo>
                  <a:lnTo>
                    <a:pt x="98808" y="523749"/>
                  </a:lnTo>
                  <a:lnTo>
                    <a:pt x="68287" y="491692"/>
                  </a:lnTo>
                  <a:lnTo>
                    <a:pt x="42800" y="455504"/>
                  </a:lnTo>
                  <a:lnTo>
                    <a:pt x="22899" y="415967"/>
                  </a:lnTo>
                  <a:lnTo>
                    <a:pt x="9015" y="373939"/>
                  </a:lnTo>
                  <a:lnTo>
                    <a:pt x="1448" y="330328"/>
                  </a:lnTo>
                  <a:lnTo>
                    <a:pt x="0" y="300841"/>
                  </a:lnTo>
                  <a:close/>
                </a:path>
              </a:pathLst>
            </a:custGeom>
            <a:ln w="16713">
              <a:solidFill>
                <a:srgbClr val="0FB9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140579" y="3981035"/>
            <a:ext cx="241617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74050"/>
                </a:solidFill>
                <a:latin typeface="Segoe UI Emoji"/>
                <a:cs typeface="Segoe UI Emoji"/>
              </a:rPr>
              <a:t>👤</a:t>
            </a:r>
            <a:r>
              <a:rPr sz="2100" b="1" spc="-135" dirty="0">
                <a:solidFill>
                  <a:srgbClr val="374050"/>
                </a:solidFill>
                <a:latin typeface="Malgun Gothic"/>
                <a:cs typeface="Malgun Gothic"/>
              </a:rPr>
              <a:t>404_NOT_FOUND</a:t>
            </a:r>
            <a:endParaRPr sz="21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spc="-335" dirty="0">
                <a:solidFill>
                  <a:srgbClr val="0FB981"/>
                </a:solidFill>
                <a:latin typeface="Trebuchet MS"/>
                <a:cs typeface="Trebuchet MS"/>
              </a:rPr>
              <a:t>02.</a:t>
            </a:r>
            <a:r>
              <a:rPr sz="3200" spc="125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4875" spc="-832" baseline="-4273" dirty="0"/>
              <a:t>목차</a:t>
            </a:r>
            <a:endParaRPr sz="4875" baseline="-4273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6991" y="2259965"/>
            <a:ext cx="10061575" cy="2889885"/>
            <a:chOff x="316991" y="2148840"/>
            <a:chExt cx="10061575" cy="28898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1" y="2148840"/>
              <a:ext cx="10061447" cy="28895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4418" y="2857716"/>
              <a:ext cx="527049" cy="37147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14893" y="3463925"/>
            <a:ext cx="1175385" cy="80962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950" b="1" spc="-10" dirty="0">
                <a:solidFill>
                  <a:srgbClr val="1F2937"/>
                </a:solidFill>
                <a:latin typeface="Malgun Gothic"/>
                <a:cs typeface="Malgun Gothic"/>
              </a:rPr>
              <a:t>API</a:t>
            </a:r>
            <a:r>
              <a:rPr sz="1900" b="1" spc="-10" dirty="0">
                <a:solidFill>
                  <a:srgbClr val="1F2937"/>
                </a:solidFill>
                <a:latin typeface="Malgun Gothic"/>
                <a:cs typeface="Malgun Gothic"/>
              </a:rPr>
              <a:t>란</a:t>
            </a:r>
            <a:r>
              <a:rPr sz="1950" b="1" spc="-10" dirty="0">
                <a:solidFill>
                  <a:srgbClr val="1F2937"/>
                </a:solidFill>
                <a:latin typeface="Malgun Gothic"/>
                <a:cs typeface="Malgun Gothic"/>
              </a:rPr>
              <a:t>?</a:t>
            </a:r>
            <a:endParaRPr sz="19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300" spc="-120" dirty="0">
                <a:solidFill>
                  <a:srgbClr val="6A7280"/>
                </a:solidFill>
                <a:latin typeface="Malgun Gothic"/>
                <a:cs typeface="Malgun Gothic"/>
              </a:rPr>
              <a:t>API의</a:t>
            </a:r>
            <a:r>
              <a:rPr sz="1300" spc="-3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04" dirty="0">
                <a:solidFill>
                  <a:srgbClr val="6A7280"/>
                </a:solidFill>
                <a:latin typeface="Malgun Gothic"/>
                <a:cs typeface="Malgun Gothic"/>
              </a:rPr>
              <a:t>역할과</a:t>
            </a:r>
            <a:r>
              <a:rPr sz="1300" spc="-17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140" dirty="0">
                <a:solidFill>
                  <a:srgbClr val="6A7280"/>
                </a:solidFill>
                <a:latin typeface="Malgun Gothic"/>
                <a:cs typeface="Malgun Gothic"/>
              </a:rPr>
              <a:t>종류</a:t>
            </a:r>
            <a:endParaRPr sz="1300">
              <a:latin typeface="Malgun Gothic"/>
              <a:cs typeface="Malgun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116979" y="2985868"/>
            <a:ext cx="3611879" cy="428625"/>
            <a:chOff x="4116979" y="2829141"/>
            <a:chExt cx="3611879" cy="42862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6979" y="2832316"/>
              <a:ext cx="419099" cy="4222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3321" y="2829141"/>
              <a:ext cx="425449" cy="4286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104279" y="3463925"/>
            <a:ext cx="2399665" cy="103505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950" b="1" spc="-110" dirty="0">
                <a:solidFill>
                  <a:srgbClr val="1F2937"/>
                </a:solidFill>
                <a:latin typeface="Malgun Gothic"/>
                <a:cs typeface="Malgun Gothic"/>
              </a:rPr>
              <a:t>REST</a:t>
            </a:r>
            <a:r>
              <a:rPr sz="1900" b="1" spc="-110" dirty="0">
                <a:solidFill>
                  <a:srgbClr val="1F2937"/>
                </a:solidFill>
                <a:latin typeface="Malgun Gothic"/>
                <a:cs typeface="Malgun Gothic"/>
              </a:rPr>
              <a:t>와</a:t>
            </a:r>
            <a:r>
              <a:rPr sz="1900" b="1" spc="-27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950" b="1" spc="-10" dirty="0">
                <a:solidFill>
                  <a:srgbClr val="1F2937"/>
                </a:solidFill>
                <a:latin typeface="Malgun Gothic"/>
                <a:cs typeface="Malgun Gothic"/>
              </a:rPr>
              <a:t>RESTful</a:t>
            </a:r>
            <a:endParaRPr sz="1950">
              <a:latin typeface="Malgun Gothic"/>
              <a:cs typeface="Malgun Gothic"/>
            </a:endParaRPr>
          </a:p>
          <a:p>
            <a:pPr marL="12700" marR="5080">
              <a:lnSpc>
                <a:spcPct val="113900"/>
              </a:lnSpc>
              <a:spcBef>
                <a:spcPts val="725"/>
              </a:spcBef>
            </a:pPr>
            <a:r>
              <a:rPr sz="1300" spc="-229" dirty="0">
                <a:solidFill>
                  <a:srgbClr val="6A7280"/>
                </a:solidFill>
                <a:latin typeface="Malgun Gothic"/>
                <a:cs typeface="Malgun Gothic"/>
              </a:rPr>
              <a:t>애매하게</a:t>
            </a:r>
            <a:r>
              <a:rPr sz="1300" spc="-8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25" dirty="0">
                <a:solidFill>
                  <a:srgbClr val="6A7280"/>
                </a:solidFill>
                <a:latin typeface="Malgun Gothic"/>
                <a:cs typeface="Malgun Gothic"/>
              </a:rPr>
              <a:t>사용하던</a:t>
            </a:r>
            <a:r>
              <a:rPr sz="1300" spc="-7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35" dirty="0">
                <a:solidFill>
                  <a:srgbClr val="6A7280"/>
                </a:solidFill>
                <a:latin typeface="Malgun Gothic"/>
                <a:cs typeface="Malgun Gothic"/>
              </a:rPr>
              <a:t>설계</a:t>
            </a:r>
            <a:r>
              <a:rPr sz="1300" spc="-8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15" dirty="0">
                <a:solidFill>
                  <a:srgbClr val="6A7280"/>
                </a:solidFill>
                <a:latin typeface="Malgun Gothic"/>
                <a:cs typeface="Malgun Gothic"/>
              </a:rPr>
              <a:t>패러다임과</a:t>
            </a:r>
            <a:r>
              <a:rPr sz="1300" spc="-18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340" dirty="0">
                <a:solidFill>
                  <a:srgbClr val="6A7280"/>
                </a:solidFill>
                <a:latin typeface="Malgun Gothic"/>
                <a:cs typeface="Malgun Gothic"/>
              </a:rPr>
              <a:t>직</a:t>
            </a:r>
            <a:r>
              <a:rPr sz="1300" spc="-235" dirty="0">
                <a:solidFill>
                  <a:srgbClr val="6A7280"/>
                </a:solidFill>
                <a:latin typeface="Malgun Gothic"/>
                <a:cs typeface="Malgun Gothic"/>
              </a:rPr>
              <a:t> 관적인</a:t>
            </a:r>
            <a:r>
              <a:rPr sz="1300" spc="-7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00" dirty="0">
                <a:solidFill>
                  <a:srgbClr val="6A7280"/>
                </a:solidFill>
                <a:latin typeface="Malgun Gothic"/>
                <a:cs typeface="Malgun Gothic"/>
              </a:rPr>
              <a:t>규약</a:t>
            </a:r>
            <a:r>
              <a:rPr sz="1300" spc="-16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80" dirty="0">
                <a:solidFill>
                  <a:srgbClr val="6A7280"/>
                </a:solidFill>
                <a:latin typeface="Malgun Gothic"/>
                <a:cs typeface="Malgun Gothic"/>
              </a:rPr>
              <a:t>정리</a:t>
            </a:r>
            <a:endParaRPr sz="13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93796" y="3463925"/>
            <a:ext cx="1720850" cy="80962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950" b="1" spc="-140" dirty="0">
                <a:solidFill>
                  <a:srgbClr val="1F2937"/>
                </a:solidFill>
                <a:latin typeface="Malgun Gothic"/>
                <a:cs typeface="Malgun Gothic"/>
              </a:rPr>
              <a:t>FastAPI</a:t>
            </a:r>
            <a:r>
              <a:rPr sz="1900" b="1" spc="-140" dirty="0">
                <a:solidFill>
                  <a:srgbClr val="1F2937"/>
                </a:solidFill>
                <a:latin typeface="Malgun Gothic"/>
                <a:cs typeface="Malgun Gothic"/>
              </a:rPr>
              <a:t>의</a:t>
            </a:r>
            <a:r>
              <a:rPr sz="1900" b="1" spc="-95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900" b="1" spc="-395" dirty="0">
                <a:solidFill>
                  <a:srgbClr val="1F2937"/>
                </a:solidFill>
                <a:latin typeface="Malgun Gothic"/>
                <a:cs typeface="Malgun Gothic"/>
              </a:rPr>
              <a:t>매력</a:t>
            </a:r>
            <a:endParaRPr sz="19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300" spc="-250" dirty="0">
                <a:solidFill>
                  <a:srgbClr val="6A7280"/>
                </a:solidFill>
                <a:latin typeface="Malgun Gothic"/>
                <a:cs typeface="Malgun Gothic"/>
              </a:rPr>
              <a:t>비동기</a:t>
            </a:r>
            <a:r>
              <a:rPr sz="1300" spc="-5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29" dirty="0">
                <a:solidFill>
                  <a:srgbClr val="6A7280"/>
                </a:solidFill>
                <a:latin typeface="Malgun Gothic"/>
                <a:cs typeface="Malgun Gothic"/>
              </a:rPr>
              <a:t>및</a:t>
            </a:r>
            <a:r>
              <a:rPr sz="1300" spc="-11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04" dirty="0">
                <a:solidFill>
                  <a:srgbClr val="6A7280"/>
                </a:solidFill>
                <a:latin typeface="Malgun Gothic"/>
                <a:cs typeface="Malgun Gothic"/>
              </a:rPr>
              <a:t>강력한</a:t>
            </a:r>
            <a:r>
              <a:rPr sz="1300" spc="-17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54" dirty="0">
                <a:solidFill>
                  <a:srgbClr val="6A7280"/>
                </a:solidFill>
                <a:latin typeface="Malgun Gothic"/>
                <a:cs typeface="Malgun Gothic"/>
              </a:rPr>
              <a:t>타입</a:t>
            </a:r>
            <a:r>
              <a:rPr sz="1300" spc="-4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135" dirty="0">
                <a:solidFill>
                  <a:srgbClr val="6A7280"/>
                </a:solidFill>
                <a:latin typeface="Malgun Gothic"/>
                <a:cs typeface="Malgun Gothic"/>
              </a:rPr>
              <a:t>검증</a:t>
            </a:r>
            <a:endParaRPr sz="13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800" spc="-487" baseline="4340" dirty="0">
                <a:solidFill>
                  <a:srgbClr val="0FB981"/>
                </a:solidFill>
                <a:latin typeface="Trebuchet MS"/>
                <a:cs typeface="Trebuchet MS"/>
              </a:rPr>
              <a:t>03.</a:t>
            </a:r>
            <a:r>
              <a:rPr sz="4800" spc="179" baseline="4340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3250" spc="-270" dirty="0"/>
              <a:t>API는</a:t>
            </a:r>
            <a:r>
              <a:rPr sz="3250" spc="-455" dirty="0"/>
              <a:t> </a:t>
            </a:r>
            <a:r>
              <a:rPr sz="3250" spc="-550" dirty="0"/>
              <a:t>무슨</a:t>
            </a:r>
            <a:r>
              <a:rPr sz="3250" spc="-445" dirty="0"/>
              <a:t> </a:t>
            </a:r>
            <a:r>
              <a:rPr sz="3250" spc="-505" dirty="0"/>
              <a:t>역할일까?</a:t>
            </a:r>
            <a:endParaRPr sz="3250" dirty="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319" y="2700826"/>
            <a:ext cx="215899" cy="2190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55835" y="2117708"/>
            <a:ext cx="4503420" cy="2327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dirty="0">
                <a:solidFill>
                  <a:srgbClr val="0FB981"/>
                </a:solidFill>
                <a:latin typeface="Trebuchet MS"/>
                <a:cs typeface="Trebuchet MS"/>
              </a:rPr>
              <a:t>Application</a:t>
            </a:r>
            <a:r>
              <a:rPr sz="2050" b="1" spc="240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2050" b="1" dirty="0">
                <a:solidFill>
                  <a:srgbClr val="0FB981"/>
                </a:solidFill>
                <a:latin typeface="Trebuchet MS"/>
                <a:cs typeface="Trebuchet MS"/>
              </a:rPr>
              <a:t>Programming</a:t>
            </a:r>
            <a:r>
              <a:rPr sz="2050" b="1" spc="190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2050" b="1" spc="-10" dirty="0">
                <a:solidFill>
                  <a:srgbClr val="0FB981"/>
                </a:solidFill>
                <a:latin typeface="Trebuchet MS"/>
                <a:cs typeface="Trebuchet MS"/>
              </a:rPr>
              <a:t>Interface</a:t>
            </a:r>
            <a:endParaRPr sz="2050" dirty="0">
              <a:latin typeface="Trebuchet MS"/>
              <a:cs typeface="Trebuchet MS"/>
            </a:endParaRPr>
          </a:p>
          <a:p>
            <a:pPr marL="388620" marR="26034" algn="just">
              <a:lnSpc>
                <a:spcPct val="122200"/>
              </a:lnSpc>
              <a:spcBef>
                <a:spcPts val="1390"/>
              </a:spcBef>
            </a:pPr>
            <a:r>
              <a:rPr sz="1750" b="1" spc="-300" dirty="0">
                <a:solidFill>
                  <a:srgbClr val="374050"/>
                </a:solidFill>
                <a:latin typeface="Malgun Gothic"/>
                <a:cs typeface="Malgun Gothic"/>
              </a:rPr>
              <a:t>소프트웨어 대화의 장</a:t>
            </a:r>
            <a:r>
              <a:rPr sz="1700" b="1" spc="-300" dirty="0">
                <a:solidFill>
                  <a:srgbClr val="374050"/>
                </a:solidFill>
                <a:latin typeface="Malgun Gothic"/>
                <a:cs typeface="Malgun Gothic"/>
              </a:rPr>
              <a:t>: </a:t>
            </a:r>
            <a:r>
              <a:rPr sz="1750" spc="-300" dirty="0" err="1">
                <a:solidFill>
                  <a:srgbClr val="374050"/>
                </a:solidFill>
                <a:latin typeface="Malgun Gothic"/>
                <a:cs typeface="Malgun Gothic"/>
              </a:rPr>
              <a:t>서로</a:t>
            </a:r>
            <a:r>
              <a:rPr sz="1750" spc="-30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00" dirty="0" err="1">
                <a:solidFill>
                  <a:srgbClr val="374050"/>
                </a:solidFill>
                <a:latin typeface="Malgun Gothic"/>
                <a:cs typeface="Malgun Gothic"/>
              </a:rPr>
              <a:t>다른</a:t>
            </a:r>
            <a:r>
              <a:rPr sz="1750" spc="-300" dirty="0">
                <a:solidFill>
                  <a:srgbClr val="374050"/>
                </a:solidFill>
                <a:latin typeface="Malgun Gothic"/>
                <a:cs typeface="Malgun Gothic"/>
              </a:rPr>
              <a:t> 컴포넌트나 서비 스들이 규칙에 맞게 소통하는 매개체입니다.</a:t>
            </a:r>
            <a:endParaRPr sz="1750" spc="-300" dirty="0">
              <a:latin typeface="Malgun Gothic"/>
              <a:cs typeface="Malgun Gothic"/>
            </a:endParaRPr>
          </a:p>
          <a:p>
            <a:pPr marL="388620" marR="5080" algn="just">
              <a:lnSpc>
                <a:spcPct val="120600"/>
              </a:lnSpc>
              <a:spcBef>
                <a:spcPts val="1545"/>
              </a:spcBef>
            </a:pPr>
            <a:r>
              <a:rPr sz="1750" b="1" spc="-300" dirty="0">
                <a:solidFill>
                  <a:srgbClr val="374050"/>
                </a:solidFill>
                <a:latin typeface="Malgun Gothic"/>
                <a:cs typeface="Malgun Gothic"/>
              </a:rPr>
              <a:t>레스토랑의 친절한 점원</a:t>
            </a:r>
            <a:r>
              <a:rPr sz="1700" b="1" spc="-300" dirty="0">
                <a:solidFill>
                  <a:srgbClr val="374050"/>
                </a:solidFill>
                <a:latin typeface="Malgun Gothic"/>
                <a:cs typeface="Malgun Gothic"/>
              </a:rPr>
              <a:t>: </a:t>
            </a:r>
            <a:r>
              <a:rPr sz="1750" spc="-300" dirty="0">
                <a:solidFill>
                  <a:srgbClr val="374050"/>
                </a:solidFill>
                <a:latin typeface="Malgun Gothic"/>
                <a:cs typeface="Malgun Gothic"/>
              </a:rPr>
              <a:t>손님의 주문을 받아 주방 에 건네고 완성된 음식을 다시 서빙하는 가교 역할 을 합니다.</a:t>
            </a:r>
            <a:endParaRPr sz="1750" spc="-300" dirty="0">
              <a:latin typeface="Malgun Gothic"/>
              <a:cs typeface="Malgun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319" y="3544852"/>
            <a:ext cx="215899" cy="21907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31887" y="4612006"/>
            <a:ext cx="4004945" cy="9950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120600"/>
              </a:lnSpc>
              <a:spcBef>
                <a:spcPts val="125"/>
              </a:spcBef>
            </a:pPr>
            <a:r>
              <a:rPr sz="1750" b="1" spc="-285" dirty="0">
                <a:solidFill>
                  <a:srgbClr val="374050"/>
                </a:solidFill>
                <a:latin typeface="Malgun Gothic"/>
                <a:cs typeface="Malgun Gothic"/>
              </a:rPr>
              <a:t>추상화와</a:t>
            </a:r>
            <a:r>
              <a:rPr sz="1750" b="1" spc="-27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325" dirty="0">
                <a:solidFill>
                  <a:srgbClr val="374050"/>
                </a:solidFill>
                <a:latin typeface="Malgun Gothic"/>
                <a:cs typeface="Malgun Gothic"/>
              </a:rPr>
              <a:t>기술적</a:t>
            </a:r>
            <a:r>
              <a:rPr sz="1750" b="1" spc="-13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210" dirty="0">
                <a:solidFill>
                  <a:srgbClr val="374050"/>
                </a:solidFill>
                <a:latin typeface="Malgun Gothic"/>
                <a:cs typeface="Malgun Gothic"/>
              </a:rPr>
              <a:t>신뢰</a:t>
            </a:r>
            <a:r>
              <a:rPr sz="1700" b="1" spc="-210" dirty="0">
                <a:solidFill>
                  <a:srgbClr val="374050"/>
                </a:solidFill>
                <a:latin typeface="Malgun Gothic"/>
                <a:cs typeface="Malgun Gothic"/>
              </a:rPr>
              <a:t>:</a:t>
            </a:r>
            <a:r>
              <a:rPr sz="1700" b="1" spc="-7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30" dirty="0">
                <a:solidFill>
                  <a:srgbClr val="374050"/>
                </a:solidFill>
                <a:latin typeface="Malgun Gothic"/>
                <a:cs typeface="Malgun Gothic"/>
              </a:rPr>
              <a:t>상세</a:t>
            </a:r>
            <a:r>
              <a:rPr sz="1750" spc="-14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95" dirty="0">
                <a:solidFill>
                  <a:srgbClr val="374050"/>
                </a:solidFill>
                <a:latin typeface="Malgun Gothic"/>
                <a:cs typeface="Malgun Gothic"/>
              </a:rPr>
              <a:t>구현을</a:t>
            </a:r>
            <a:r>
              <a:rPr sz="1750" spc="-22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29" dirty="0">
                <a:solidFill>
                  <a:srgbClr val="374050"/>
                </a:solidFill>
                <a:latin typeface="Malgun Gothic"/>
                <a:cs typeface="Malgun Gothic"/>
              </a:rPr>
              <a:t>알</a:t>
            </a:r>
            <a:r>
              <a:rPr sz="1750" spc="-25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85" dirty="0">
                <a:solidFill>
                  <a:srgbClr val="374050"/>
                </a:solidFill>
                <a:latin typeface="Malgun Gothic"/>
                <a:cs typeface="Malgun Gothic"/>
              </a:rPr>
              <a:t>필요</a:t>
            </a:r>
            <a:r>
              <a:rPr sz="1750" spc="-22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55" dirty="0">
                <a:solidFill>
                  <a:srgbClr val="374050"/>
                </a:solidFill>
                <a:latin typeface="Malgun Gothic"/>
                <a:cs typeface="Malgun Gothic"/>
              </a:rPr>
              <a:t>없이</a:t>
            </a:r>
            <a:r>
              <a:rPr sz="1750" spc="-14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25" dirty="0">
                <a:solidFill>
                  <a:srgbClr val="374050"/>
                </a:solidFill>
                <a:latin typeface="Malgun Gothic"/>
                <a:cs typeface="Malgun Gothic"/>
              </a:rPr>
              <a:t>합의된</a:t>
            </a:r>
            <a:r>
              <a:rPr sz="1750" spc="-14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130" dirty="0">
                <a:solidFill>
                  <a:srgbClr val="374050"/>
                </a:solidFill>
                <a:latin typeface="Malgun Gothic"/>
                <a:cs typeface="Malgun Gothic"/>
              </a:rPr>
              <a:t>규격(Endpoint)만으로</a:t>
            </a:r>
            <a:r>
              <a:rPr sz="1750" spc="-22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80" dirty="0">
                <a:solidFill>
                  <a:srgbClr val="374050"/>
                </a:solidFill>
                <a:latin typeface="Malgun Gothic"/>
                <a:cs typeface="Malgun Gothic"/>
              </a:rPr>
              <a:t>협업할</a:t>
            </a:r>
            <a:r>
              <a:rPr sz="1750" spc="-254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65" dirty="0">
                <a:solidFill>
                  <a:srgbClr val="374050"/>
                </a:solidFill>
                <a:latin typeface="Malgun Gothic"/>
                <a:cs typeface="Malgun Gothic"/>
              </a:rPr>
              <a:t>수</a:t>
            </a:r>
            <a:r>
              <a:rPr sz="1750" spc="-22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45" dirty="0">
                <a:solidFill>
                  <a:srgbClr val="374050"/>
                </a:solidFill>
                <a:latin typeface="Malgun Gothic"/>
                <a:cs typeface="Malgun Gothic"/>
              </a:rPr>
              <a:t>있습니</a:t>
            </a:r>
            <a:r>
              <a:rPr sz="1750" spc="-14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180" dirty="0">
                <a:solidFill>
                  <a:srgbClr val="374050"/>
                </a:solidFill>
                <a:latin typeface="Malgun Gothic"/>
                <a:cs typeface="Malgun Gothic"/>
              </a:rPr>
              <a:t>다.</a:t>
            </a:r>
            <a:endParaRPr sz="1750" dirty="0">
              <a:latin typeface="Malgun Gothic"/>
              <a:cs typeface="Malgun Gothic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319" y="4706434"/>
            <a:ext cx="215899" cy="219074"/>
          </a:xfrm>
          <a:prstGeom prst="rect">
            <a:avLst/>
          </a:prstGeom>
        </p:spPr>
      </p:pic>
      <p:pic>
        <p:nvPicPr>
          <p:cNvPr id="15" name="그림 14" descr="￬ﾋﾜ￬ﾊﾤ￭ﾅﾜ ￪ﾰﾄ￬ﾝﾘ ￬ﾝﾸ￭ﾄﾰ￭ﾎﾘ￬ﾝﾴ￬ﾊﾤ ￬ﾕﾽ￬ﾆﾍ.&#10;&#10;AI 생성 콘텐츠는 정확하지 않을 수 있습니다.">
            <a:extLst>
              <a:ext uri="{FF2B5EF4-FFF2-40B4-BE49-F238E27FC236}">
                <a16:creationId xmlns:a16="http://schemas.microsoft.com/office/drawing/2014/main" id="{104BB247-1D13-BA1A-DCC5-8BD70CCB72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700" y="2559050"/>
            <a:ext cx="3860820" cy="27443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800" spc="-412" baseline="4340" dirty="0">
                <a:solidFill>
                  <a:srgbClr val="0FB981"/>
                </a:solidFill>
                <a:latin typeface="Trebuchet MS"/>
                <a:cs typeface="Trebuchet MS"/>
              </a:rPr>
              <a:t>04.</a:t>
            </a:r>
            <a:r>
              <a:rPr sz="4800" spc="195" baseline="4340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3250" spc="-665" dirty="0"/>
              <a:t>우리</a:t>
            </a:r>
            <a:r>
              <a:rPr sz="3250" spc="-225" dirty="0"/>
              <a:t> </a:t>
            </a:r>
            <a:r>
              <a:rPr sz="3250" spc="-635" dirty="0"/>
              <a:t>주변의</a:t>
            </a:r>
            <a:r>
              <a:rPr sz="3250" spc="-240" dirty="0"/>
              <a:t> </a:t>
            </a:r>
            <a:r>
              <a:rPr sz="3250" spc="-290" dirty="0"/>
              <a:t>API들</a:t>
            </a:r>
            <a:endParaRPr sz="325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6991" y="2528571"/>
            <a:ext cx="10061575" cy="3383279"/>
            <a:chOff x="316991" y="1898904"/>
            <a:chExt cx="10061575" cy="33832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1" y="1898904"/>
              <a:ext cx="10061447" cy="33832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7593" y="2539831"/>
              <a:ext cx="419099" cy="42227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14893" y="3643532"/>
            <a:ext cx="2401570" cy="103505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950" b="1" spc="-60" dirty="0">
                <a:solidFill>
                  <a:srgbClr val="1F2937"/>
                </a:solidFill>
                <a:latin typeface="Malgun Gothic"/>
                <a:cs typeface="Malgun Gothic"/>
              </a:rPr>
              <a:t>Public</a:t>
            </a:r>
            <a:r>
              <a:rPr sz="1950" b="1" spc="-21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950" b="1" spc="-25" dirty="0">
                <a:solidFill>
                  <a:srgbClr val="1F2937"/>
                </a:solidFill>
                <a:latin typeface="Malgun Gothic"/>
                <a:cs typeface="Malgun Gothic"/>
              </a:rPr>
              <a:t>API</a:t>
            </a:r>
            <a:endParaRPr sz="1950">
              <a:latin typeface="Malgun Gothic"/>
              <a:cs typeface="Malgun Gothic"/>
            </a:endParaRPr>
          </a:p>
          <a:p>
            <a:pPr marL="12700" marR="5080">
              <a:lnSpc>
                <a:spcPct val="113900"/>
              </a:lnSpc>
              <a:spcBef>
                <a:spcPts val="725"/>
              </a:spcBef>
            </a:pPr>
            <a:r>
              <a:rPr sz="1300" spc="-210" dirty="0">
                <a:solidFill>
                  <a:srgbClr val="6A7280"/>
                </a:solidFill>
                <a:latin typeface="Malgun Gothic"/>
                <a:cs typeface="Malgun Gothic"/>
              </a:rPr>
              <a:t>모든</a:t>
            </a:r>
            <a:r>
              <a:rPr sz="1300" spc="-15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10" dirty="0">
                <a:solidFill>
                  <a:srgbClr val="6A7280"/>
                </a:solidFill>
                <a:latin typeface="Malgun Gothic"/>
                <a:cs typeface="Malgun Gothic"/>
              </a:rPr>
              <a:t>개발자나</a:t>
            </a:r>
            <a:r>
              <a:rPr sz="1300" spc="-17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29" dirty="0">
                <a:solidFill>
                  <a:srgbClr val="6A7280"/>
                </a:solidFill>
                <a:latin typeface="Malgun Gothic"/>
                <a:cs typeface="Malgun Gothic"/>
              </a:rPr>
              <a:t>대중에게</a:t>
            </a:r>
            <a:r>
              <a:rPr sz="1300" spc="-8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29" dirty="0">
                <a:solidFill>
                  <a:srgbClr val="6A7280"/>
                </a:solidFill>
                <a:latin typeface="Malgun Gothic"/>
                <a:cs typeface="Malgun Gothic"/>
              </a:rPr>
              <a:t>공개된</a:t>
            </a:r>
            <a:r>
              <a:rPr sz="1300" spc="-8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20" dirty="0">
                <a:solidFill>
                  <a:srgbClr val="6A7280"/>
                </a:solidFill>
                <a:latin typeface="Malgun Gothic"/>
                <a:cs typeface="Malgun Gothic"/>
              </a:rPr>
              <a:t>개방형 </a:t>
            </a:r>
            <a:r>
              <a:rPr sz="1300" spc="-30" dirty="0">
                <a:solidFill>
                  <a:srgbClr val="6A7280"/>
                </a:solidFill>
                <a:latin typeface="Malgun Gothic"/>
                <a:cs typeface="Malgun Gothic"/>
              </a:rPr>
              <a:t>통로입니다.</a:t>
            </a:r>
            <a:endParaRPr sz="130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893" y="4794886"/>
            <a:ext cx="178752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114" dirty="0">
                <a:solidFill>
                  <a:srgbClr val="0FB981"/>
                </a:solidFill>
                <a:latin typeface="Malgun Gothic"/>
                <a:cs typeface="Malgun Gothic"/>
              </a:rPr>
              <a:t>예:</a:t>
            </a:r>
            <a:r>
              <a:rPr sz="1100" b="1" spc="-40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1100" b="1" spc="-190" dirty="0">
                <a:solidFill>
                  <a:srgbClr val="0FB981"/>
                </a:solidFill>
                <a:latin typeface="Malgun Gothic"/>
                <a:cs typeface="Malgun Gothic"/>
              </a:rPr>
              <a:t>카카오</a:t>
            </a:r>
            <a:r>
              <a:rPr sz="1100" b="1" spc="-140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1100" b="1" spc="-155" dirty="0">
                <a:solidFill>
                  <a:srgbClr val="0FB981"/>
                </a:solidFill>
                <a:latin typeface="Malgun Gothic"/>
                <a:cs typeface="Malgun Gothic"/>
              </a:rPr>
              <a:t>로그인,</a:t>
            </a:r>
            <a:r>
              <a:rPr sz="1100" b="1" spc="-60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1100" b="1" spc="-185" dirty="0">
                <a:solidFill>
                  <a:srgbClr val="0FB981"/>
                </a:solidFill>
                <a:latin typeface="Malgun Gothic"/>
                <a:cs typeface="Malgun Gothic"/>
              </a:rPr>
              <a:t>구글</a:t>
            </a:r>
            <a:r>
              <a:rPr sz="1100" b="1" spc="-140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1100" b="1" spc="-185" dirty="0">
                <a:solidFill>
                  <a:srgbClr val="0FB981"/>
                </a:solidFill>
                <a:latin typeface="Malgun Gothic"/>
                <a:cs typeface="Malgun Gothic"/>
              </a:rPr>
              <a:t>지도</a:t>
            </a:r>
            <a:r>
              <a:rPr sz="1100" b="1" spc="-140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1100" b="1" spc="-114" dirty="0">
                <a:solidFill>
                  <a:srgbClr val="0FB981"/>
                </a:solidFill>
                <a:latin typeface="Malgun Gothic"/>
                <a:cs typeface="Malgun Gothic"/>
              </a:rPr>
              <a:t>연동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116979" y="3168650"/>
            <a:ext cx="3599179" cy="425450"/>
            <a:chOff x="4116979" y="2539831"/>
            <a:chExt cx="3599179" cy="42545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6979" y="2593806"/>
              <a:ext cx="523874" cy="3174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16021" y="2539831"/>
              <a:ext cx="400049" cy="42544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104279" y="3643532"/>
            <a:ext cx="2446655" cy="103505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950" b="1" spc="-70" dirty="0">
                <a:solidFill>
                  <a:srgbClr val="1F2937"/>
                </a:solidFill>
                <a:latin typeface="Malgun Gothic"/>
                <a:cs typeface="Malgun Gothic"/>
              </a:rPr>
              <a:t>Partner</a:t>
            </a:r>
            <a:r>
              <a:rPr sz="1950" b="1" spc="-21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950" b="1" spc="-25" dirty="0">
                <a:solidFill>
                  <a:srgbClr val="1F2937"/>
                </a:solidFill>
                <a:latin typeface="Malgun Gothic"/>
                <a:cs typeface="Malgun Gothic"/>
              </a:rPr>
              <a:t>API</a:t>
            </a:r>
            <a:endParaRPr sz="1950">
              <a:latin typeface="Malgun Gothic"/>
              <a:cs typeface="Malgun Gothic"/>
            </a:endParaRPr>
          </a:p>
          <a:p>
            <a:pPr marL="12700" marR="5080">
              <a:lnSpc>
                <a:spcPct val="113900"/>
              </a:lnSpc>
              <a:spcBef>
                <a:spcPts val="725"/>
              </a:spcBef>
            </a:pPr>
            <a:r>
              <a:rPr sz="1300" spc="-229" dirty="0">
                <a:solidFill>
                  <a:srgbClr val="6A7280"/>
                </a:solidFill>
                <a:latin typeface="Malgun Gothic"/>
                <a:cs typeface="Malgun Gothic"/>
              </a:rPr>
              <a:t>사전</a:t>
            </a:r>
            <a:r>
              <a:rPr sz="1300" spc="-10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35" dirty="0">
                <a:solidFill>
                  <a:srgbClr val="6A7280"/>
                </a:solidFill>
                <a:latin typeface="Malgun Gothic"/>
                <a:cs typeface="Malgun Gothic"/>
              </a:rPr>
              <a:t>제휴된</a:t>
            </a:r>
            <a:r>
              <a:rPr sz="1300" spc="-8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15" dirty="0">
                <a:solidFill>
                  <a:srgbClr val="6A7280"/>
                </a:solidFill>
                <a:latin typeface="Malgun Gothic"/>
                <a:cs typeface="Malgun Gothic"/>
              </a:rPr>
              <a:t>비즈니스</a:t>
            </a:r>
            <a:r>
              <a:rPr sz="1300" spc="-15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50" dirty="0">
                <a:solidFill>
                  <a:srgbClr val="6A7280"/>
                </a:solidFill>
                <a:latin typeface="Malgun Gothic"/>
                <a:cs typeface="Malgun Gothic"/>
              </a:rPr>
              <a:t>파트너</a:t>
            </a:r>
            <a:r>
              <a:rPr sz="1300" spc="-4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54" dirty="0">
                <a:solidFill>
                  <a:srgbClr val="6A7280"/>
                </a:solidFill>
                <a:latin typeface="Malgun Gothic"/>
                <a:cs typeface="Malgun Gothic"/>
              </a:rPr>
              <a:t>간의</a:t>
            </a:r>
            <a:r>
              <a:rPr sz="1300" spc="-3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04" dirty="0">
                <a:solidFill>
                  <a:srgbClr val="6A7280"/>
                </a:solidFill>
                <a:latin typeface="Malgun Gothic"/>
                <a:cs typeface="Malgun Gothic"/>
              </a:rPr>
              <a:t>안전 </a:t>
            </a:r>
            <a:r>
              <a:rPr sz="1300" spc="-165" dirty="0">
                <a:solidFill>
                  <a:srgbClr val="6A7280"/>
                </a:solidFill>
                <a:latin typeface="Malgun Gothic"/>
                <a:cs typeface="Malgun Gothic"/>
              </a:rPr>
              <a:t>한</a:t>
            </a:r>
            <a:r>
              <a:rPr sz="1300" spc="-17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15" dirty="0">
                <a:solidFill>
                  <a:srgbClr val="6A7280"/>
                </a:solidFill>
                <a:latin typeface="Malgun Gothic"/>
                <a:cs typeface="Malgun Gothic"/>
              </a:rPr>
              <a:t>통신을</a:t>
            </a:r>
            <a:r>
              <a:rPr sz="1300" spc="-14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15" dirty="0">
                <a:solidFill>
                  <a:srgbClr val="6A7280"/>
                </a:solidFill>
                <a:latin typeface="Malgun Gothic"/>
                <a:cs typeface="Malgun Gothic"/>
              </a:rPr>
              <a:t>목적으로</a:t>
            </a:r>
            <a:r>
              <a:rPr sz="1300" spc="-14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5" dirty="0">
                <a:solidFill>
                  <a:srgbClr val="6A7280"/>
                </a:solidFill>
                <a:latin typeface="Malgun Gothic"/>
                <a:cs typeface="Malgun Gothic"/>
              </a:rPr>
              <a:t>제공됩니다.</a:t>
            </a:r>
            <a:endParaRPr sz="13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4279" y="4794886"/>
            <a:ext cx="1840230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114" dirty="0">
                <a:solidFill>
                  <a:srgbClr val="6266F1"/>
                </a:solidFill>
                <a:latin typeface="Malgun Gothic"/>
                <a:cs typeface="Malgun Gothic"/>
              </a:rPr>
              <a:t>예:</a:t>
            </a:r>
            <a:r>
              <a:rPr sz="1100" b="1" spc="-45" dirty="0">
                <a:solidFill>
                  <a:srgbClr val="6266F1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6266F1"/>
                </a:solidFill>
                <a:latin typeface="Malgun Gothic"/>
                <a:cs typeface="Malgun Gothic"/>
              </a:rPr>
              <a:t>PG</a:t>
            </a:r>
            <a:r>
              <a:rPr sz="1100" b="1" spc="-90" dirty="0">
                <a:solidFill>
                  <a:srgbClr val="6266F1"/>
                </a:solidFill>
                <a:latin typeface="Malgun Gothic"/>
                <a:cs typeface="Malgun Gothic"/>
              </a:rPr>
              <a:t> </a:t>
            </a:r>
            <a:r>
              <a:rPr sz="1100" b="1" spc="-185" dirty="0">
                <a:solidFill>
                  <a:srgbClr val="6266F1"/>
                </a:solidFill>
                <a:latin typeface="Malgun Gothic"/>
                <a:cs typeface="Malgun Gothic"/>
              </a:rPr>
              <a:t>결제사</a:t>
            </a:r>
            <a:r>
              <a:rPr sz="1100" b="1" spc="-170" dirty="0">
                <a:solidFill>
                  <a:srgbClr val="6266F1"/>
                </a:solidFill>
                <a:latin typeface="Malgun Gothic"/>
                <a:cs typeface="Malgun Gothic"/>
              </a:rPr>
              <a:t> </a:t>
            </a:r>
            <a:r>
              <a:rPr sz="1100" b="1" spc="-135" dirty="0">
                <a:solidFill>
                  <a:srgbClr val="6266F1"/>
                </a:solidFill>
                <a:latin typeface="Malgun Gothic"/>
                <a:cs typeface="Malgun Gothic"/>
              </a:rPr>
              <a:t>연동,</a:t>
            </a:r>
            <a:r>
              <a:rPr sz="1100" b="1" spc="-65" dirty="0">
                <a:solidFill>
                  <a:srgbClr val="6266F1"/>
                </a:solidFill>
                <a:latin typeface="Malgun Gothic"/>
                <a:cs typeface="Malgun Gothic"/>
              </a:rPr>
              <a:t> </a:t>
            </a:r>
            <a:r>
              <a:rPr sz="1100" b="1" spc="-220" dirty="0">
                <a:solidFill>
                  <a:srgbClr val="6266F1"/>
                </a:solidFill>
                <a:latin typeface="Malgun Gothic"/>
                <a:cs typeface="Malgun Gothic"/>
              </a:rPr>
              <a:t>대외</a:t>
            </a:r>
            <a:r>
              <a:rPr sz="1100" b="1" spc="-70" dirty="0">
                <a:solidFill>
                  <a:srgbClr val="6266F1"/>
                </a:solidFill>
                <a:latin typeface="Malgun Gothic"/>
                <a:cs typeface="Malgun Gothic"/>
              </a:rPr>
              <a:t> </a:t>
            </a:r>
            <a:r>
              <a:rPr sz="1100" b="1" spc="-180" dirty="0">
                <a:solidFill>
                  <a:srgbClr val="6266F1"/>
                </a:solidFill>
                <a:latin typeface="Malgun Gothic"/>
                <a:cs typeface="Malgun Gothic"/>
              </a:rPr>
              <a:t>정산</a:t>
            </a:r>
            <a:r>
              <a:rPr sz="1100" b="1" spc="-155" dirty="0">
                <a:solidFill>
                  <a:srgbClr val="6266F1"/>
                </a:solidFill>
                <a:latin typeface="Malgun Gothic"/>
                <a:cs typeface="Malgun Gothic"/>
              </a:rPr>
              <a:t> </a:t>
            </a:r>
            <a:r>
              <a:rPr sz="1100" b="1" spc="-35" dirty="0">
                <a:solidFill>
                  <a:srgbClr val="6266F1"/>
                </a:solidFill>
                <a:latin typeface="Malgun Gothic"/>
                <a:cs typeface="Malgun Gothic"/>
              </a:rPr>
              <a:t>API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93796" y="3643532"/>
            <a:ext cx="2413000" cy="126047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420"/>
              </a:spcBef>
            </a:pPr>
            <a:r>
              <a:rPr sz="1950" b="1" spc="-75" dirty="0">
                <a:solidFill>
                  <a:srgbClr val="1F2937"/>
                </a:solidFill>
                <a:latin typeface="Malgun Gothic"/>
                <a:cs typeface="Malgun Gothic"/>
              </a:rPr>
              <a:t>Private</a:t>
            </a:r>
            <a:r>
              <a:rPr sz="1950" b="1" spc="-185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950" b="1" spc="-25" dirty="0">
                <a:solidFill>
                  <a:srgbClr val="1F2937"/>
                </a:solidFill>
                <a:latin typeface="Malgun Gothic"/>
                <a:cs typeface="Malgun Gothic"/>
              </a:rPr>
              <a:t>API</a:t>
            </a:r>
            <a:endParaRPr sz="1950">
              <a:latin typeface="Malgun Gothic"/>
              <a:cs typeface="Malgun Gothic"/>
            </a:endParaRPr>
          </a:p>
          <a:p>
            <a:pPr marL="12700" marR="5080" algn="just">
              <a:lnSpc>
                <a:spcPct val="113900"/>
              </a:lnSpc>
              <a:spcBef>
                <a:spcPts val="725"/>
              </a:spcBef>
            </a:pPr>
            <a:r>
              <a:rPr sz="1300" spc="-450" dirty="0">
                <a:solidFill>
                  <a:srgbClr val="6A7280"/>
                </a:solidFill>
                <a:latin typeface="Malgun Gothic"/>
                <a:cs typeface="Malgun Gothic"/>
              </a:rPr>
              <a:t>사내</a:t>
            </a:r>
            <a:r>
              <a:rPr sz="1300" spc="33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459" dirty="0">
                <a:solidFill>
                  <a:srgbClr val="6A7280"/>
                </a:solidFill>
                <a:latin typeface="Malgun Gothic"/>
                <a:cs typeface="Malgun Gothic"/>
              </a:rPr>
              <a:t>내부</a:t>
            </a:r>
            <a:r>
              <a:rPr sz="1300" spc="34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80" dirty="0">
                <a:solidFill>
                  <a:srgbClr val="6A7280"/>
                </a:solidFill>
                <a:latin typeface="Malgun Gothic"/>
                <a:cs typeface="Malgun Gothic"/>
              </a:rPr>
              <a:t>시스템이나</a:t>
            </a:r>
            <a:r>
              <a:rPr sz="1300" spc="16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95" dirty="0">
                <a:solidFill>
                  <a:srgbClr val="6A7280"/>
                </a:solidFill>
                <a:latin typeface="Malgun Gothic"/>
                <a:cs typeface="Malgun Gothic"/>
              </a:rPr>
              <a:t>독립적인</a:t>
            </a:r>
            <a:r>
              <a:rPr sz="1300" spc="21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190" dirty="0">
                <a:solidFill>
                  <a:srgbClr val="6A7280"/>
                </a:solidFill>
                <a:latin typeface="Malgun Gothic"/>
                <a:cs typeface="Malgun Gothic"/>
              </a:rPr>
              <a:t>마이크 </a:t>
            </a:r>
            <a:r>
              <a:rPr sz="1300" spc="-160" dirty="0">
                <a:solidFill>
                  <a:srgbClr val="6A7280"/>
                </a:solidFill>
                <a:latin typeface="Malgun Gothic"/>
                <a:cs typeface="Malgun Gothic"/>
              </a:rPr>
              <a:t>로서비스(MSA)</a:t>
            </a:r>
            <a:r>
              <a:rPr sz="1300" spc="8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445" dirty="0">
                <a:solidFill>
                  <a:srgbClr val="6A7280"/>
                </a:solidFill>
                <a:latin typeface="Malgun Gothic"/>
                <a:cs typeface="Malgun Gothic"/>
              </a:rPr>
              <a:t>간의</a:t>
            </a:r>
            <a:r>
              <a:rPr sz="1300" spc="33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450" dirty="0">
                <a:solidFill>
                  <a:srgbClr val="6A7280"/>
                </a:solidFill>
                <a:latin typeface="Malgun Gothic"/>
                <a:cs typeface="Malgun Gothic"/>
              </a:rPr>
              <a:t>기밀</a:t>
            </a:r>
            <a:r>
              <a:rPr sz="1300" spc="33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340" dirty="0">
                <a:solidFill>
                  <a:srgbClr val="6A7280"/>
                </a:solidFill>
                <a:latin typeface="Malgun Gothic"/>
                <a:cs typeface="Malgun Gothic"/>
              </a:rPr>
              <a:t>통신을</a:t>
            </a:r>
            <a:r>
              <a:rPr sz="1300" spc="22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135" dirty="0">
                <a:solidFill>
                  <a:srgbClr val="6A7280"/>
                </a:solidFill>
                <a:latin typeface="Malgun Gothic"/>
                <a:cs typeface="Malgun Gothic"/>
              </a:rPr>
              <a:t>전담 </a:t>
            </a:r>
            <a:r>
              <a:rPr sz="1300" spc="-20" dirty="0">
                <a:solidFill>
                  <a:srgbClr val="6A7280"/>
                </a:solidFill>
                <a:latin typeface="Malgun Gothic"/>
                <a:cs typeface="Malgun Gothic"/>
              </a:rPr>
              <a:t>합니다.</a:t>
            </a:r>
            <a:endParaRPr sz="130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93796" y="5020516"/>
            <a:ext cx="1841500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114" dirty="0">
                <a:solidFill>
                  <a:srgbClr val="F43F5D"/>
                </a:solidFill>
                <a:latin typeface="Malgun Gothic"/>
                <a:cs typeface="Malgun Gothic"/>
              </a:rPr>
              <a:t>예:</a:t>
            </a:r>
            <a:r>
              <a:rPr sz="1100" b="1" spc="-50" dirty="0">
                <a:solidFill>
                  <a:srgbClr val="F43F5D"/>
                </a:solidFill>
                <a:latin typeface="Malgun Gothic"/>
                <a:cs typeface="Malgun Gothic"/>
              </a:rPr>
              <a:t> </a:t>
            </a:r>
            <a:r>
              <a:rPr sz="1100" b="1" spc="-185" dirty="0">
                <a:solidFill>
                  <a:srgbClr val="F43F5D"/>
                </a:solidFill>
                <a:latin typeface="Malgun Gothic"/>
                <a:cs typeface="Malgun Gothic"/>
              </a:rPr>
              <a:t>백엔드</a:t>
            </a:r>
            <a:r>
              <a:rPr sz="1100" b="1" spc="-145" dirty="0">
                <a:solidFill>
                  <a:srgbClr val="F43F5D"/>
                </a:solidFill>
                <a:latin typeface="Malgun Gothic"/>
                <a:cs typeface="Malgun Gothic"/>
              </a:rPr>
              <a:t> </a:t>
            </a:r>
            <a:r>
              <a:rPr sz="1100" b="1" spc="-215" dirty="0">
                <a:solidFill>
                  <a:srgbClr val="F43F5D"/>
                </a:solidFill>
                <a:latin typeface="Malgun Gothic"/>
                <a:cs typeface="Malgun Gothic"/>
              </a:rPr>
              <a:t>핵심</a:t>
            </a:r>
            <a:r>
              <a:rPr sz="1100" b="1" spc="-65" dirty="0">
                <a:solidFill>
                  <a:srgbClr val="F43F5D"/>
                </a:solidFill>
                <a:latin typeface="Malgun Gothic"/>
                <a:cs typeface="Malgun Gothic"/>
              </a:rPr>
              <a:t> </a:t>
            </a:r>
            <a:r>
              <a:rPr sz="1100" b="1" spc="-80" dirty="0">
                <a:solidFill>
                  <a:srgbClr val="F43F5D"/>
                </a:solidFill>
                <a:latin typeface="Malgun Gothic"/>
                <a:cs typeface="Malgun Gothic"/>
              </a:rPr>
              <a:t>DB</a:t>
            </a:r>
            <a:r>
              <a:rPr sz="1100" b="1" spc="-120" dirty="0">
                <a:solidFill>
                  <a:srgbClr val="F43F5D"/>
                </a:solidFill>
                <a:latin typeface="Malgun Gothic"/>
                <a:cs typeface="Malgun Gothic"/>
              </a:rPr>
              <a:t> </a:t>
            </a:r>
            <a:r>
              <a:rPr sz="1100" b="1" spc="-225" dirty="0">
                <a:solidFill>
                  <a:srgbClr val="F43F5D"/>
                </a:solidFill>
                <a:latin typeface="Malgun Gothic"/>
                <a:cs typeface="Malgun Gothic"/>
              </a:rPr>
              <a:t>처리</a:t>
            </a:r>
            <a:r>
              <a:rPr sz="1100" b="1" spc="-70" dirty="0">
                <a:solidFill>
                  <a:srgbClr val="F43F5D"/>
                </a:solidFill>
                <a:latin typeface="Malgun Gothic"/>
                <a:cs typeface="Malgun Gothic"/>
              </a:rPr>
              <a:t> </a:t>
            </a:r>
            <a:r>
              <a:rPr sz="1100" b="1" spc="-185" dirty="0">
                <a:solidFill>
                  <a:srgbClr val="F43F5D"/>
                </a:solidFill>
                <a:latin typeface="Malgun Gothic"/>
                <a:cs typeface="Malgun Gothic"/>
              </a:rPr>
              <a:t>정보</a:t>
            </a:r>
            <a:r>
              <a:rPr sz="1100" b="1" spc="-145" dirty="0">
                <a:solidFill>
                  <a:srgbClr val="F43F5D"/>
                </a:solidFill>
                <a:latin typeface="Malgun Gothic"/>
                <a:cs typeface="Malgun Gothic"/>
              </a:rPr>
              <a:t> </a:t>
            </a:r>
            <a:r>
              <a:rPr sz="1100" b="1" spc="-110" dirty="0">
                <a:solidFill>
                  <a:srgbClr val="F43F5D"/>
                </a:solidFill>
                <a:latin typeface="Malgun Gothic"/>
                <a:cs typeface="Malgun Gothic"/>
              </a:rPr>
              <a:t>공유</a:t>
            </a:r>
            <a:endParaRPr sz="11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800" spc="-442" baseline="4340" dirty="0">
                <a:solidFill>
                  <a:srgbClr val="0FB981"/>
                </a:solidFill>
                <a:latin typeface="Trebuchet MS"/>
                <a:cs typeface="Trebuchet MS"/>
              </a:rPr>
              <a:t>05.</a:t>
            </a:r>
            <a:r>
              <a:rPr sz="4800" spc="187" baseline="4340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3250" spc="-315" dirty="0"/>
              <a:t>Web</a:t>
            </a:r>
            <a:r>
              <a:rPr sz="3250" spc="-345" dirty="0"/>
              <a:t> </a:t>
            </a:r>
            <a:r>
              <a:rPr sz="3250" spc="-295" dirty="0"/>
              <a:t>API</a:t>
            </a:r>
            <a:endParaRPr sz="325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565561" y="2371725"/>
            <a:ext cx="4454525" cy="3159125"/>
            <a:chOff x="5565561" y="1930401"/>
            <a:chExt cx="4454525" cy="3159125"/>
          </a:xfrm>
        </p:grpSpPr>
        <p:sp>
          <p:nvSpPr>
            <p:cNvPr id="5" name="object 5"/>
            <p:cNvSpPr/>
            <p:nvPr/>
          </p:nvSpPr>
          <p:spPr>
            <a:xfrm>
              <a:off x="5565561" y="1930401"/>
              <a:ext cx="4454525" cy="3159125"/>
            </a:xfrm>
            <a:custGeom>
              <a:avLst/>
              <a:gdLst/>
              <a:ahLst/>
              <a:cxnLst/>
              <a:rect l="l" t="t" r="r" b="b"/>
              <a:pathLst>
                <a:path w="4454525" h="3159125">
                  <a:moveTo>
                    <a:pt x="4261916" y="3158832"/>
                  </a:moveTo>
                  <a:lnTo>
                    <a:pt x="192204" y="3158832"/>
                  </a:lnTo>
                  <a:lnTo>
                    <a:pt x="182761" y="3158598"/>
                  </a:lnTo>
                  <a:lnTo>
                    <a:pt x="136408" y="3150554"/>
                  </a:lnTo>
                  <a:lnTo>
                    <a:pt x="93400" y="3131490"/>
                  </a:lnTo>
                  <a:lnTo>
                    <a:pt x="56294" y="3102534"/>
                  </a:lnTo>
                  <a:lnTo>
                    <a:pt x="27337" y="3065426"/>
                  </a:lnTo>
                  <a:lnTo>
                    <a:pt x="8273" y="3022419"/>
                  </a:lnTo>
                  <a:lnTo>
                    <a:pt x="230" y="2976070"/>
                  </a:lnTo>
                  <a:lnTo>
                    <a:pt x="0" y="2966628"/>
                  </a:lnTo>
                  <a:lnTo>
                    <a:pt x="0" y="192204"/>
                  </a:lnTo>
                  <a:lnTo>
                    <a:pt x="5760" y="145489"/>
                  </a:lnTo>
                  <a:lnTo>
                    <a:pt x="22692" y="101596"/>
                  </a:lnTo>
                  <a:lnTo>
                    <a:pt x="49781" y="63133"/>
                  </a:lnTo>
                  <a:lnTo>
                    <a:pt x="85421" y="32390"/>
                  </a:lnTo>
                  <a:lnTo>
                    <a:pt x="127462" y="11228"/>
                  </a:lnTo>
                  <a:lnTo>
                    <a:pt x="173364" y="922"/>
                  </a:lnTo>
                  <a:lnTo>
                    <a:pt x="192204" y="0"/>
                  </a:lnTo>
                  <a:lnTo>
                    <a:pt x="4261916" y="0"/>
                  </a:lnTo>
                  <a:lnTo>
                    <a:pt x="4308629" y="5759"/>
                  </a:lnTo>
                  <a:lnTo>
                    <a:pt x="4352521" y="22690"/>
                  </a:lnTo>
                  <a:lnTo>
                    <a:pt x="4390984" y="49780"/>
                  </a:lnTo>
                  <a:lnTo>
                    <a:pt x="4421727" y="85421"/>
                  </a:lnTo>
                  <a:lnTo>
                    <a:pt x="4442889" y="127460"/>
                  </a:lnTo>
                  <a:lnTo>
                    <a:pt x="4453196" y="173363"/>
                  </a:lnTo>
                  <a:lnTo>
                    <a:pt x="4454120" y="192204"/>
                  </a:lnTo>
                  <a:lnTo>
                    <a:pt x="4454120" y="2966628"/>
                  </a:lnTo>
                  <a:lnTo>
                    <a:pt x="4448358" y="3013338"/>
                  </a:lnTo>
                  <a:lnTo>
                    <a:pt x="4431426" y="3057229"/>
                  </a:lnTo>
                  <a:lnTo>
                    <a:pt x="4404338" y="3095694"/>
                  </a:lnTo>
                  <a:lnTo>
                    <a:pt x="4368699" y="3126437"/>
                  </a:lnTo>
                  <a:lnTo>
                    <a:pt x="4326657" y="3147597"/>
                  </a:lnTo>
                  <a:lnTo>
                    <a:pt x="4280755" y="3157905"/>
                  </a:lnTo>
                  <a:lnTo>
                    <a:pt x="4261916" y="3158832"/>
                  </a:lnTo>
                  <a:close/>
                </a:path>
              </a:pathLst>
            </a:custGeom>
            <a:solidFill>
              <a:srgbClr val="DF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65561" y="1930401"/>
              <a:ext cx="4454525" cy="3159125"/>
            </a:xfrm>
            <a:custGeom>
              <a:avLst/>
              <a:gdLst/>
              <a:ahLst/>
              <a:cxnLst/>
              <a:rect l="l" t="t" r="r" b="b"/>
              <a:pathLst>
                <a:path w="4454525" h="3159125">
                  <a:moveTo>
                    <a:pt x="0" y="2966628"/>
                  </a:moveTo>
                  <a:lnTo>
                    <a:pt x="0" y="192204"/>
                  </a:lnTo>
                  <a:lnTo>
                    <a:pt x="230" y="182761"/>
                  </a:lnTo>
                  <a:lnTo>
                    <a:pt x="8273" y="136407"/>
                  </a:lnTo>
                  <a:lnTo>
                    <a:pt x="27337" y="93398"/>
                  </a:lnTo>
                  <a:lnTo>
                    <a:pt x="56294" y="56293"/>
                  </a:lnTo>
                  <a:lnTo>
                    <a:pt x="93400" y="27336"/>
                  </a:lnTo>
                  <a:lnTo>
                    <a:pt x="136408" y="8273"/>
                  </a:lnTo>
                  <a:lnTo>
                    <a:pt x="182761" y="230"/>
                  </a:lnTo>
                  <a:lnTo>
                    <a:pt x="192204" y="0"/>
                  </a:lnTo>
                  <a:lnTo>
                    <a:pt x="4261916" y="0"/>
                  </a:lnTo>
                  <a:lnTo>
                    <a:pt x="4308629" y="5759"/>
                  </a:lnTo>
                  <a:lnTo>
                    <a:pt x="4352521" y="22690"/>
                  </a:lnTo>
                  <a:lnTo>
                    <a:pt x="4390984" y="49780"/>
                  </a:lnTo>
                  <a:lnTo>
                    <a:pt x="4421727" y="85421"/>
                  </a:lnTo>
                  <a:lnTo>
                    <a:pt x="4442889" y="127460"/>
                  </a:lnTo>
                  <a:lnTo>
                    <a:pt x="4453196" y="173363"/>
                  </a:lnTo>
                  <a:lnTo>
                    <a:pt x="4454120" y="192204"/>
                  </a:lnTo>
                  <a:lnTo>
                    <a:pt x="4454120" y="2966628"/>
                  </a:lnTo>
                  <a:lnTo>
                    <a:pt x="4448358" y="3013338"/>
                  </a:lnTo>
                  <a:lnTo>
                    <a:pt x="4431426" y="3057229"/>
                  </a:lnTo>
                  <a:lnTo>
                    <a:pt x="4404338" y="3095694"/>
                  </a:lnTo>
                  <a:lnTo>
                    <a:pt x="4368699" y="3126437"/>
                  </a:lnTo>
                  <a:lnTo>
                    <a:pt x="4326657" y="3147597"/>
                  </a:lnTo>
                  <a:lnTo>
                    <a:pt x="4280755" y="3157905"/>
                  </a:lnTo>
                  <a:lnTo>
                    <a:pt x="4261916" y="3158832"/>
                  </a:lnTo>
                  <a:lnTo>
                    <a:pt x="192204" y="3158832"/>
                  </a:lnTo>
                  <a:lnTo>
                    <a:pt x="145490" y="3153067"/>
                  </a:lnTo>
                  <a:lnTo>
                    <a:pt x="101598" y="3136135"/>
                  </a:lnTo>
                  <a:lnTo>
                    <a:pt x="63135" y="3109048"/>
                  </a:lnTo>
                  <a:lnTo>
                    <a:pt x="32391" y="3073404"/>
                  </a:lnTo>
                  <a:lnTo>
                    <a:pt x="11229" y="3031366"/>
                  </a:lnTo>
                  <a:lnTo>
                    <a:pt x="922" y="2985467"/>
                  </a:lnTo>
                  <a:lnTo>
                    <a:pt x="0" y="2966628"/>
                  </a:lnTo>
                  <a:close/>
                </a:path>
              </a:pathLst>
            </a:custGeom>
            <a:ln w="1671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8098" y="2869153"/>
              <a:ext cx="1152524" cy="8096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375996" y="4338558"/>
            <a:ext cx="2842260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b="1" spc="-280" dirty="0">
                <a:solidFill>
                  <a:srgbClr val="374050"/>
                </a:solidFill>
                <a:latin typeface="Malgun Gothic"/>
                <a:cs typeface="Malgun Gothic"/>
              </a:rPr>
              <a:t>모든</a:t>
            </a:r>
            <a:r>
              <a:rPr sz="1750" b="1" spc="-24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300" dirty="0">
                <a:solidFill>
                  <a:srgbClr val="374050"/>
                </a:solidFill>
                <a:latin typeface="Malgun Gothic"/>
                <a:cs typeface="Malgun Gothic"/>
              </a:rPr>
              <a:t>플랫폼을</a:t>
            </a:r>
            <a:r>
              <a:rPr sz="1750" b="1" spc="-23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290" dirty="0">
                <a:solidFill>
                  <a:srgbClr val="374050"/>
                </a:solidFill>
                <a:latin typeface="Malgun Gothic"/>
                <a:cs typeface="Malgun Gothic"/>
              </a:rPr>
              <a:t>지원하는</a:t>
            </a:r>
            <a:r>
              <a:rPr sz="1750" b="1" spc="-23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315" dirty="0">
                <a:solidFill>
                  <a:srgbClr val="374050"/>
                </a:solidFill>
                <a:latin typeface="Malgun Gothic"/>
                <a:cs typeface="Malgun Gothic"/>
              </a:rPr>
              <a:t>단일</a:t>
            </a:r>
            <a:r>
              <a:rPr sz="1750" b="1" spc="-15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300" dirty="0">
                <a:solidFill>
                  <a:srgbClr val="374050"/>
                </a:solidFill>
                <a:latin typeface="Malgun Gothic"/>
                <a:cs typeface="Malgun Gothic"/>
              </a:rPr>
              <a:t>창구</a:t>
            </a:r>
            <a:endParaRPr sz="1750">
              <a:latin typeface="Malgun Gothic"/>
              <a:cs typeface="Malgun Gothic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0319" y="2419554"/>
            <a:ext cx="269874" cy="1936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31887" y="2320783"/>
            <a:ext cx="4103370" cy="1830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7780">
              <a:lnSpc>
                <a:spcPct val="119100"/>
              </a:lnSpc>
              <a:spcBef>
                <a:spcPts val="90"/>
              </a:spcBef>
            </a:pPr>
            <a:r>
              <a:rPr sz="1700" b="1" spc="-35" dirty="0">
                <a:solidFill>
                  <a:srgbClr val="374050"/>
                </a:solidFill>
                <a:latin typeface="Malgun Gothic"/>
                <a:cs typeface="Malgun Gothic"/>
              </a:rPr>
              <a:t>HTTP</a:t>
            </a:r>
            <a:r>
              <a:rPr sz="1700" b="1" spc="-1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300" dirty="0">
                <a:solidFill>
                  <a:srgbClr val="374050"/>
                </a:solidFill>
                <a:latin typeface="Malgun Gothic"/>
                <a:cs typeface="Malgun Gothic"/>
              </a:rPr>
              <a:t>프로토콜</a:t>
            </a:r>
            <a:r>
              <a:rPr sz="1750" b="1" spc="-229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220" dirty="0">
                <a:solidFill>
                  <a:srgbClr val="374050"/>
                </a:solidFill>
                <a:latin typeface="Malgun Gothic"/>
                <a:cs typeface="Malgun Gothic"/>
              </a:rPr>
              <a:t>기반</a:t>
            </a:r>
            <a:r>
              <a:rPr sz="1700" b="1" spc="-220" dirty="0">
                <a:solidFill>
                  <a:srgbClr val="374050"/>
                </a:solidFill>
                <a:latin typeface="Malgun Gothic"/>
                <a:cs typeface="Malgun Gothic"/>
              </a:rPr>
              <a:t>:</a:t>
            </a:r>
            <a:r>
              <a:rPr sz="1700" b="1" spc="-5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90" dirty="0">
                <a:solidFill>
                  <a:srgbClr val="374050"/>
                </a:solidFill>
                <a:latin typeface="Malgun Gothic"/>
                <a:cs typeface="Malgun Gothic"/>
              </a:rPr>
              <a:t>범용</a:t>
            </a:r>
            <a:r>
              <a:rPr sz="1750" spc="-21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90" dirty="0">
                <a:solidFill>
                  <a:srgbClr val="374050"/>
                </a:solidFill>
                <a:latin typeface="Malgun Gothic"/>
                <a:cs typeface="Malgun Gothic"/>
              </a:rPr>
              <a:t>표준</a:t>
            </a:r>
            <a:r>
              <a:rPr sz="1750" spc="-21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95" dirty="0">
                <a:solidFill>
                  <a:srgbClr val="374050"/>
                </a:solidFill>
                <a:latin typeface="Malgun Gothic"/>
                <a:cs typeface="Malgun Gothic"/>
              </a:rPr>
              <a:t>기술을</a:t>
            </a:r>
            <a:r>
              <a:rPr sz="1750" spc="-21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50" dirty="0">
                <a:solidFill>
                  <a:srgbClr val="374050"/>
                </a:solidFill>
                <a:latin typeface="Malgun Gothic"/>
                <a:cs typeface="Malgun Gothic"/>
              </a:rPr>
              <a:t>사용하여 </a:t>
            </a:r>
            <a:r>
              <a:rPr sz="1750" spc="-280" dirty="0">
                <a:solidFill>
                  <a:srgbClr val="374050"/>
                </a:solidFill>
                <a:latin typeface="Malgun Gothic"/>
                <a:cs typeface="Malgun Gothic"/>
              </a:rPr>
              <a:t>기기나</a:t>
            </a:r>
            <a:r>
              <a:rPr sz="1750" spc="-2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95" dirty="0">
                <a:solidFill>
                  <a:srgbClr val="374050"/>
                </a:solidFill>
                <a:latin typeface="Malgun Gothic"/>
                <a:cs typeface="Malgun Gothic"/>
              </a:rPr>
              <a:t>플랫폼</a:t>
            </a:r>
            <a:r>
              <a:rPr sz="1750" spc="-21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75" dirty="0">
                <a:solidFill>
                  <a:srgbClr val="374050"/>
                </a:solidFill>
                <a:latin typeface="Malgun Gothic"/>
                <a:cs typeface="Malgun Gothic"/>
              </a:rPr>
              <a:t>제약</a:t>
            </a:r>
            <a:r>
              <a:rPr sz="1750" spc="-24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55" dirty="0">
                <a:solidFill>
                  <a:srgbClr val="374050"/>
                </a:solidFill>
                <a:latin typeface="Malgun Gothic"/>
                <a:cs typeface="Malgun Gothic"/>
              </a:rPr>
              <a:t>없이</a:t>
            </a:r>
            <a:r>
              <a:rPr sz="1750" spc="-7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20" dirty="0">
                <a:solidFill>
                  <a:srgbClr val="374050"/>
                </a:solidFill>
                <a:latin typeface="Malgun Gothic"/>
                <a:cs typeface="Malgun Gothic"/>
              </a:rPr>
              <a:t>완벽하게</a:t>
            </a:r>
            <a:r>
              <a:rPr sz="1750" spc="-12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80" dirty="0">
                <a:solidFill>
                  <a:srgbClr val="374050"/>
                </a:solidFill>
                <a:latin typeface="Malgun Gothic"/>
                <a:cs typeface="Malgun Gothic"/>
              </a:rPr>
              <a:t>소통합니다.</a:t>
            </a:r>
            <a:endParaRPr sz="1750">
              <a:latin typeface="Malgun Gothic"/>
              <a:cs typeface="Malgun Gothic"/>
            </a:endParaRPr>
          </a:p>
          <a:p>
            <a:pPr marL="12700" marR="5080">
              <a:lnSpc>
                <a:spcPct val="120600"/>
              </a:lnSpc>
              <a:spcBef>
                <a:spcPts val="1614"/>
              </a:spcBef>
            </a:pPr>
            <a:r>
              <a:rPr sz="1750" b="1" spc="-290" dirty="0">
                <a:solidFill>
                  <a:srgbClr val="374050"/>
                </a:solidFill>
                <a:latin typeface="Malgun Gothic"/>
                <a:cs typeface="Malgun Gothic"/>
              </a:rPr>
              <a:t>가볍고</a:t>
            </a:r>
            <a:r>
              <a:rPr sz="1750" b="1" spc="-24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280" dirty="0">
                <a:solidFill>
                  <a:srgbClr val="374050"/>
                </a:solidFill>
                <a:latin typeface="Malgun Gothic"/>
                <a:cs typeface="Malgun Gothic"/>
              </a:rPr>
              <a:t>유연한</a:t>
            </a:r>
            <a:r>
              <a:rPr sz="1750" b="1" spc="-2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00" b="1" spc="-35" dirty="0">
                <a:solidFill>
                  <a:srgbClr val="374050"/>
                </a:solidFill>
                <a:latin typeface="Malgun Gothic"/>
                <a:cs typeface="Malgun Gothic"/>
              </a:rPr>
              <a:t>JSON</a:t>
            </a:r>
            <a:r>
              <a:rPr sz="1700" b="1" spc="-9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220" dirty="0">
                <a:solidFill>
                  <a:srgbClr val="374050"/>
                </a:solidFill>
                <a:latin typeface="Malgun Gothic"/>
                <a:cs typeface="Malgun Gothic"/>
              </a:rPr>
              <a:t>포맷</a:t>
            </a:r>
            <a:r>
              <a:rPr sz="1700" b="1" spc="-220" dirty="0">
                <a:solidFill>
                  <a:srgbClr val="374050"/>
                </a:solidFill>
                <a:latin typeface="Malgun Gothic"/>
                <a:cs typeface="Malgun Gothic"/>
              </a:rPr>
              <a:t>:</a:t>
            </a:r>
            <a:r>
              <a:rPr sz="1700" b="1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95" dirty="0">
                <a:solidFill>
                  <a:srgbClr val="374050"/>
                </a:solidFill>
                <a:latin typeface="Malgun Gothic"/>
                <a:cs typeface="Malgun Gothic"/>
              </a:rPr>
              <a:t>무거운</a:t>
            </a:r>
            <a:r>
              <a:rPr sz="1750" spc="-22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35" dirty="0">
                <a:solidFill>
                  <a:srgbClr val="374050"/>
                </a:solidFill>
                <a:latin typeface="Malgun Gothic"/>
                <a:cs typeface="Malgun Gothic"/>
              </a:rPr>
              <a:t>바이너리</a:t>
            </a:r>
            <a:r>
              <a:rPr sz="1750" spc="-7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55" dirty="0">
                <a:solidFill>
                  <a:srgbClr val="374050"/>
                </a:solidFill>
                <a:latin typeface="Malgun Gothic"/>
                <a:cs typeface="Malgun Gothic"/>
              </a:rPr>
              <a:t>대신 </a:t>
            </a:r>
            <a:r>
              <a:rPr sz="1750" spc="-300" dirty="0">
                <a:solidFill>
                  <a:srgbClr val="374050"/>
                </a:solidFill>
                <a:latin typeface="Malgun Gothic"/>
                <a:cs typeface="Malgun Gothic"/>
              </a:rPr>
              <a:t>텍스트</a:t>
            </a:r>
            <a:r>
              <a:rPr sz="1750" spc="-22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35" dirty="0">
                <a:solidFill>
                  <a:srgbClr val="374050"/>
                </a:solidFill>
                <a:latin typeface="Malgun Gothic"/>
                <a:cs typeface="Malgun Gothic"/>
              </a:rPr>
              <a:t>기반의</a:t>
            </a:r>
            <a:r>
              <a:rPr sz="1750" spc="-7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20" dirty="0">
                <a:solidFill>
                  <a:srgbClr val="374050"/>
                </a:solidFill>
                <a:latin typeface="Malgun Gothic"/>
                <a:cs typeface="Malgun Gothic"/>
              </a:rPr>
              <a:t>직관적인</a:t>
            </a:r>
            <a:r>
              <a:rPr sz="1750" spc="-13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00" dirty="0">
                <a:solidFill>
                  <a:srgbClr val="374050"/>
                </a:solidFill>
                <a:latin typeface="Malgun Gothic"/>
                <a:cs typeface="Malgun Gothic"/>
              </a:rPr>
              <a:t>데이터를</a:t>
            </a:r>
            <a:r>
              <a:rPr sz="1750" spc="-22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30" dirty="0">
                <a:solidFill>
                  <a:srgbClr val="374050"/>
                </a:solidFill>
                <a:latin typeface="Malgun Gothic"/>
                <a:cs typeface="Malgun Gothic"/>
              </a:rPr>
              <a:t>사용하여</a:t>
            </a:r>
            <a:r>
              <a:rPr sz="1750" spc="-8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15" dirty="0">
                <a:solidFill>
                  <a:srgbClr val="374050"/>
                </a:solidFill>
                <a:latin typeface="Malgun Gothic"/>
                <a:cs typeface="Malgun Gothic"/>
              </a:rPr>
              <a:t>네트 </a:t>
            </a:r>
            <a:r>
              <a:rPr sz="1750" spc="-285" dirty="0">
                <a:solidFill>
                  <a:srgbClr val="374050"/>
                </a:solidFill>
                <a:latin typeface="Malgun Gothic"/>
                <a:cs typeface="Malgun Gothic"/>
              </a:rPr>
              <a:t>워크</a:t>
            </a:r>
            <a:r>
              <a:rPr sz="1750" spc="-21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00" dirty="0">
                <a:solidFill>
                  <a:srgbClr val="374050"/>
                </a:solidFill>
                <a:latin typeface="Malgun Gothic"/>
                <a:cs typeface="Malgun Gothic"/>
              </a:rPr>
              <a:t>속도를</a:t>
            </a:r>
            <a:r>
              <a:rPr sz="1750" spc="-21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05" dirty="0">
                <a:solidFill>
                  <a:srgbClr val="374050"/>
                </a:solidFill>
                <a:latin typeface="Malgun Gothic"/>
                <a:cs typeface="Malgun Gothic"/>
              </a:rPr>
              <a:t>획기적으로</a:t>
            </a:r>
            <a:r>
              <a:rPr sz="1750" spc="-21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75" dirty="0">
                <a:solidFill>
                  <a:srgbClr val="374050"/>
                </a:solidFill>
                <a:latin typeface="Malgun Gothic"/>
                <a:cs typeface="Malgun Gothic"/>
              </a:rPr>
              <a:t>개선합니다.</a:t>
            </a:r>
            <a:endParaRPr sz="1750">
              <a:latin typeface="Malgun Gothic"/>
              <a:cs typeface="Malgun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0319" y="3250881"/>
            <a:ext cx="269874" cy="21907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31887" y="4326391"/>
            <a:ext cx="3987800" cy="98679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20600"/>
              </a:lnSpc>
              <a:spcBef>
                <a:spcPts val="60"/>
              </a:spcBef>
            </a:pPr>
            <a:r>
              <a:rPr sz="1750" b="1" spc="-315" dirty="0">
                <a:solidFill>
                  <a:srgbClr val="374050"/>
                </a:solidFill>
                <a:latin typeface="Malgun Gothic"/>
                <a:cs typeface="Malgun Gothic"/>
              </a:rPr>
              <a:t>단일</a:t>
            </a:r>
            <a:r>
              <a:rPr sz="1750" b="1" spc="-1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290" dirty="0">
                <a:solidFill>
                  <a:srgbClr val="374050"/>
                </a:solidFill>
                <a:latin typeface="Malgun Gothic"/>
                <a:cs typeface="Malgun Gothic"/>
              </a:rPr>
              <a:t>백엔드</a:t>
            </a:r>
            <a:r>
              <a:rPr sz="1750" b="1" spc="-24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254" dirty="0">
                <a:solidFill>
                  <a:srgbClr val="374050"/>
                </a:solidFill>
                <a:latin typeface="Malgun Gothic"/>
                <a:cs typeface="Malgun Gothic"/>
              </a:rPr>
              <a:t>아키텍처</a:t>
            </a:r>
            <a:r>
              <a:rPr sz="1700" b="1" spc="-254" dirty="0">
                <a:solidFill>
                  <a:srgbClr val="374050"/>
                </a:solidFill>
                <a:latin typeface="Malgun Gothic"/>
                <a:cs typeface="Malgun Gothic"/>
              </a:rPr>
              <a:t>:</a:t>
            </a:r>
            <a:r>
              <a:rPr sz="1700" b="1" spc="-7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40" dirty="0">
                <a:solidFill>
                  <a:srgbClr val="374050"/>
                </a:solidFill>
                <a:latin typeface="Malgun Gothic"/>
                <a:cs typeface="Malgun Gothic"/>
              </a:rPr>
              <a:t>하나의</a:t>
            </a:r>
            <a:r>
              <a:rPr sz="1750" spc="-8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150" dirty="0">
                <a:solidFill>
                  <a:srgbClr val="374050"/>
                </a:solidFill>
                <a:latin typeface="Malgun Gothic"/>
                <a:cs typeface="Malgun Gothic"/>
              </a:rPr>
              <a:t>Web</a:t>
            </a:r>
            <a:r>
              <a:rPr sz="1750" spc="-17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125" dirty="0">
                <a:solidFill>
                  <a:srgbClr val="374050"/>
                </a:solidFill>
                <a:latin typeface="Malgun Gothic"/>
                <a:cs typeface="Malgun Gothic"/>
              </a:rPr>
              <a:t>API</a:t>
            </a:r>
            <a:r>
              <a:rPr sz="1750" spc="-3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80" dirty="0">
                <a:solidFill>
                  <a:srgbClr val="374050"/>
                </a:solidFill>
                <a:latin typeface="Malgun Gothic"/>
                <a:cs typeface="Malgun Gothic"/>
              </a:rPr>
              <a:t>서버가</a:t>
            </a:r>
            <a:r>
              <a:rPr sz="1750" spc="-8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50" dirty="0">
                <a:solidFill>
                  <a:srgbClr val="374050"/>
                </a:solidFill>
                <a:latin typeface="Malgun Gothic"/>
                <a:cs typeface="Malgun Gothic"/>
              </a:rPr>
              <a:t>웹</a:t>
            </a:r>
            <a:r>
              <a:rPr sz="1750" spc="-12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54" dirty="0">
                <a:solidFill>
                  <a:srgbClr val="374050"/>
                </a:solidFill>
                <a:latin typeface="Malgun Gothic"/>
                <a:cs typeface="Malgun Gothic"/>
              </a:rPr>
              <a:t>브라우저,</a:t>
            </a:r>
            <a:r>
              <a:rPr sz="1750" spc="-11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55" dirty="0">
                <a:solidFill>
                  <a:srgbClr val="374050"/>
                </a:solidFill>
                <a:latin typeface="Malgun Gothic"/>
                <a:cs typeface="Malgun Gothic"/>
              </a:rPr>
              <a:t>iOS,</a:t>
            </a:r>
            <a:r>
              <a:rPr sz="1750" spc="-11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95" dirty="0">
                <a:solidFill>
                  <a:srgbClr val="374050"/>
                </a:solidFill>
                <a:latin typeface="Malgun Gothic"/>
                <a:cs typeface="Malgun Gothic"/>
              </a:rPr>
              <a:t>Android</a:t>
            </a:r>
            <a:r>
              <a:rPr sz="1750" spc="-10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50" dirty="0">
                <a:solidFill>
                  <a:srgbClr val="374050"/>
                </a:solidFill>
                <a:latin typeface="Malgun Gothic"/>
                <a:cs typeface="Malgun Gothic"/>
              </a:rPr>
              <a:t>앱</a:t>
            </a:r>
            <a:r>
              <a:rPr sz="1750" spc="-12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30" dirty="0">
                <a:solidFill>
                  <a:srgbClr val="374050"/>
                </a:solidFill>
                <a:latin typeface="Malgun Gothic"/>
                <a:cs typeface="Malgun Gothic"/>
              </a:rPr>
              <a:t>모두에</a:t>
            </a:r>
            <a:r>
              <a:rPr sz="1750" spc="-13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25" dirty="0">
                <a:solidFill>
                  <a:srgbClr val="374050"/>
                </a:solidFill>
                <a:latin typeface="Malgun Gothic"/>
                <a:cs typeface="Malgun Gothic"/>
              </a:rPr>
              <a:t>일관된</a:t>
            </a:r>
            <a:r>
              <a:rPr sz="1750" spc="-14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85" dirty="0">
                <a:solidFill>
                  <a:srgbClr val="374050"/>
                </a:solidFill>
                <a:latin typeface="Malgun Gothic"/>
                <a:cs typeface="Malgun Gothic"/>
              </a:rPr>
              <a:t>정</a:t>
            </a:r>
            <a:r>
              <a:rPr sz="1750" spc="-13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90" dirty="0">
                <a:solidFill>
                  <a:srgbClr val="374050"/>
                </a:solidFill>
                <a:latin typeface="Malgun Gothic"/>
                <a:cs typeface="Malgun Gothic"/>
              </a:rPr>
              <a:t>보를</a:t>
            </a:r>
            <a:r>
              <a:rPr sz="1750" spc="-22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65" dirty="0">
                <a:solidFill>
                  <a:srgbClr val="374050"/>
                </a:solidFill>
                <a:latin typeface="Malgun Gothic"/>
                <a:cs typeface="Malgun Gothic"/>
              </a:rPr>
              <a:t>제공합니다.</a:t>
            </a:r>
            <a:endParaRPr sz="1750">
              <a:latin typeface="Malgun Gothic"/>
              <a:cs typeface="Malgun Gothic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019" y="4409287"/>
            <a:ext cx="219074" cy="225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800" spc="-525" baseline="4340" dirty="0">
                <a:solidFill>
                  <a:srgbClr val="0FB981"/>
                </a:solidFill>
                <a:latin typeface="Trebuchet MS"/>
                <a:cs typeface="Trebuchet MS"/>
              </a:rPr>
              <a:t>06.</a:t>
            </a:r>
            <a:r>
              <a:rPr sz="4800" spc="179" baseline="4340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3250" spc="-585" dirty="0"/>
              <a:t>왜</a:t>
            </a:r>
            <a:r>
              <a:rPr sz="3250" spc="-330" dirty="0"/>
              <a:t> </a:t>
            </a:r>
            <a:r>
              <a:rPr sz="3250" spc="-434" dirty="0"/>
              <a:t>XML이</a:t>
            </a:r>
            <a:r>
              <a:rPr sz="3250" spc="-220" dirty="0"/>
              <a:t> </a:t>
            </a:r>
            <a:r>
              <a:rPr sz="3250" spc="-555" dirty="0"/>
              <a:t>아니라</a:t>
            </a:r>
            <a:r>
              <a:rPr sz="3250" spc="-515" dirty="0"/>
              <a:t> </a:t>
            </a:r>
            <a:r>
              <a:rPr sz="3250" spc="-260" dirty="0"/>
              <a:t>JSON이</a:t>
            </a:r>
            <a:r>
              <a:rPr sz="3250" spc="-215" dirty="0"/>
              <a:t> </a:t>
            </a:r>
            <a:r>
              <a:rPr sz="3250" spc="-500" dirty="0"/>
              <a:t>대세일까?</a:t>
            </a:r>
            <a:endParaRPr sz="32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060" y="2343904"/>
            <a:ext cx="168274" cy="2254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6787" y="2276731"/>
            <a:ext cx="3394075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165" dirty="0">
                <a:solidFill>
                  <a:srgbClr val="6266F1"/>
                </a:solidFill>
                <a:latin typeface="Malgun Gothic"/>
                <a:cs typeface="Malgun Gothic"/>
              </a:rPr>
              <a:t>JSON</a:t>
            </a:r>
            <a:r>
              <a:rPr sz="1900" b="1" spc="-165" dirty="0">
                <a:solidFill>
                  <a:srgbClr val="6266F1"/>
                </a:solidFill>
                <a:latin typeface="Malgun Gothic"/>
                <a:cs typeface="Malgun Gothic"/>
              </a:rPr>
              <a:t>이</a:t>
            </a:r>
            <a:r>
              <a:rPr sz="1900" b="1" spc="-125" dirty="0">
                <a:solidFill>
                  <a:srgbClr val="6266F1"/>
                </a:solidFill>
                <a:latin typeface="Malgun Gothic"/>
                <a:cs typeface="Malgun Gothic"/>
              </a:rPr>
              <a:t> </a:t>
            </a:r>
            <a:r>
              <a:rPr sz="1900" b="1" spc="-330" dirty="0">
                <a:solidFill>
                  <a:srgbClr val="6266F1"/>
                </a:solidFill>
                <a:latin typeface="Malgun Gothic"/>
                <a:cs typeface="Malgun Gothic"/>
              </a:rPr>
              <a:t>압도적으로</a:t>
            </a:r>
            <a:r>
              <a:rPr sz="1900" b="1" spc="-260" dirty="0">
                <a:solidFill>
                  <a:srgbClr val="6266F1"/>
                </a:solidFill>
                <a:latin typeface="Malgun Gothic"/>
                <a:cs typeface="Malgun Gothic"/>
              </a:rPr>
              <a:t> </a:t>
            </a:r>
            <a:r>
              <a:rPr sz="1900" b="1" spc="-300" dirty="0">
                <a:solidFill>
                  <a:srgbClr val="6266F1"/>
                </a:solidFill>
                <a:latin typeface="Malgun Gothic"/>
                <a:cs typeface="Malgun Gothic"/>
              </a:rPr>
              <a:t>빠른</a:t>
            </a:r>
            <a:r>
              <a:rPr sz="1900" b="1" spc="-260" dirty="0">
                <a:solidFill>
                  <a:srgbClr val="6266F1"/>
                </a:solidFill>
                <a:latin typeface="Malgun Gothic"/>
                <a:cs typeface="Malgun Gothic"/>
              </a:rPr>
              <a:t> </a:t>
            </a:r>
            <a:r>
              <a:rPr sz="1950" b="1" spc="-290" dirty="0">
                <a:solidFill>
                  <a:srgbClr val="6266F1"/>
                </a:solidFill>
                <a:latin typeface="Malgun Gothic"/>
                <a:cs typeface="Malgun Gothic"/>
              </a:rPr>
              <a:t>3</a:t>
            </a:r>
            <a:r>
              <a:rPr sz="1900" b="1" spc="-290" dirty="0">
                <a:solidFill>
                  <a:srgbClr val="6266F1"/>
                </a:solidFill>
                <a:latin typeface="Malgun Gothic"/>
                <a:cs typeface="Malgun Gothic"/>
              </a:rPr>
              <a:t>가지</a:t>
            </a:r>
            <a:r>
              <a:rPr sz="1900" b="1" spc="-125" dirty="0">
                <a:solidFill>
                  <a:srgbClr val="6266F1"/>
                </a:solidFill>
                <a:latin typeface="Malgun Gothic"/>
                <a:cs typeface="Malgun Gothic"/>
              </a:rPr>
              <a:t> </a:t>
            </a:r>
            <a:r>
              <a:rPr sz="1900" b="1" spc="-330" dirty="0">
                <a:solidFill>
                  <a:srgbClr val="6266F1"/>
                </a:solidFill>
                <a:latin typeface="Malgun Gothic"/>
                <a:cs typeface="Malgun Gothic"/>
              </a:rPr>
              <a:t>이유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73637" y="2302272"/>
            <a:ext cx="4554855" cy="1530835"/>
            <a:chOff x="5473637" y="1853868"/>
            <a:chExt cx="4554855" cy="1530835"/>
          </a:xfrm>
        </p:grpSpPr>
        <p:sp>
          <p:nvSpPr>
            <p:cNvPr id="7" name="object 7"/>
            <p:cNvSpPr/>
            <p:nvPr/>
          </p:nvSpPr>
          <p:spPr>
            <a:xfrm>
              <a:off x="5473637" y="2047393"/>
              <a:ext cx="4554855" cy="1337310"/>
            </a:xfrm>
            <a:custGeom>
              <a:avLst/>
              <a:gdLst/>
              <a:ahLst/>
              <a:cxnLst/>
              <a:rect l="l" t="t" r="r" b="b"/>
              <a:pathLst>
                <a:path w="4554855" h="1337310">
                  <a:moveTo>
                    <a:pt x="4420693" y="1337071"/>
                  </a:moveTo>
                  <a:lnTo>
                    <a:pt x="133707" y="1337071"/>
                  </a:lnTo>
                  <a:lnTo>
                    <a:pt x="127138" y="1336911"/>
                  </a:lnTo>
                  <a:lnTo>
                    <a:pt x="88668" y="1329255"/>
                  </a:lnTo>
                  <a:lnTo>
                    <a:pt x="54049" y="1310753"/>
                  </a:lnTo>
                  <a:lnTo>
                    <a:pt x="26315" y="1283017"/>
                  </a:lnTo>
                  <a:lnTo>
                    <a:pt x="7811" y="1248398"/>
                  </a:lnTo>
                  <a:lnTo>
                    <a:pt x="160" y="1209932"/>
                  </a:lnTo>
                  <a:lnTo>
                    <a:pt x="0" y="1203364"/>
                  </a:lnTo>
                  <a:lnTo>
                    <a:pt x="0" y="133707"/>
                  </a:lnTo>
                  <a:lnTo>
                    <a:pt x="5755" y="94889"/>
                  </a:lnTo>
                  <a:lnTo>
                    <a:pt x="22533" y="59419"/>
                  </a:lnTo>
                  <a:lnTo>
                    <a:pt x="48882" y="30349"/>
                  </a:lnTo>
                  <a:lnTo>
                    <a:pt x="82538" y="10176"/>
                  </a:lnTo>
                  <a:lnTo>
                    <a:pt x="120601" y="642"/>
                  </a:lnTo>
                  <a:lnTo>
                    <a:pt x="133707" y="0"/>
                  </a:lnTo>
                  <a:lnTo>
                    <a:pt x="4420693" y="0"/>
                  </a:lnTo>
                  <a:lnTo>
                    <a:pt x="4459505" y="5755"/>
                  </a:lnTo>
                  <a:lnTo>
                    <a:pt x="4494975" y="22532"/>
                  </a:lnTo>
                  <a:lnTo>
                    <a:pt x="4524050" y="48881"/>
                  </a:lnTo>
                  <a:lnTo>
                    <a:pt x="4544222" y="82534"/>
                  </a:lnTo>
                  <a:lnTo>
                    <a:pt x="4553757" y="120599"/>
                  </a:lnTo>
                  <a:lnTo>
                    <a:pt x="4554400" y="133707"/>
                  </a:lnTo>
                  <a:lnTo>
                    <a:pt x="4554400" y="1203364"/>
                  </a:lnTo>
                  <a:lnTo>
                    <a:pt x="4548643" y="1242174"/>
                  </a:lnTo>
                  <a:lnTo>
                    <a:pt x="4531865" y="1277644"/>
                  </a:lnTo>
                  <a:lnTo>
                    <a:pt x="4505516" y="1306720"/>
                  </a:lnTo>
                  <a:lnTo>
                    <a:pt x="4471860" y="1326890"/>
                  </a:lnTo>
                  <a:lnTo>
                    <a:pt x="4433798" y="1336429"/>
                  </a:lnTo>
                  <a:lnTo>
                    <a:pt x="4420693" y="1337071"/>
                  </a:lnTo>
                  <a:close/>
                </a:path>
              </a:pathLst>
            </a:custGeom>
            <a:solidFill>
              <a:srgbClr val="282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3637" y="1853868"/>
              <a:ext cx="142874" cy="11747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668810" y="2280404"/>
            <a:ext cx="192151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75" dirty="0">
                <a:solidFill>
                  <a:srgbClr val="E4BF7B"/>
                </a:solidFill>
                <a:latin typeface="Malgun Gothic"/>
                <a:cs typeface="Malgun Gothic"/>
              </a:rPr>
              <a:t>XML</a:t>
            </a:r>
            <a:r>
              <a:rPr sz="950" b="1" spc="-60" dirty="0">
                <a:solidFill>
                  <a:srgbClr val="E4BF7B"/>
                </a:solidFill>
                <a:latin typeface="Malgun Gothic"/>
                <a:cs typeface="Malgun Gothic"/>
              </a:rPr>
              <a:t> </a:t>
            </a:r>
            <a:r>
              <a:rPr sz="950" b="1" spc="-10" dirty="0">
                <a:solidFill>
                  <a:srgbClr val="E4BF7B"/>
                </a:solidFill>
                <a:latin typeface="Malgun Gothic"/>
                <a:cs typeface="Malgun Gothic"/>
              </a:rPr>
              <a:t>Structure</a:t>
            </a:r>
            <a:r>
              <a:rPr sz="950" b="1" spc="-55" dirty="0">
                <a:solidFill>
                  <a:srgbClr val="E4BF7B"/>
                </a:solidFill>
                <a:latin typeface="Malgun Gothic"/>
                <a:cs typeface="Malgun Gothic"/>
              </a:rPr>
              <a:t> </a:t>
            </a:r>
            <a:r>
              <a:rPr sz="950" b="1" spc="-140" dirty="0">
                <a:solidFill>
                  <a:srgbClr val="E4BF7B"/>
                </a:solidFill>
                <a:latin typeface="Malgun Gothic"/>
                <a:cs typeface="Malgun Gothic"/>
              </a:rPr>
              <a:t>(</a:t>
            </a:r>
            <a:r>
              <a:rPr sz="1000" b="1" spc="-140" dirty="0">
                <a:solidFill>
                  <a:srgbClr val="E4BF7B"/>
                </a:solidFill>
                <a:latin typeface="Malgun Gothic"/>
                <a:cs typeface="Malgun Gothic"/>
              </a:rPr>
              <a:t>무겁고</a:t>
            </a:r>
            <a:r>
              <a:rPr sz="1000" b="1" spc="-114" dirty="0">
                <a:solidFill>
                  <a:srgbClr val="E4BF7B"/>
                </a:solidFill>
                <a:latin typeface="Malgun Gothic"/>
                <a:cs typeface="Malgun Gothic"/>
              </a:rPr>
              <a:t> </a:t>
            </a:r>
            <a:r>
              <a:rPr sz="1000" b="1" spc="-190" dirty="0">
                <a:solidFill>
                  <a:srgbClr val="E4BF7B"/>
                </a:solidFill>
                <a:latin typeface="Malgun Gothic"/>
                <a:cs typeface="Malgun Gothic"/>
              </a:rPr>
              <a:t>길어지는</a:t>
            </a:r>
            <a:r>
              <a:rPr sz="1000" b="1" spc="-110" dirty="0">
                <a:solidFill>
                  <a:srgbClr val="E4BF7B"/>
                </a:solidFill>
                <a:latin typeface="Malgun Gothic"/>
                <a:cs typeface="Malgun Gothic"/>
              </a:rPr>
              <a:t> </a:t>
            </a:r>
            <a:r>
              <a:rPr sz="1000" b="1" spc="-100" dirty="0">
                <a:solidFill>
                  <a:srgbClr val="E4BF7B"/>
                </a:solidFill>
                <a:latin typeface="Malgun Gothic"/>
                <a:cs typeface="Malgun Gothic"/>
              </a:rPr>
              <a:t>규격</a:t>
            </a:r>
            <a:r>
              <a:rPr sz="950" b="1" spc="-100" dirty="0">
                <a:solidFill>
                  <a:srgbClr val="E4BF7B"/>
                </a:solidFill>
                <a:latin typeface="Malgun Gothic"/>
                <a:cs typeface="Malgun Gothic"/>
              </a:rPr>
              <a:t>)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28071" y="2586719"/>
            <a:ext cx="1429385" cy="55245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750" spc="-10" dirty="0">
                <a:solidFill>
                  <a:srgbClr val="ABB1BE"/>
                </a:solidFill>
                <a:latin typeface="Malgun Gothic"/>
                <a:cs typeface="Malgun Gothic"/>
              </a:rPr>
              <a:t>&lt;user&gt;</a:t>
            </a:r>
            <a:endParaRPr sz="750">
              <a:latin typeface="Malgun Gothic"/>
              <a:cs typeface="Malgun Gothic"/>
            </a:endParaRPr>
          </a:p>
          <a:p>
            <a:pPr marL="112395">
              <a:lnSpc>
                <a:spcPct val="100000"/>
              </a:lnSpc>
              <a:spcBef>
                <a:spcPts val="150"/>
              </a:spcBef>
            </a:pPr>
            <a:r>
              <a:rPr sz="750" spc="-80" dirty="0">
                <a:solidFill>
                  <a:srgbClr val="ABB1BE"/>
                </a:solidFill>
                <a:latin typeface="Malgun Gothic"/>
                <a:cs typeface="Malgun Gothic"/>
              </a:rPr>
              <a:t>&lt;name&gt;404_NOT_FOUND&lt;/name&gt;</a:t>
            </a:r>
            <a:endParaRPr sz="750">
              <a:latin typeface="Malgun Gothic"/>
              <a:cs typeface="Malgun Gothic"/>
            </a:endParaRPr>
          </a:p>
          <a:p>
            <a:pPr marL="112395">
              <a:lnSpc>
                <a:spcPct val="100000"/>
              </a:lnSpc>
              <a:spcBef>
                <a:spcPts val="90"/>
              </a:spcBef>
            </a:pPr>
            <a:r>
              <a:rPr sz="750" spc="-10" dirty="0">
                <a:solidFill>
                  <a:srgbClr val="ABB1BE"/>
                </a:solidFill>
                <a:latin typeface="Malgun Gothic"/>
                <a:cs typeface="Malgun Gothic"/>
              </a:rPr>
              <a:t>&lt;age&gt;21&lt;/age&gt;</a:t>
            </a:r>
            <a:endParaRPr sz="7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10" dirty="0">
                <a:solidFill>
                  <a:srgbClr val="ABB1BE"/>
                </a:solidFill>
                <a:latin typeface="Malgun Gothic"/>
                <a:cs typeface="Malgun Gothic"/>
              </a:rPr>
              <a:t>&lt;/user&gt;</a:t>
            </a:r>
            <a:endParaRPr sz="750">
              <a:latin typeface="Malgun Gothic"/>
              <a:cs typeface="Malgun Goth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473637" y="3973612"/>
            <a:ext cx="4554855" cy="1363830"/>
            <a:chOff x="5473637" y="3525208"/>
            <a:chExt cx="4554855" cy="1363830"/>
          </a:xfrm>
        </p:grpSpPr>
        <p:sp>
          <p:nvSpPr>
            <p:cNvPr id="13" name="object 13"/>
            <p:cNvSpPr/>
            <p:nvPr/>
          </p:nvSpPr>
          <p:spPr>
            <a:xfrm>
              <a:off x="5473637" y="3718733"/>
              <a:ext cx="4554855" cy="1170305"/>
            </a:xfrm>
            <a:custGeom>
              <a:avLst/>
              <a:gdLst/>
              <a:ahLst/>
              <a:cxnLst/>
              <a:rect l="l" t="t" r="r" b="b"/>
              <a:pathLst>
                <a:path w="4554855" h="1170304">
                  <a:moveTo>
                    <a:pt x="4420693" y="1169937"/>
                  </a:moveTo>
                  <a:lnTo>
                    <a:pt x="133707" y="1169937"/>
                  </a:lnTo>
                  <a:lnTo>
                    <a:pt x="127138" y="1169777"/>
                  </a:lnTo>
                  <a:lnTo>
                    <a:pt x="88668" y="1162118"/>
                  </a:lnTo>
                  <a:lnTo>
                    <a:pt x="54049" y="1143615"/>
                  </a:lnTo>
                  <a:lnTo>
                    <a:pt x="26315" y="1115883"/>
                  </a:lnTo>
                  <a:lnTo>
                    <a:pt x="7811" y="1081263"/>
                  </a:lnTo>
                  <a:lnTo>
                    <a:pt x="160" y="1042798"/>
                  </a:lnTo>
                  <a:lnTo>
                    <a:pt x="0" y="1036230"/>
                  </a:lnTo>
                  <a:lnTo>
                    <a:pt x="0" y="133707"/>
                  </a:lnTo>
                  <a:lnTo>
                    <a:pt x="5755" y="94889"/>
                  </a:lnTo>
                  <a:lnTo>
                    <a:pt x="22533" y="59415"/>
                  </a:lnTo>
                  <a:lnTo>
                    <a:pt x="48882" y="30341"/>
                  </a:lnTo>
                  <a:lnTo>
                    <a:pt x="82538" y="10172"/>
                  </a:lnTo>
                  <a:lnTo>
                    <a:pt x="120601" y="642"/>
                  </a:lnTo>
                  <a:lnTo>
                    <a:pt x="133707" y="0"/>
                  </a:lnTo>
                  <a:lnTo>
                    <a:pt x="4420693" y="0"/>
                  </a:lnTo>
                  <a:lnTo>
                    <a:pt x="4459505" y="5752"/>
                  </a:lnTo>
                  <a:lnTo>
                    <a:pt x="4494975" y="22527"/>
                  </a:lnTo>
                  <a:lnTo>
                    <a:pt x="4524050" y="48875"/>
                  </a:lnTo>
                  <a:lnTo>
                    <a:pt x="4544222" y="82534"/>
                  </a:lnTo>
                  <a:lnTo>
                    <a:pt x="4553757" y="120600"/>
                  </a:lnTo>
                  <a:lnTo>
                    <a:pt x="4554400" y="133707"/>
                  </a:lnTo>
                  <a:lnTo>
                    <a:pt x="4554400" y="1036230"/>
                  </a:lnTo>
                  <a:lnTo>
                    <a:pt x="4548643" y="1075040"/>
                  </a:lnTo>
                  <a:lnTo>
                    <a:pt x="4531865" y="1110510"/>
                  </a:lnTo>
                  <a:lnTo>
                    <a:pt x="4505516" y="1139584"/>
                  </a:lnTo>
                  <a:lnTo>
                    <a:pt x="4471860" y="1159753"/>
                  </a:lnTo>
                  <a:lnTo>
                    <a:pt x="4433798" y="1169294"/>
                  </a:lnTo>
                  <a:lnTo>
                    <a:pt x="4420693" y="1169937"/>
                  </a:lnTo>
                  <a:close/>
                </a:path>
              </a:pathLst>
            </a:custGeom>
            <a:solidFill>
              <a:srgbClr val="282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73637" y="3525208"/>
              <a:ext cx="123824" cy="11747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654708" y="3951744"/>
            <a:ext cx="1891664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20" dirty="0">
                <a:solidFill>
                  <a:srgbClr val="0FB981"/>
                </a:solidFill>
                <a:latin typeface="Malgun Gothic"/>
                <a:cs typeface="Malgun Gothic"/>
              </a:rPr>
              <a:t>JSON</a:t>
            </a:r>
            <a:r>
              <a:rPr sz="950" b="1" spc="-25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950" b="1" spc="-10" dirty="0">
                <a:solidFill>
                  <a:srgbClr val="0FB981"/>
                </a:solidFill>
                <a:latin typeface="Malgun Gothic"/>
                <a:cs typeface="Malgun Gothic"/>
              </a:rPr>
              <a:t>Structure</a:t>
            </a:r>
            <a:r>
              <a:rPr sz="950" b="1" spc="-70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950" b="1" spc="-140" dirty="0">
                <a:solidFill>
                  <a:srgbClr val="0FB981"/>
                </a:solidFill>
                <a:latin typeface="Malgun Gothic"/>
                <a:cs typeface="Malgun Gothic"/>
              </a:rPr>
              <a:t>(</a:t>
            </a:r>
            <a:r>
              <a:rPr sz="1000" b="1" spc="-140" dirty="0">
                <a:solidFill>
                  <a:srgbClr val="0FB981"/>
                </a:solidFill>
                <a:latin typeface="Malgun Gothic"/>
                <a:cs typeface="Malgun Gothic"/>
              </a:rPr>
              <a:t>가볍고</a:t>
            </a:r>
            <a:r>
              <a:rPr sz="1000" b="1" spc="-120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1000" b="1" spc="-175" dirty="0">
                <a:solidFill>
                  <a:srgbClr val="0FB981"/>
                </a:solidFill>
                <a:latin typeface="Malgun Gothic"/>
                <a:cs typeface="Malgun Gothic"/>
              </a:rPr>
              <a:t>명확한</a:t>
            </a:r>
            <a:r>
              <a:rPr sz="1000" b="1" spc="-135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1000" b="1" spc="-110" dirty="0">
                <a:solidFill>
                  <a:srgbClr val="0FB981"/>
                </a:solidFill>
                <a:latin typeface="Malgun Gothic"/>
                <a:cs typeface="Malgun Gothic"/>
              </a:rPr>
              <a:t>구조</a:t>
            </a:r>
            <a:r>
              <a:rPr sz="950" b="1" spc="-110" dirty="0">
                <a:solidFill>
                  <a:srgbClr val="0FB981"/>
                </a:solidFill>
                <a:latin typeface="Malgun Gothic"/>
                <a:cs typeface="Malgun Gothic"/>
              </a:rPr>
              <a:t>)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28071" y="4258059"/>
            <a:ext cx="1329055" cy="55245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750" spc="114" dirty="0">
                <a:solidFill>
                  <a:srgbClr val="ABB1BE"/>
                </a:solidFill>
                <a:latin typeface="Malgun Gothic"/>
                <a:cs typeface="Malgun Gothic"/>
              </a:rPr>
              <a:t>{</a:t>
            </a:r>
            <a:endParaRPr sz="750">
              <a:latin typeface="Malgun Gothic"/>
              <a:cs typeface="Malgun Gothic"/>
            </a:endParaRPr>
          </a:p>
          <a:p>
            <a:pPr marL="112395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ABB1BE"/>
                </a:solidFill>
                <a:latin typeface="Malgun Gothic"/>
                <a:cs typeface="Malgun Gothic"/>
              </a:rPr>
              <a:t>"name":</a:t>
            </a:r>
            <a:r>
              <a:rPr sz="750" spc="23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750" spc="-35" dirty="0">
                <a:solidFill>
                  <a:srgbClr val="ABB1BE"/>
                </a:solidFill>
                <a:latin typeface="Malgun Gothic"/>
                <a:cs typeface="Malgun Gothic"/>
              </a:rPr>
              <a:t>"404_NOT_FOUND",</a:t>
            </a:r>
            <a:endParaRPr sz="750">
              <a:latin typeface="Malgun Gothic"/>
              <a:cs typeface="Malgun Gothic"/>
            </a:endParaRPr>
          </a:p>
          <a:p>
            <a:pPr marL="112395">
              <a:lnSpc>
                <a:spcPct val="100000"/>
              </a:lnSpc>
              <a:spcBef>
                <a:spcPts val="90"/>
              </a:spcBef>
            </a:pPr>
            <a:r>
              <a:rPr sz="750" spc="55" dirty="0">
                <a:solidFill>
                  <a:srgbClr val="ABB1BE"/>
                </a:solidFill>
                <a:latin typeface="Malgun Gothic"/>
                <a:cs typeface="Malgun Gothic"/>
              </a:rPr>
              <a:t>"age":</a:t>
            </a:r>
            <a:r>
              <a:rPr sz="750" spc="15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750" spc="-25" dirty="0">
                <a:solidFill>
                  <a:srgbClr val="ABB1BE"/>
                </a:solidFill>
                <a:latin typeface="Malgun Gothic"/>
                <a:cs typeface="Malgun Gothic"/>
              </a:rPr>
              <a:t>21</a:t>
            </a:r>
            <a:endParaRPr sz="7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114" dirty="0">
                <a:solidFill>
                  <a:srgbClr val="ABB1BE"/>
                </a:solidFill>
                <a:latin typeface="Malgun Gothic"/>
                <a:cs typeface="Malgun Gothic"/>
              </a:rPr>
              <a:t>}</a:t>
            </a:r>
            <a:endParaRPr sz="75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31887" y="2719379"/>
            <a:ext cx="4171950" cy="79316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20400"/>
              </a:lnSpc>
              <a:spcBef>
                <a:spcPts val="55"/>
              </a:spcBef>
            </a:pPr>
            <a:r>
              <a:rPr sz="1450" b="1" spc="-229" dirty="0">
                <a:solidFill>
                  <a:srgbClr val="374050"/>
                </a:solidFill>
                <a:latin typeface="Malgun Gothic"/>
                <a:cs typeface="Malgun Gothic"/>
              </a:rPr>
              <a:t>태그</a:t>
            </a:r>
            <a:r>
              <a:rPr sz="1450" b="1" spc="-18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b="1" spc="-240" dirty="0">
                <a:solidFill>
                  <a:srgbClr val="374050"/>
                </a:solidFill>
                <a:latin typeface="Malgun Gothic"/>
                <a:cs typeface="Malgun Gothic"/>
              </a:rPr>
              <a:t>오버헤드</a:t>
            </a:r>
            <a:r>
              <a:rPr sz="1450" b="1" spc="-18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b="1" spc="-204" dirty="0">
                <a:solidFill>
                  <a:srgbClr val="374050"/>
                </a:solidFill>
                <a:latin typeface="Malgun Gothic"/>
                <a:cs typeface="Malgun Gothic"/>
              </a:rPr>
              <a:t>최소화</a:t>
            </a:r>
            <a:r>
              <a:rPr sz="1500" b="1" spc="-204" dirty="0">
                <a:solidFill>
                  <a:srgbClr val="374050"/>
                </a:solidFill>
                <a:latin typeface="Malgun Gothic"/>
                <a:cs typeface="Malgun Gothic"/>
              </a:rPr>
              <a:t>:</a:t>
            </a:r>
            <a:r>
              <a:rPr sz="1500" b="1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54" dirty="0">
                <a:solidFill>
                  <a:srgbClr val="374050"/>
                </a:solidFill>
                <a:latin typeface="Malgun Gothic"/>
                <a:cs typeface="Malgun Gothic"/>
              </a:rPr>
              <a:t>불필요하게</a:t>
            </a:r>
            <a:r>
              <a:rPr sz="1450" spc="-8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40" dirty="0">
                <a:solidFill>
                  <a:srgbClr val="374050"/>
                </a:solidFill>
                <a:latin typeface="Malgun Gothic"/>
                <a:cs typeface="Malgun Gothic"/>
              </a:rPr>
              <a:t>반복되는</a:t>
            </a:r>
            <a:r>
              <a:rPr sz="1450" spc="-17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35" dirty="0">
                <a:solidFill>
                  <a:srgbClr val="374050"/>
                </a:solidFill>
                <a:latin typeface="Malgun Gothic"/>
                <a:cs typeface="Malgun Gothic"/>
              </a:rPr>
              <a:t>닫는</a:t>
            </a:r>
            <a:r>
              <a:rPr sz="1450" spc="-1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5" dirty="0">
                <a:solidFill>
                  <a:srgbClr val="374050"/>
                </a:solidFill>
                <a:latin typeface="Malgun Gothic"/>
                <a:cs typeface="Malgun Gothic"/>
              </a:rPr>
              <a:t>태그 </a:t>
            </a:r>
            <a:r>
              <a:rPr sz="1450" spc="-125" dirty="0">
                <a:solidFill>
                  <a:srgbClr val="374050"/>
                </a:solidFill>
                <a:latin typeface="Malgun Gothic"/>
                <a:cs typeface="Malgun Gothic"/>
              </a:rPr>
              <a:t>(&lt;/tag&gt;)가</a:t>
            </a:r>
            <a:r>
              <a:rPr sz="1450" spc="-20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85" dirty="0">
                <a:solidFill>
                  <a:srgbClr val="374050"/>
                </a:solidFill>
                <a:latin typeface="Malgun Gothic"/>
                <a:cs typeface="Malgun Gothic"/>
              </a:rPr>
              <a:t>없어</a:t>
            </a:r>
            <a:r>
              <a:rPr sz="1450" spc="-4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75" dirty="0">
                <a:solidFill>
                  <a:srgbClr val="374050"/>
                </a:solidFill>
                <a:latin typeface="Malgun Gothic"/>
                <a:cs typeface="Malgun Gothic"/>
              </a:rPr>
              <a:t>데이터</a:t>
            </a:r>
            <a:r>
              <a:rPr sz="1450" spc="-4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29" dirty="0">
                <a:solidFill>
                  <a:srgbClr val="374050"/>
                </a:solidFill>
                <a:latin typeface="Malgun Gothic"/>
                <a:cs typeface="Malgun Gothic"/>
              </a:rPr>
              <a:t>크기가</a:t>
            </a:r>
            <a:r>
              <a:rPr sz="1450" spc="-19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130" dirty="0">
                <a:solidFill>
                  <a:srgbClr val="374050"/>
                </a:solidFill>
                <a:latin typeface="Malgun Gothic"/>
                <a:cs typeface="Malgun Gothic"/>
              </a:rPr>
              <a:t>XML</a:t>
            </a:r>
            <a:r>
              <a:rPr sz="1450" spc="-13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95" dirty="0">
                <a:solidFill>
                  <a:srgbClr val="374050"/>
                </a:solidFill>
                <a:latin typeface="Malgun Gothic"/>
                <a:cs typeface="Malgun Gothic"/>
              </a:rPr>
              <a:t>대비</a:t>
            </a:r>
            <a:r>
              <a:rPr sz="1450" spc="-4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29" dirty="0">
                <a:solidFill>
                  <a:srgbClr val="374050"/>
                </a:solidFill>
                <a:latin typeface="Malgun Gothic"/>
                <a:cs typeface="Malgun Gothic"/>
              </a:rPr>
              <a:t>최소</a:t>
            </a:r>
            <a:r>
              <a:rPr sz="1450" spc="-1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40" dirty="0">
                <a:solidFill>
                  <a:srgbClr val="374050"/>
                </a:solidFill>
                <a:latin typeface="Malgun Gothic"/>
                <a:cs typeface="Malgun Gothic"/>
              </a:rPr>
              <a:t>30%</a:t>
            </a:r>
            <a:r>
              <a:rPr sz="1450" spc="-18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25" dirty="0">
                <a:solidFill>
                  <a:srgbClr val="374050"/>
                </a:solidFill>
                <a:latin typeface="Malgun Gothic"/>
                <a:cs typeface="Malgun Gothic"/>
              </a:rPr>
              <a:t>이상</a:t>
            </a:r>
            <a:r>
              <a:rPr sz="1450" spc="-1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355" dirty="0">
                <a:solidFill>
                  <a:srgbClr val="374050"/>
                </a:solidFill>
                <a:latin typeface="Malgun Gothic"/>
                <a:cs typeface="Malgun Gothic"/>
              </a:rPr>
              <a:t>경</a:t>
            </a:r>
            <a:r>
              <a:rPr sz="1450" spc="-55" dirty="0">
                <a:solidFill>
                  <a:srgbClr val="374050"/>
                </a:solidFill>
                <a:latin typeface="Malgun Gothic"/>
                <a:cs typeface="Malgun Gothic"/>
              </a:rPr>
              <a:t> 량화됩니다.</a:t>
            </a:r>
            <a:endParaRPr sz="1450">
              <a:latin typeface="Malgun Gothic"/>
              <a:cs typeface="Malgun Gothic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319" y="2819728"/>
            <a:ext cx="161924" cy="16509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031887" y="3672043"/>
            <a:ext cx="4093845" cy="79316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20400"/>
              </a:lnSpc>
              <a:spcBef>
                <a:spcPts val="55"/>
              </a:spcBef>
            </a:pPr>
            <a:r>
              <a:rPr sz="1500" b="1" spc="-150" dirty="0">
                <a:solidFill>
                  <a:srgbClr val="374050"/>
                </a:solidFill>
                <a:latin typeface="Malgun Gothic"/>
                <a:cs typeface="Malgun Gothic"/>
              </a:rPr>
              <a:t>V8</a:t>
            </a:r>
            <a:r>
              <a:rPr sz="1500" b="1" spc="-15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b="1" spc="-260" dirty="0">
                <a:solidFill>
                  <a:srgbClr val="374050"/>
                </a:solidFill>
                <a:latin typeface="Malgun Gothic"/>
                <a:cs typeface="Malgun Gothic"/>
              </a:rPr>
              <a:t>엔진</a:t>
            </a:r>
            <a:r>
              <a:rPr sz="1450" b="1" spc="-12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b="1" spc="-240" dirty="0">
                <a:solidFill>
                  <a:srgbClr val="374050"/>
                </a:solidFill>
                <a:latin typeface="Malgun Gothic"/>
                <a:cs typeface="Malgun Gothic"/>
              </a:rPr>
              <a:t>네이티브</a:t>
            </a:r>
            <a:r>
              <a:rPr sz="1450" b="1" spc="-1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b="1" spc="-185" dirty="0">
                <a:solidFill>
                  <a:srgbClr val="374050"/>
                </a:solidFill>
                <a:latin typeface="Malgun Gothic"/>
                <a:cs typeface="Malgun Gothic"/>
              </a:rPr>
              <a:t>파싱</a:t>
            </a:r>
            <a:r>
              <a:rPr sz="1500" b="1" spc="-185" dirty="0">
                <a:solidFill>
                  <a:srgbClr val="374050"/>
                </a:solidFill>
                <a:latin typeface="Malgun Gothic"/>
                <a:cs typeface="Malgun Gothic"/>
              </a:rPr>
              <a:t>:</a:t>
            </a:r>
            <a:r>
              <a:rPr sz="1500" b="1" spc="-7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35" dirty="0">
                <a:solidFill>
                  <a:srgbClr val="374050"/>
                </a:solidFill>
                <a:latin typeface="Malgun Gothic"/>
                <a:cs typeface="Malgun Gothic"/>
              </a:rPr>
              <a:t>무거운</a:t>
            </a:r>
            <a:r>
              <a:rPr sz="1450" spc="-17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130" dirty="0">
                <a:solidFill>
                  <a:srgbClr val="374050"/>
                </a:solidFill>
                <a:latin typeface="Malgun Gothic"/>
                <a:cs typeface="Malgun Gothic"/>
              </a:rPr>
              <a:t>XML</a:t>
            </a:r>
            <a:r>
              <a:rPr sz="1450" spc="-15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10" dirty="0">
                <a:solidFill>
                  <a:srgbClr val="374050"/>
                </a:solidFill>
                <a:latin typeface="Malgun Gothic"/>
                <a:cs typeface="Malgun Gothic"/>
              </a:rPr>
              <a:t>DOM</a:t>
            </a:r>
            <a:r>
              <a:rPr sz="1450" spc="-7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85" dirty="0">
                <a:solidFill>
                  <a:srgbClr val="374050"/>
                </a:solidFill>
                <a:latin typeface="Malgun Gothic"/>
                <a:cs typeface="Malgun Gothic"/>
              </a:rPr>
              <a:t>트리</a:t>
            </a:r>
            <a:r>
              <a:rPr sz="1450" spc="-5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80" dirty="0">
                <a:solidFill>
                  <a:srgbClr val="374050"/>
                </a:solidFill>
                <a:latin typeface="Malgun Gothic"/>
                <a:cs typeface="Malgun Gothic"/>
              </a:rPr>
              <a:t>파싱</a:t>
            </a:r>
            <a:r>
              <a:rPr sz="1450" spc="-7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95" dirty="0">
                <a:solidFill>
                  <a:srgbClr val="374050"/>
                </a:solidFill>
                <a:latin typeface="Malgun Gothic"/>
                <a:cs typeface="Malgun Gothic"/>
              </a:rPr>
              <a:t>대신 </a:t>
            </a:r>
            <a:r>
              <a:rPr sz="1450" spc="-270" dirty="0">
                <a:solidFill>
                  <a:srgbClr val="374050"/>
                </a:solidFill>
                <a:latin typeface="Malgun Gothic"/>
                <a:cs typeface="Malgun Gothic"/>
              </a:rPr>
              <a:t>브라우저</a:t>
            </a:r>
            <a:r>
              <a:rPr sz="145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65" dirty="0">
                <a:solidFill>
                  <a:srgbClr val="374050"/>
                </a:solidFill>
                <a:latin typeface="Malgun Gothic"/>
                <a:cs typeface="Malgun Gothic"/>
              </a:rPr>
              <a:t>엔진</a:t>
            </a:r>
            <a:r>
              <a:rPr sz="1450" spc="-9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75" dirty="0">
                <a:solidFill>
                  <a:srgbClr val="374050"/>
                </a:solidFill>
                <a:latin typeface="Malgun Gothic"/>
                <a:cs typeface="Malgun Gothic"/>
              </a:rPr>
              <a:t>차원의</a:t>
            </a:r>
            <a:r>
              <a:rPr sz="1450" spc="-5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35" dirty="0">
                <a:solidFill>
                  <a:srgbClr val="374050"/>
                </a:solidFill>
                <a:latin typeface="Malgun Gothic"/>
                <a:cs typeface="Malgun Gothic"/>
              </a:rPr>
              <a:t>JSON.parse() </a:t>
            </a:r>
            <a:r>
              <a:rPr sz="1450" spc="-240" dirty="0">
                <a:solidFill>
                  <a:srgbClr val="374050"/>
                </a:solidFill>
                <a:latin typeface="Malgun Gothic"/>
                <a:cs typeface="Malgun Gothic"/>
              </a:rPr>
              <a:t>함수로</a:t>
            </a:r>
            <a:r>
              <a:rPr sz="1450" spc="-17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60" dirty="0">
                <a:solidFill>
                  <a:srgbClr val="374050"/>
                </a:solidFill>
                <a:latin typeface="Malgun Gothic"/>
                <a:cs typeface="Malgun Gothic"/>
              </a:rPr>
              <a:t>빠르게</a:t>
            </a:r>
            <a:r>
              <a:rPr sz="1450" spc="-10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85" dirty="0">
                <a:solidFill>
                  <a:srgbClr val="374050"/>
                </a:solidFill>
                <a:latin typeface="Malgun Gothic"/>
                <a:cs typeface="Malgun Gothic"/>
              </a:rPr>
              <a:t>역직렬 </a:t>
            </a:r>
            <a:r>
              <a:rPr sz="1450" spc="-10" dirty="0">
                <a:solidFill>
                  <a:srgbClr val="374050"/>
                </a:solidFill>
                <a:latin typeface="Malgun Gothic"/>
                <a:cs typeface="Malgun Gothic"/>
              </a:rPr>
              <a:t>화합니다.</a:t>
            </a:r>
            <a:endParaRPr sz="1450">
              <a:latin typeface="Malgun Gothic"/>
              <a:cs typeface="Malgun Gothic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319" y="3766041"/>
            <a:ext cx="228599" cy="18414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31887" y="4624706"/>
            <a:ext cx="4181475" cy="79316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20400"/>
              </a:lnSpc>
              <a:spcBef>
                <a:spcPts val="55"/>
              </a:spcBef>
            </a:pPr>
            <a:r>
              <a:rPr sz="1450" b="1" spc="-245" dirty="0">
                <a:solidFill>
                  <a:srgbClr val="374050"/>
                </a:solidFill>
                <a:latin typeface="Malgun Gothic"/>
                <a:cs typeface="Malgun Gothic"/>
              </a:rPr>
              <a:t>언어별</a:t>
            </a:r>
            <a:r>
              <a:rPr sz="1450" b="1" spc="-14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b="1" spc="-275" dirty="0">
                <a:solidFill>
                  <a:srgbClr val="374050"/>
                </a:solidFill>
                <a:latin typeface="Malgun Gothic"/>
                <a:cs typeface="Malgun Gothic"/>
              </a:rPr>
              <a:t>매핑</a:t>
            </a:r>
            <a:r>
              <a:rPr sz="1450" b="1" spc="-10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b="1" spc="-200" dirty="0">
                <a:solidFill>
                  <a:srgbClr val="374050"/>
                </a:solidFill>
                <a:latin typeface="Malgun Gothic"/>
                <a:cs typeface="Malgun Gothic"/>
              </a:rPr>
              <a:t>직관성</a:t>
            </a:r>
            <a:r>
              <a:rPr sz="1500" b="1" spc="-200" dirty="0">
                <a:solidFill>
                  <a:srgbClr val="374050"/>
                </a:solidFill>
                <a:latin typeface="Malgun Gothic"/>
                <a:cs typeface="Malgun Gothic"/>
              </a:rPr>
              <a:t>:</a:t>
            </a:r>
            <a:r>
              <a:rPr sz="1500" b="1" spc="-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190" dirty="0">
                <a:solidFill>
                  <a:srgbClr val="374050"/>
                </a:solidFill>
                <a:latin typeface="Malgun Gothic"/>
                <a:cs typeface="Malgun Gothic"/>
              </a:rPr>
              <a:t>각</a:t>
            </a:r>
            <a:r>
              <a:rPr sz="1450" spc="-21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65" dirty="0">
                <a:solidFill>
                  <a:srgbClr val="374050"/>
                </a:solidFill>
                <a:latin typeface="Malgun Gothic"/>
                <a:cs typeface="Malgun Gothic"/>
              </a:rPr>
              <a:t>프로그래밍</a:t>
            </a:r>
            <a:r>
              <a:rPr sz="1450" spc="-7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75" dirty="0">
                <a:solidFill>
                  <a:srgbClr val="374050"/>
                </a:solidFill>
                <a:latin typeface="Malgun Gothic"/>
                <a:cs typeface="Malgun Gothic"/>
              </a:rPr>
              <a:t>언어의</a:t>
            </a:r>
            <a:r>
              <a:rPr sz="145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75" dirty="0">
                <a:solidFill>
                  <a:srgbClr val="374050"/>
                </a:solidFill>
                <a:latin typeface="Malgun Gothic"/>
                <a:cs typeface="Malgun Gothic"/>
              </a:rPr>
              <a:t>Map/Dict</a:t>
            </a:r>
            <a:r>
              <a:rPr sz="1450" spc="-17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70" dirty="0">
                <a:solidFill>
                  <a:srgbClr val="374050"/>
                </a:solidFill>
                <a:latin typeface="Malgun Gothic"/>
                <a:cs typeface="Malgun Gothic"/>
              </a:rPr>
              <a:t>자료형</a:t>
            </a:r>
            <a:r>
              <a:rPr sz="1450" spc="-11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175" dirty="0">
                <a:solidFill>
                  <a:srgbClr val="374050"/>
                </a:solidFill>
                <a:latin typeface="Malgun Gothic"/>
                <a:cs typeface="Malgun Gothic"/>
              </a:rPr>
              <a:t>과</a:t>
            </a:r>
            <a:r>
              <a:rPr sz="1450" spc="-21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60" dirty="0">
                <a:solidFill>
                  <a:srgbClr val="374050"/>
                </a:solidFill>
                <a:latin typeface="Malgun Gothic"/>
                <a:cs typeface="Malgun Gothic"/>
              </a:rPr>
              <a:t>완벽하게</a:t>
            </a:r>
            <a:r>
              <a:rPr sz="1450" spc="-11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70" dirty="0">
                <a:solidFill>
                  <a:srgbClr val="374050"/>
                </a:solidFill>
                <a:latin typeface="Malgun Gothic"/>
                <a:cs typeface="Malgun Gothic"/>
              </a:rPr>
              <a:t>호환되어</a:t>
            </a:r>
            <a:r>
              <a:rPr sz="1450" spc="-7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60" dirty="0">
                <a:solidFill>
                  <a:srgbClr val="374050"/>
                </a:solidFill>
                <a:latin typeface="Malgun Gothic"/>
                <a:cs typeface="Malgun Gothic"/>
              </a:rPr>
              <a:t>부가적인</a:t>
            </a:r>
            <a:r>
              <a:rPr sz="1450" spc="-11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29" dirty="0">
                <a:solidFill>
                  <a:srgbClr val="374050"/>
                </a:solidFill>
                <a:latin typeface="Malgun Gothic"/>
                <a:cs typeface="Malgun Gothic"/>
              </a:rPr>
              <a:t>형변환</a:t>
            </a:r>
            <a:r>
              <a:rPr sz="1450" spc="-204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35" dirty="0">
                <a:solidFill>
                  <a:srgbClr val="374050"/>
                </a:solidFill>
                <a:latin typeface="Malgun Gothic"/>
                <a:cs typeface="Malgun Gothic"/>
              </a:rPr>
              <a:t>오버헤드가</a:t>
            </a:r>
            <a:r>
              <a:rPr sz="1450" spc="-21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70" dirty="0">
                <a:solidFill>
                  <a:srgbClr val="374050"/>
                </a:solidFill>
                <a:latin typeface="Malgun Gothic"/>
                <a:cs typeface="Malgun Gothic"/>
              </a:rPr>
              <a:t>발생하지</a:t>
            </a:r>
            <a:r>
              <a:rPr sz="1450" spc="-114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10" dirty="0">
                <a:solidFill>
                  <a:srgbClr val="374050"/>
                </a:solidFill>
                <a:latin typeface="Malgun Gothic"/>
                <a:cs typeface="Malgun Gothic"/>
              </a:rPr>
              <a:t>않습니다.</a:t>
            </a:r>
            <a:endParaRPr sz="1450">
              <a:latin typeface="Malgun Gothic"/>
              <a:cs typeface="Malgun Gothic"/>
            </a:endParaRPr>
          </a:p>
        </p:txBody>
      </p: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319" y="4715530"/>
            <a:ext cx="231774" cy="1873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800" spc="-780" baseline="4340" dirty="0">
                <a:solidFill>
                  <a:srgbClr val="0FB981"/>
                </a:solidFill>
                <a:latin typeface="Trebuchet MS"/>
                <a:cs typeface="Trebuchet MS"/>
              </a:rPr>
              <a:t>0</a:t>
            </a:r>
            <a:r>
              <a:rPr sz="4800" spc="-1387" baseline="4340" dirty="0">
                <a:solidFill>
                  <a:srgbClr val="0FB981"/>
                </a:solidFill>
                <a:latin typeface="Trebuchet MS"/>
                <a:cs typeface="Trebuchet MS"/>
              </a:rPr>
              <a:t>7</a:t>
            </a:r>
            <a:r>
              <a:rPr sz="4800" spc="-487" baseline="4340" dirty="0">
                <a:solidFill>
                  <a:srgbClr val="0FB981"/>
                </a:solidFill>
                <a:latin typeface="Trebuchet MS"/>
                <a:cs typeface="Trebuchet MS"/>
              </a:rPr>
              <a:t>.</a:t>
            </a:r>
            <a:r>
              <a:rPr sz="4800" spc="225" baseline="4340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3250" spc="-165" dirty="0"/>
              <a:t>REST와</a:t>
            </a:r>
            <a:r>
              <a:rPr sz="3250" spc="-495" dirty="0"/>
              <a:t> </a:t>
            </a:r>
            <a:r>
              <a:rPr sz="3250" spc="-70" dirty="0"/>
              <a:t>RESTful</a:t>
            </a:r>
            <a:endParaRPr sz="325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91951" y="2101710"/>
            <a:ext cx="7512684" cy="2807970"/>
            <a:chOff x="1591951" y="2101710"/>
            <a:chExt cx="7512684" cy="2807970"/>
          </a:xfrm>
        </p:grpSpPr>
        <p:sp>
          <p:nvSpPr>
            <p:cNvPr id="5" name="object 5"/>
            <p:cNvSpPr/>
            <p:nvPr/>
          </p:nvSpPr>
          <p:spPr>
            <a:xfrm>
              <a:off x="1591951" y="2101710"/>
              <a:ext cx="7512684" cy="2807970"/>
            </a:xfrm>
            <a:custGeom>
              <a:avLst/>
              <a:gdLst/>
              <a:ahLst/>
              <a:cxnLst/>
              <a:rect l="l" t="t" r="r" b="b"/>
              <a:pathLst>
                <a:path w="7512684" h="2807970">
                  <a:moveTo>
                    <a:pt x="7316290" y="2807850"/>
                  </a:moveTo>
                  <a:lnTo>
                    <a:pt x="196382" y="2807850"/>
                  </a:lnTo>
                  <a:lnTo>
                    <a:pt x="186734" y="2807612"/>
                  </a:lnTo>
                  <a:lnTo>
                    <a:pt x="148653" y="2801960"/>
                  </a:lnTo>
                  <a:lnTo>
                    <a:pt x="112406" y="2788990"/>
                  </a:lnTo>
                  <a:lnTo>
                    <a:pt x="79387" y="2769196"/>
                  </a:lnTo>
                  <a:lnTo>
                    <a:pt x="50863" y="2743343"/>
                  </a:lnTo>
                  <a:lnTo>
                    <a:pt x="27932" y="2712416"/>
                  </a:lnTo>
                  <a:lnTo>
                    <a:pt x="11474" y="2677611"/>
                  </a:lnTo>
                  <a:lnTo>
                    <a:pt x="2122" y="2640268"/>
                  </a:lnTo>
                  <a:lnTo>
                    <a:pt x="0" y="2611468"/>
                  </a:lnTo>
                  <a:lnTo>
                    <a:pt x="0" y="196382"/>
                  </a:lnTo>
                  <a:lnTo>
                    <a:pt x="3773" y="158063"/>
                  </a:lnTo>
                  <a:lnTo>
                    <a:pt x="14948" y="121224"/>
                  </a:lnTo>
                  <a:lnTo>
                    <a:pt x="33096" y="87275"/>
                  </a:lnTo>
                  <a:lnTo>
                    <a:pt x="57518" y="57513"/>
                  </a:lnTo>
                  <a:lnTo>
                    <a:pt x="87278" y="33092"/>
                  </a:lnTo>
                  <a:lnTo>
                    <a:pt x="121230" y="14942"/>
                  </a:lnTo>
                  <a:lnTo>
                    <a:pt x="158069" y="3770"/>
                  </a:lnTo>
                  <a:lnTo>
                    <a:pt x="196382" y="0"/>
                  </a:lnTo>
                  <a:lnTo>
                    <a:pt x="7316290" y="0"/>
                  </a:lnTo>
                  <a:lnTo>
                    <a:pt x="7354602" y="3774"/>
                  </a:lnTo>
                  <a:lnTo>
                    <a:pt x="7391442" y="14942"/>
                  </a:lnTo>
                  <a:lnTo>
                    <a:pt x="7425393" y="33092"/>
                  </a:lnTo>
                  <a:lnTo>
                    <a:pt x="7455152" y="57513"/>
                  </a:lnTo>
                  <a:lnTo>
                    <a:pt x="7479575" y="87272"/>
                  </a:lnTo>
                  <a:lnTo>
                    <a:pt x="7497721" y="121224"/>
                  </a:lnTo>
                  <a:lnTo>
                    <a:pt x="7508898" y="158066"/>
                  </a:lnTo>
                  <a:lnTo>
                    <a:pt x="7512672" y="196382"/>
                  </a:lnTo>
                  <a:lnTo>
                    <a:pt x="7512672" y="2611468"/>
                  </a:lnTo>
                  <a:lnTo>
                    <a:pt x="7508898" y="2649775"/>
                  </a:lnTo>
                  <a:lnTo>
                    <a:pt x="7497721" y="2686613"/>
                  </a:lnTo>
                  <a:lnTo>
                    <a:pt x="7479575" y="2720571"/>
                  </a:lnTo>
                  <a:lnTo>
                    <a:pt x="7455152" y="2750333"/>
                  </a:lnTo>
                  <a:lnTo>
                    <a:pt x="7425393" y="2774750"/>
                  </a:lnTo>
                  <a:lnTo>
                    <a:pt x="7391441" y="2792899"/>
                  </a:lnTo>
                  <a:lnTo>
                    <a:pt x="7354602" y="2804072"/>
                  </a:lnTo>
                  <a:lnTo>
                    <a:pt x="7316290" y="28078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91951" y="2101710"/>
              <a:ext cx="7512684" cy="2807970"/>
            </a:xfrm>
            <a:custGeom>
              <a:avLst/>
              <a:gdLst/>
              <a:ahLst/>
              <a:cxnLst/>
              <a:rect l="l" t="t" r="r" b="b"/>
              <a:pathLst>
                <a:path w="7512684" h="2807970">
                  <a:moveTo>
                    <a:pt x="0" y="2611468"/>
                  </a:moveTo>
                  <a:lnTo>
                    <a:pt x="0" y="196382"/>
                  </a:lnTo>
                  <a:lnTo>
                    <a:pt x="235" y="186732"/>
                  </a:lnTo>
                  <a:lnTo>
                    <a:pt x="5886" y="148648"/>
                  </a:lnTo>
                  <a:lnTo>
                    <a:pt x="18858" y="112403"/>
                  </a:lnTo>
                  <a:lnTo>
                    <a:pt x="38652" y="79383"/>
                  </a:lnTo>
                  <a:lnTo>
                    <a:pt x="64507" y="50857"/>
                  </a:lnTo>
                  <a:lnTo>
                    <a:pt x="95430" y="27929"/>
                  </a:lnTo>
                  <a:lnTo>
                    <a:pt x="130233" y="11469"/>
                  </a:lnTo>
                  <a:lnTo>
                    <a:pt x="167578" y="2120"/>
                  </a:lnTo>
                  <a:lnTo>
                    <a:pt x="196382" y="0"/>
                  </a:lnTo>
                  <a:lnTo>
                    <a:pt x="7316290" y="0"/>
                  </a:lnTo>
                  <a:lnTo>
                    <a:pt x="7354602" y="3774"/>
                  </a:lnTo>
                  <a:lnTo>
                    <a:pt x="7391442" y="14942"/>
                  </a:lnTo>
                  <a:lnTo>
                    <a:pt x="7425393" y="33092"/>
                  </a:lnTo>
                  <a:lnTo>
                    <a:pt x="7455152" y="57513"/>
                  </a:lnTo>
                  <a:lnTo>
                    <a:pt x="7479575" y="87272"/>
                  </a:lnTo>
                  <a:lnTo>
                    <a:pt x="7497721" y="121224"/>
                  </a:lnTo>
                  <a:lnTo>
                    <a:pt x="7508898" y="158066"/>
                  </a:lnTo>
                  <a:lnTo>
                    <a:pt x="7512672" y="196382"/>
                  </a:lnTo>
                  <a:lnTo>
                    <a:pt x="7512672" y="2611468"/>
                  </a:lnTo>
                  <a:lnTo>
                    <a:pt x="7508898" y="2649775"/>
                  </a:lnTo>
                  <a:lnTo>
                    <a:pt x="7497721" y="2686613"/>
                  </a:lnTo>
                  <a:lnTo>
                    <a:pt x="7479575" y="2720571"/>
                  </a:lnTo>
                  <a:lnTo>
                    <a:pt x="7455152" y="2750333"/>
                  </a:lnTo>
                  <a:lnTo>
                    <a:pt x="7425393" y="2774750"/>
                  </a:lnTo>
                  <a:lnTo>
                    <a:pt x="7391441" y="2792899"/>
                  </a:lnTo>
                  <a:lnTo>
                    <a:pt x="7354602" y="2804072"/>
                  </a:lnTo>
                  <a:lnTo>
                    <a:pt x="7316290" y="2807850"/>
                  </a:lnTo>
                  <a:lnTo>
                    <a:pt x="196382" y="2807850"/>
                  </a:lnTo>
                  <a:lnTo>
                    <a:pt x="158069" y="2804072"/>
                  </a:lnTo>
                  <a:lnTo>
                    <a:pt x="121230" y="2792899"/>
                  </a:lnTo>
                  <a:lnTo>
                    <a:pt x="87278" y="2774750"/>
                  </a:lnTo>
                  <a:lnTo>
                    <a:pt x="57518" y="2750333"/>
                  </a:lnTo>
                  <a:lnTo>
                    <a:pt x="33096" y="2720571"/>
                  </a:lnTo>
                  <a:lnTo>
                    <a:pt x="14948" y="2686613"/>
                  </a:lnTo>
                  <a:lnTo>
                    <a:pt x="3773" y="2649775"/>
                  </a:lnTo>
                  <a:lnTo>
                    <a:pt x="0" y="2611468"/>
                  </a:lnTo>
                  <a:close/>
                </a:path>
              </a:pathLst>
            </a:custGeom>
            <a:ln w="8356">
              <a:solidFill>
                <a:srgbClr val="F2F4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28770" y="2523724"/>
              <a:ext cx="2039620" cy="434975"/>
            </a:xfrm>
            <a:custGeom>
              <a:avLst/>
              <a:gdLst/>
              <a:ahLst/>
              <a:cxnLst/>
              <a:rect l="l" t="t" r="r" b="b"/>
              <a:pathLst>
                <a:path w="2039620" h="434975">
                  <a:moveTo>
                    <a:pt x="1828876" y="434548"/>
                  </a:moveTo>
                  <a:lnTo>
                    <a:pt x="210158" y="434548"/>
                  </a:lnTo>
                  <a:lnTo>
                    <a:pt x="203059" y="434201"/>
                  </a:lnTo>
                  <a:lnTo>
                    <a:pt x="161011" y="427252"/>
                  </a:lnTo>
                  <a:lnTo>
                    <a:pt x="121127" y="412245"/>
                  </a:lnTo>
                  <a:lnTo>
                    <a:pt x="84936" y="389741"/>
                  </a:lnTo>
                  <a:lnTo>
                    <a:pt x="53832" y="360610"/>
                  </a:lnTo>
                  <a:lnTo>
                    <a:pt x="29009" y="325968"/>
                  </a:lnTo>
                  <a:lnTo>
                    <a:pt x="11421" y="287155"/>
                  </a:lnTo>
                  <a:lnTo>
                    <a:pt x="1743" y="245649"/>
                  </a:lnTo>
                  <a:lnTo>
                    <a:pt x="0" y="224394"/>
                  </a:lnTo>
                  <a:lnTo>
                    <a:pt x="0" y="217274"/>
                  </a:lnTo>
                  <a:lnTo>
                    <a:pt x="0" y="210157"/>
                  </a:lnTo>
                  <a:lnTo>
                    <a:pt x="5562" y="167901"/>
                  </a:lnTo>
                  <a:lnTo>
                    <a:pt x="19261" y="127549"/>
                  </a:lnTo>
                  <a:lnTo>
                    <a:pt x="40570" y="90646"/>
                  </a:lnTo>
                  <a:lnTo>
                    <a:pt x="68669" y="58603"/>
                  </a:lnTo>
                  <a:lnTo>
                    <a:pt x="102480" y="32659"/>
                  </a:lnTo>
                  <a:lnTo>
                    <a:pt x="140700" y="13816"/>
                  </a:lnTo>
                  <a:lnTo>
                    <a:pt x="181865" y="2791"/>
                  </a:lnTo>
                  <a:lnTo>
                    <a:pt x="210158" y="0"/>
                  </a:lnTo>
                  <a:lnTo>
                    <a:pt x="1828876" y="0"/>
                  </a:lnTo>
                  <a:lnTo>
                    <a:pt x="1871126" y="5565"/>
                  </a:lnTo>
                  <a:lnTo>
                    <a:pt x="1911481" y="19259"/>
                  </a:lnTo>
                  <a:lnTo>
                    <a:pt x="1948388" y="40567"/>
                  </a:lnTo>
                  <a:lnTo>
                    <a:pt x="1980428" y="68665"/>
                  </a:lnTo>
                  <a:lnTo>
                    <a:pt x="2006369" y="102475"/>
                  </a:lnTo>
                  <a:lnTo>
                    <a:pt x="2025218" y="140692"/>
                  </a:lnTo>
                  <a:lnTo>
                    <a:pt x="2036247" y="181864"/>
                  </a:lnTo>
                  <a:lnTo>
                    <a:pt x="2039035" y="210157"/>
                  </a:lnTo>
                  <a:lnTo>
                    <a:pt x="2039035" y="224394"/>
                  </a:lnTo>
                  <a:lnTo>
                    <a:pt x="2033471" y="266638"/>
                  </a:lnTo>
                  <a:lnTo>
                    <a:pt x="2019772" y="306990"/>
                  </a:lnTo>
                  <a:lnTo>
                    <a:pt x="1998463" y="343897"/>
                  </a:lnTo>
                  <a:lnTo>
                    <a:pt x="1970364" y="375941"/>
                  </a:lnTo>
                  <a:lnTo>
                    <a:pt x="1936554" y="401880"/>
                  </a:lnTo>
                  <a:lnTo>
                    <a:pt x="1898332" y="420723"/>
                  </a:lnTo>
                  <a:lnTo>
                    <a:pt x="1857168" y="431757"/>
                  </a:lnTo>
                  <a:lnTo>
                    <a:pt x="1835975" y="434197"/>
                  </a:lnTo>
                  <a:lnTo>
                    <a:pt x="1828876" y="434548"/>
                  </a:lnTo>
                  <a:close/>
                </a:path>
              </a:pathLst>
            </a:custGeom>
            <a:solidFill>
              <a:srgbClr val="FF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523290" y="2601891"/>
            <a:ext cx="165163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85" dirty="0">
                <a:solidFill>
                  <a:srgbClr val="F43F5D"/>
                </a:solidFill>
                <a:latin typeface="Malgun Gothic"/>
                <a:cs typeface="Malgun Gothic"/>
              </a:rPr>
              <a:t>Architecture</a:t>
            </a:r>
            <a:r>
              <a:rPr sz="1650" b="1" spc="-95" dirty="0">
                <a:solidFill>
                  <a:srgbClr val="F43F5D"/>
                </a:solidFill>
                <a:latin typeface="Malgun Gothic"/>
                <a:cs typeface="Malgun Gothic"/>
              </a:rPr>
              <a:t> </a:t>
            </a:r>
            <a:r>
              <a:rPr sz="1650" b="1" spc="-20" dirty="0">
                <a:solidFill>
                  <a:srgbClr val="F43F5D"/>
                </a:solidFill>
                <a:latin typeface="Malgun Gothic"/>
                <a:cs typeface="Malgun Gothic"/>
              </a:rPr>
              <a:t>Style</a:t>
            </a:r>
            <a:endParaRPr sz="165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8976" y="3202957"/>
            <a:ext cx="3042285" cy="478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b="1" spc="-325" dirty="0">
                <a:solidFill>
                  <a:srgbClr val="1F2937"/>
                </a:solidFill>
                <a:latin typeface="Malgun Gothic"/>
                <a:cs typeface="Malgun Gothic"/>
              </a:rPr>
              <a:t>"설계</a:t>
            </a:r>
            <a:r>
              <a:rPr sz="2950" b="1" spc="-30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2950" b="1" spc="-555" dirty="0">
                <a:solidFill>
                  <a:srgbClr val="1F2937"/>
                </a:solidFill>
                <a:latin typeface="Malgun Gothic"/>
                <a:cs typeface="Malgun Gothic"/>
              </a:rPr>
              <a:t>표준에</a:t>
            </a:r>
            <a:r>
              <a:rPr sz="2950" b="1" spc="-28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2950" b="1" spc="-434" dirty="0">
                <a:solidFill>
                  <a:srgbClr val="1F2937"/>
                </a:solidFill>
                <a:latin typeface="Malgun Gothic"/>
                <a:cs typeface="Malgun Gothic"/>
              </a:rPr>
              <a:t>대하여"</a:t>
            </a:r>
            <a:endParaRPr sz="295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4376" y="3864574"/>
            <a:ext cx="6653530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31390" marR="5080" indent="-2219325">
              <a:lnSpc>
                <a:spcPct val="119900"/>
              </a:lnSpc>
              <a:spcBef>
                <a:spcPts val="90"/>
              </a:spcBef>
            </a:pPr>
            <a:r>
              <a:rPr sz="1600" spc="-295" dirty="0">
                <a:solidFill>
                  <a:srgbClr val="6A7280"/>
                </a:solidFill>
                <a:latin typeface="Malgun Gothic"/>
                <a:cs typeface="Malgun Gothic"/>
              </a:rPr>
              <a:t>소프트웨어</a:t>
            </a:r>
            <a:r>
              <a:rPr sz="1600" spc="-7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600" spc="-310" dirty="0">
                <a:solidFill>
                  <a:srgbClr val="6A7280"/>
                </a:solidFill>
                <a:latin typeface="Malgun Gothic"/>
                <a:cs typeface="Malgun Gothic"/>
              </a:rPr>
              <a:t>공학의</a:t>
            </a:r>
            <a:r>
              <a:rPr sz="1600" spc="-6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600" spc="-20" dirty="0">
                <a:solidFill>
                  <a:srgbClr val="6A7280"/>
                </a:solidFill>
                <a:latin typeface="Malgun Gothic"/>
                <a:cs typeface="Malgun Gothic"/>
              </a:rPr>
              <a:t>REST</a:t>
            </a:r>
            <a:r>
              <a:rPr sz="1600" spc="-18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600" spc="-295" dirty="0">
                <a:solidFill>
                  <a:srgbClr val="6A7280"/>
                </a:solidFill>
                <a:latin typeface="Malgun Gothic"/>
                <a:cs typeface="Malgun Gothic"/>
              </a:rPr>
              <a:t>설계</a:t>
            </a:r>
            <a:r>
              <a:rPr sz="1600" spc="-11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600" spc="-220" dirty="0">
                <a:solidFill>
                  <a:srgbClr val="6A7280"/>
                </a:solidFill>
                <a:latin typeface="Malgun Gothic"/>
                <a:cs typeface="Malgun Gothic"/>
              </a:rPr>
              <a:t>철학과,</a:t>
            </a:r>
            <a:r>
              <a:rPr sz="1600" spc="-9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600" spc="-240" dirty="0">
                <a:solidFill>
                  <a:srgbClr val="6A7280"/>
                </a:solidFill>
                <a:latin typeface="Malgun Gothic"/>
                <a:cs typeface="Malgun Gothic"/>
              </a:rPr>
              <a:t>그</a:t>
            </a:r>
            <a:r>
              <a:rPr sz="1600" spc="-19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600" spc="-275" dirty="0">
                <a:solidFill>
                  <a:srgbClr val="6A7280"/>
                </a:solidFill>
                <a:latin typeface="Malgun Gothic"/>
                <a:cs typeface="Malgun Gothic"/>
              </a:rPr>
              <a:t>규칙들을</a:t>
            </a:r>
            <a:r>
              <a:rPr sz="1600" spc="-19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600" spc="-310" dirty="0">
                <a:solidFill>
                  <a:srgbClr val="6A7280"/>
                </a:solidFill>
                <a:latin typeface="Malgun Gothic"/>
                <a:cs typeface="Malgun Gothic"/>
              </a:rPr>
              <a:t>엄밀히</a:t>
            </a:r>
            <a:r>
              <a:rPr sz="1600" spc="-6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600" spc="-254" dirty="0">
                <a:solidFill>
                  <a:srgbClr val="6A7280"/>
                </a:solidFill>
                <a:latin typeface="Malgun Gothic"/>
                <a:cs typeface="Malgun Gothic"/>
              </a:rPr>
              <a:t>준수한</a:t>
            </a:r>
            <a:r>
              <a:rPr sz="1600" spc="-22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600" spc="-40" dirty="0">
                <a:solidFill>
                  <a:srgbClr val="6A7280"/>
                </a:solidFill>
                <a:latin typeface="Malgun Gothic"/>
                <a:cs typeface="Malgun Gothic"/>
              </a:rPr>
              <a:t>RESTful</a:t>
            </a:r>
            <a:r>
              <a:rPr sz="1600" spc="-11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600" spc="-300" dirty="0">
                <a:solidFill>
                  <a:srgbClr val="6A7280"/>
                </a:solidFill>
                <a:latin typeface="Malgun Gothic"/>
                <a:cs typeface="Malgun Gothic"/>
              </a:rPr>
              <a:t>시스템의</a:t>
            </a:r>
            <a:r>
              <a:rPr sz="1600" spc="-6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600" spc="-50" dirty="0">
                <a:solidFill>
                  <a:srgbClr val="6A7280"/>
                </a:solidFill>
                <a:latin typeface="Malgun Gothic"/>
                <a:cs typeface="Malgun Gothic"/>
              </a:rPr>
              <a:t>구 </a:t>
            </a:r>
            <a:r>
              <a:rPr sz="1600" spc="-295" dirty="0">
                <a:solidFill>
                  <a:srgbClr val="6A7280"/>
                </a:solidFill>
                <a:latin typeface="Malgun Gothic"/>
                <a:cs typeface="Malgun Gothic"/>
              </a:rPr>
              <a:t>체적인</a:t>
            </a:r>
            <a:r>
              <a:rPr sz="1600" spc="-114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600" spc="-270" dirty="0">
                <a:solidFill>
                  <a:srgbClr val="6A7280"/>
                </a:solidFill>
                <a:latin typeface="Malgun Gothic"/>
                <a:cs typeface="Malgun Gothic"/>
              </a:rPr>
              <a:t>특징을</a:t>
            </a:r>
            <a:r>
              <a:rPr sz="1600" spc="-19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600" spc="-100" dirty="0">
                <a:solidFill>
                  <a:srgbClr val="6A7280"/>
                </a:solidFill>
                <a:latin typeface="Malgun Gothic"/>
                <a:cs typeface="Malgun Gothic"/>
              </a:rPr>
              <a:t>들여다봅니다.</a:t>
            </a:r>
            <a:endParaRPr sz="16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5835" y="499399"/>
            <a:ext cx="2115185" cy="524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800" spc="-517" baseline="4340" dirty="0">
                <a:solidFill>
                  <a:srgbClr val="0FB981"/>
                </a:solidFill>
                <a:latin typeface="Trebuchet MS"/>
                <a:cs typeface="Trebuchet MS"/>
              </a:rPr>
              <a:t>08.</a:t>
            </a:r>
            <a:r>
              <a:rPr sz="4800" spc="195" baseline="4340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3250" spc="-140" dirty="0"/>
              <a:t>REST란?</a:t>
            </a:r>
            <a:endParaRPr sz="325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68535" y="2022317"/>
            <a:ext cx="4471035" cy="2966727"/>
            <a:chOff x="668535" y="2022317"/>
            <a:chExt cx="4471035" cy="2966727"/>
          </a:xfrm>
        </p:grpSpPr>
        <p:sp>
          <p:nvSpPr>
            <p:cNvPr id="5" name="object 5"/>
            <p:cNvSpPr/>
            <p:nvPr/>
          </p:nvSpPr>
          <p:spPr>
            <a:xfrm>
              <a:off x="668535" y="2022317"/>
              <a:ext cx="4471035" cy="2966720"/>
            </a:xfrm>
            <a:custGeom>
              <a:avLst/>
              <a:gdLst/>
              <a:ahLst/>
              <a:cxnLst/>
              <a:rect l="l" t="t" r="r" b="b"/>
              <a:pathLst>
                <a:path w="4471035" h="2966720">
                  <a:moveTo>
                    <a:pt x="4303699" y="2966626"/>
                  </a:moveTo>
                  <a:lnTo>
                    <a:pt x="167133" y="2966626"/>
                  </a:lnTo>
                  <a:lnTo>
                    <a:pt x="150669" y="2965831"/>
                  </a:lnTo>
                  <a:lnTo>
                    <a:pt x="103174" y="2953903"/>
                  </a:lnTo>
                  <a:lnTo>
                    <a:pt x="61156" y="2928753"/>
                  </a:lnTo>
                  <a:lnTo>
                    <a:pt x="28141" y="2892364"/>
                  </a:lnTo>
                  <a:lnTo>
                    <a:pt x="7156" y="2847936"/>
                  </a:lnTo>
                  <a:lnTo>
                    <a:pt x="0" y="2799492"/>
                  </a:lnTo>
                  <a:lnTo>
                    <a:pt x="0" y="167133"/>
                  </a:lnTo>
                  <a:lnTo>
                    <a:pt x="7156" y="118689"/>
                  </a:lnTo>
                  <a:lnTo>
                    <a:pt x="28140" y="74261"/>
                  </a:lnTo>
                  <a:lnTo>
                    <a:pt x="61156" y="37872"/>
                  </a:lnTo>
                  <a:lnTo>
                    <a:pt x="103174" y="12722"/>
                  </a:lnTo>
                  <a:lnTo>
                    <a:pt x="150669" y="795"/>
                  </a:lnTo>
                  <a:lnTo>
                    <a:pt x="167133" y="0"/>
                  </a:lnTo>
                  <a:lnTo>
                    <a:pt x="4303699" y="0"/>
                  </a:lnTo>
                  <a:lnTo>
                    <a:pt x="4352143" y="7156"/>
                  </a:lnTo>
                  <a:lnTo>
                    <a:pt x="4396571" y="28140"/>
                  </a:lnTo>
                  <a:lnTo>
                    <a:pt x="4432960" y="61156"/>
                  </a:lnTo>
                  <a:lnTo>
                    <a:pt x="4458111" y="103174"/>
                  </a:lnTo>
                  <a:lnTo>
                    <a:pt x="4470038" y="150669"/>
                  </a:lnTo>
                  <a:lnTo>
                    <a:pt x="4470833" y="167133"/>
                  </a:lnTo>
                  <a:lnTo>
                    <a:pt x="4470833" y="2799492"/>
                  </a:lnTo>
                  <a:lnTo>
                    <a:pt x="4463677" y="2847936"/>
                  </a:lnTo>
                  <a:lnTo>
                    <a:pt x="4442692" y="2892364"/>
                  </a:lnTo>
                  <a:lnTo>
                    <a:pt x="4409676" y="2928753"/>
                  </a:lnTo>
                  <a:lnTo>
                    <a:pt x="4367658" y="2953903"/>
                  </a:lnTo>
                  <a:lnTo>
                    <a:pt x="4320164" y="2965831"/>
                  </a:lnTo>
                  <a:lnTo>
                    <a:pt x="4303699" y="29666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8535" y="2022324"/>
              <a:ext cx="4471035" cy="2966720"/>
            </a:xfrm>
            <a:custGeom>
              <a:avLst/>
              <a:gdLst/>
              <a:ahLst/>
              <a:cxnLst/>
              <a:rect l="l" t="t" r="r" b="b"/>
              <a:pathLst>
                <a:path w="4471035" h="2966720">
                  <a:moveTo>
                    <a:pt x="4303699" y="2966626"/>
                  </a:moveTo>
                  <a:lnTo>
                    <a:pt x="167133" y="2966626"/>
                  </a:lnTo>
                  <a:lnTo>
                    <a:pt x="150669" y="2965831"/>
                  </a:lnTo>
                  <a:lnTo>
                    <a:pt x="103174" y="2953903"/>
                  </a:lnTo>
                  <a:lnTo>
                    <a:pt x="61156" y="2928753"/>
                  </a:lnTo>
                  <a:lnTo>
                    <a:pt x="28141" y="2892364"/>
                  </a:lnTo>
                  <a:lnTo>
                    <a:pt x="7156" y="2847936"/>
                  </a:lnTo>
                  <a:lnTo>
                    <a:pt x="0" y="2799492"/>
                  </a:lnTo>
                  <a:lnTo>
                    <a:pt x="0" y="167133"/>
                  </a:lnTo>
                  <a:lnTo>
                    <a:pt x="7156" y="118689"/>
                  </a:lnTo>
                  <a:lnTo>
                    <a:pt x="28140" y="74261"/>
                  </a:lnTo>
                  <a:lnTo>
                    <a:pt x="61156" y="37872"/>
                  </a:lnTo>
                  <a:lnTo>
                    <a:pt x="103174" y="12722"/>
                  </a:lnTo>
                  <a:lnTo>
                    <a:pt x="150669" y="795"/>
                  </a:lnTo>
                  <a:lnTo>
                    <a:pt x="167133" y="0"/>
                  </a:lnTo>
                  <a:lnTo>
                    <a:pt x="4303699" y="0"/>
                  </a:lnTo>
                  <a:lnTo>
                    <a:pt x="4320164" y="795"/>
                  </a:lnTo>
                  <a:lnTo>
                    <a:pt x="4336312" y="3180"/>
                  </a:lnTo>
                  <a:lnTo>
                    <a:pt x="4352143" y="7156"/>
                  </a:lnTo>
                  <a:lnTo>
                    <a:pt x="4355494" y="8358"/>
                  </a:lnTo>
                  <a:lnTo>
                    <a:pt x="167133" y="8358"/>
                  </a:lnTo>
                  <a:lnTo>
                    <a:pt x="159333" y="8548"/>
                  </a:lnTo>
                  <a:lnTo>
                    <a:pt x="121042" y="15193"/>
                  </a:lnTo>
                  <a:lnTo>
                    <a:pt x="85513" y="30941"/>
                  </a:lnTo>
                  <a:lnTo>
                    <a:pt x="54861" y="54862"/>
                  </a:lnTo>
                  <a:lnTo>
                    <a:pt x="30940" y="85514"/>
                  </a:lnTo>
                  <a:lnTo>
                    <a:pt x="15191" y="121043"/>
                  </a:lnTo>
                  <a:lnTo>
                    <a:pt x="9230" y="150669"/>
                  </a:lnTo>
                  <a:lnTo>
                    <a:pt x="9119" y="151570"/>
                  </a:lnTo>
                  <a:lnTo>
                    <a:pt x="8547" y="159333"/>
                  </a:lnTo>
                  <a:lnTo>
                    <a:pt x="8356" y="167133"/>
                  </a:lnTo>
                  <a:lnTo>
                    <a:pt x="8356" y="2799492"/>
                  </a:lnTo>
                  <a:lnTo>
                    <a:pt x="13116" y="2838081"/>
                  </a:lnTo>
                  <a:lnTo>
                    <a:pt x="27103" y="2874339"/>
                  </a:lnTo>
                  <a:lnTo>
                    <a:pt x="49480" y="2906113"/>
                  </a:lnTo>
                  <a:lnTo>
                    <a:pt x="78922" y="2931509"/>
                  </a:lnTo>
                  <a:lnTo>
                    <a:pt x="113652" y="2948991"/>
                  </a:lnTo>
                  <a:lnTo>
                    <a:pt x="151570" y="2957505"/>
                  </a:lnTo>
                  <a:lnTo>
                    <a:pt x="167133" y="2958268"/>
                  </a:lnTo>
                  <a:lnTo>
                    <a:pt x="4355492" y="2958268"/>
                  </a:lnTo>
                  <a:lnTo>
                    <a:pt x="4352143" y="2959469"/>
                  </a:lnTo>
                  <a:lnTo>
                    <a:pt x="4336312" y="2963445"/>
                  </a:lnTo>
                  <a:lnTo>
                    <a:pt x="4320164" y="2965831"/>
                  </a:lnTo>
                  <a:lnTo>
                    <a:pt x="4303699" y="2966626"/>
                  </a:lnTo>
                  <a:close/>
                </a:path>
                <a:path w="4471035" h="2966720">
                  <a:moveTo>
                    <a:pt x="4355492" y="2958268"/>
                  </a:moveTo>
                  <a:lnTo>
                    <a:pt x="4303699" y="2958268"/>
                  </a:lnTo>
                  <a:lnTo>
                    <a:pt x="4311500" y="2958077"/>
                  </a:lnTo>
                  <a:lnTo>
                    <a:pt x="4319262" y="2957505"/>
                  </a:lnTo>
                  <a:lnTo>
                    <a:pt x="4357181" y="2948991"/>
                  </a:lnTo>
                  <a:lnTo>
                    <a:pt x="4391911" y="2931509"/>
                  </a:lnTo>
                  <a:lnTo>
                    <a:pt x="4421352" y="2906113"/>
                  </a:lnTo>
                  <a:lnTo>
                    <a:pt x="4443729" y="2874339"/>
                  </a:lnTo>
                  <a:lnTo>
                    <a:pt x="4457716" y="2838081"/>
                  </a:lnTo>
                  <a:lnTo>
                    <a:pt x="4462477" y="2799492"/>
                  </a:lnTo>
                  <a:lnTo>
                    <a:pt x="4462477" y="167133"/>
                  </a:lnTo>
                  <a:lnTo>
                    <a:pt x="4457716" y="128545"/>
                  </a:lnTo>
                  <a:lnTo>
                    <a:pt x="4443729" y="92286"/>
                  </a:lnTo>
                  <a:lnTo>
                    <a:pt x="4421352" y="60512"/>
                  </a:lnTo>
                  <a:lnTo>
                    <a:pt x="4391911" y="35116"/>
                  </a:lnTo>
                  <a:lnTo>
                    <a:pt x="4357181" y="17635"/>
                  </a:lnTo>
                  <a:lnTo>
                    <a:pt x="4319262" y="9120"/>
                  </a:lnTo>
                  <a:lnTo>
                    <a:pt x="4303699" y="8358"/>
                  </a:lnTo>
                  <a:lnTo>
                    <a:pt x="4355494" y="8358"/>
                  </a:lnTo>
                  <a:lnTo>
                    <a:pt x="4396571" y="28140"/>
                  </a:lnTo>
                  <a:lnTo>
                    <a:pt x="4432961" y="61156"/>
                  </a:lnTo>
                  <a:lnTo>
                    <a:pt x="4458111" y="103174"/>
                  </a:lnTo>
                  <a:lnTo>
                    <a:pt x="4470038" y="150669"/>
                  </a:lnTo>
                  <a:lnTo>
                    <a:pt x="4470833" y="2799492"/>
                  </a:lnTo>
                  <a:lnTo>
                    <a:pt x="4470082" y="2815055"/>
                  </a:lnTo>
                  <a:lnTo>
                    <a:pt x="4458111" y="2863451"/>
                  </a:lnTo>
                  <a:lnTo>
                    <a:pt x="4432961" y="2905469"/>
                  </a:lnTo>
                  <a:lnTo>
                    <a:pt x="4396571" y="2938484"/>
                  </a:lnTo>
                  <a:lnTo>
                    <a:pt x="4367658" y="2953903"/>
                  </a:lnTo>
                  <a:lnTo>
                    <a:pt x="4355492" y="2958268"/>
                  </a:lnTo>
                  <a:close/>
                </a:path>
              </a:pathLst>
            </a:custGeom>
            <a:solidFill>
              <a:srgbClr val="0FB981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9377" y="4245205"/>
              <a:ext cx="3869690" cy="443230"/>
            </a:xfrm>
            <a:custGeom>
              <a:avLst/>
              <a:gdLst/>
              <a:ahLst/>
              <a:cxnLst/>
              <a:rect l="l" t="t" r="r" b="b"/>
              <a:pathLst>
                <a:path w="3869690" h="443229">
                  <a:moveTo>
                    <a:pt x="3775455" y="442905"/>
                  </a:moveTo>
                  <a:lnTo>
                    <a:pt x="93695" y="442905"/>
                  </a:lnTo>
                  <a:lnTo>
                    <a:pt x="87174" y="442260"/>
                  </a:lnTo>
                  <a:lnTo>
                    <a:pt x="50042" y="429659"/>
                  </a:lnTo>
                  <a:lnTo>
                    <a:pt x="20558" y="403810"/>
                  </a:lnTo>
                  <a:lnTo>
                    <a:pt x="3211" y="368641"/>
                  </a:lnTo>
                  <a:lnTo>
                    <a:pt x="0" y="349206"/>
                  </a:lnTo>
                  <a:lnTo>
                    <a:pt x="0" y="342624"/>
                  </a:lnTo>
                  <a:lnTo>
                    <a:pt x="0" y="93694"/>
                  </a:lnTo>
                  <a:lnTo>
                    <a:pt x="10153" y="55811"/>
                  </a:lnTo>
                  <a:lnTo>
                    <a:pt x="34027" y="24710"/>
                  </a:lnTo>
                  <a:lnTo>
                    <a:pt x="67988" y="5112"/>
                  </a:lnTo>
                  <a:lnTo>
                    <a:pt x="93695" y="0"/>
                  </a:lnTo>
                  <a:lnTo>
                    <a:pt x="3775455" y="0"/>
                  </a:lnTo>
                  <a:lnTo>
                    <a:pt x="3813330" y="10148"/>
                  </a:lnTo>
                  <a:lnTo>
                    <a:pt x="3844435" y="34018"/>
                  </a:lnTo>
                  <a:lnTo>
                    <a:pt x="3864037" y="67980"/>
                  </a:lnTo>
                  <a:lnTo>
                    <a:pt x="3869151" y="93694"/>
                  </a:lnTo>
                  <a:lnTo>
                    <a:pt x="3869151" y="349206"/>
                  </a:lnTo>
                  <a:lnTo>
                    <a:pt x="3858997" y="387080"/>
                  </a:lnTo>
                  <a:lnTo>
                    <a:pt x="3835124" y="418190"/>
                  </a:lnTo>
                  <a:lnTo>
                    <a:pt x="3801163" y="437788"/>
                  </a:lnTo>
                  <a:lnTo>
                    <a:pt x="3781977" y="442260"/>
                  </a:lnTo>
                  <a:lnTo>
                    <a:pt x="3775455" y="442905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377" y="2397411"/>
              <a:ext cx="234949" cy="26987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56677" y="2314247"/>
            <a:ext cx="3851275" cy="2256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1310">
              <a:lnSpc>
                <a:spcPct val="100000"/>
              </a:lnSpc>
              <a:spcBef>
                <a:spcPts val="105"/>
              </a:spcBef>
            </a:pPr>
            <a:r>
              <a:rPr sz="2350" b="1" spc="-425" dirty="0">
                <a:solidFill>
                  <a:srgbClr val="6266F1"/>
                </a:solidFill>
                <a:latin typeface="Malgun Gothic"/>
                <a:cs typeface="Malgun Gothic"/>
              </a:rPr>
              <a:t>자원</a:t>
            </a:r>
            <a:r>
              <a:rPr sz="2350" b="1" spc="-240" dirty="0">
                <a:solidFill>
                  <a:srgbClr val="6266F1"/>
                </a:solidFill>
                <a:latin typeface="Malgun Gothic"/>
                <a:cs typeface="Malgun Gothic"/>
              </a:rPr>
              <a:t> </a:t>
            </a:r>
            <a:r>
              <a:rPr sz="2400" b="1" spc="-30" dirty="0">
                <a:solidFill>
                  <a:srgbClr val="6266F1"/>
                </a:solidFill>
                <a:latin typeface="Malgun Gothic"/>
                <a:cs typeface="Malgun Gothic"/>
              </a:rPr>
              <a:t>(Resource)</a:t>
            </a:r>
            <a:endParaRPr sz="2400">
              <a:latin typeface="Malgun Gothic"/>
              <a:cs typeface="Malgun Gothic"/>
            </a:endParaRPr>
          </a:p>
          <a:p>
            <a:pPr marL="12700" marR="53340">
              <a:lnSpc>
                <a:spcPct val="123400"/>
              </a:lnSpc>
              <a:spcBef>
                <a:spcPts val="1155"/>
              </a:spcBef>
            </a:pPr>
            <a:r>
              <a:rPr sz="1600" spc="-260" dirty="0">
                <a:solidFill>
                  <a:srgbClr val="374050"/>
                </a:solidFill>
                <a:latin typeface="Malgun Gothic"/>
                <a:cs typeface="Malgun Gothic"/>
              </a:rPr>
              <a:t>모든</a:t>
            </a:r>
            <a:r>
              <a:rPr sz="1600" spc="-20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374050"/>
                </a:solidFill>
                <a:latin typeface="Malgun Gothic"/>
                <a:cs typeface="Malgun Gothic"/>
              </a:rPr>
              <a:t>데이터</a:t>
            </a:r>
            <a:r>
              <a:rPr sz="160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600" spc="-260" dirty="0">
                <a:solidFill>
                  <a:srgbClr val="374050"/>
                </a:solidFill>
                <a:latin typeface="Malgun Gothic"/>
                <a:cs typeface="Malgun Gothic"/>
              </a:rPr>
              <a:t>정보는</a:t>
            </a:r>
            <a:r>
              <a:rPr sz="1600" spc="-19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600" spc="-254" dirty="0">
                <a:solidFill>
                  <a:srgbClr val="374050"/>
                </a:solidFill>
                <a:latin typeface="Malgun Gothic"/>
                <a:cs typeface="Malgun Gothic"/>
              </a:rPr>
              <a:t>고유</a:t>
            </a:r>
            <a:r>
              <a:rPr sz="1600" spc="-20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600" spc="-125" dirty="0">
                <a:solidFill>
                  <a:srgbClr val="374050"/>
                </a:solidFill>
                <a:latin typeface="Malgun Gothic"/>
                <a:cs typeface="Malgun Gothic"/>
              </a:rPr>
              <a:t>주소(URI)를</a:t>
            </a:r>
            <a:r>
              <a:rPr sz="1600" spc="-19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600" spc="-290" dirty="0">
                <a:solidFill>
                  <a:srgbClr val="374050"/>
                </a:solidFill>
                <a:latin typeface="Malgun Gothic"/>
                <a:cs typeface="Malgun Gothic"/>
              </a:rPr>
              <a:t>부여해</a:t>
            </a:r>
            <a:r>
              <a:rPr sz="1600" spc="-11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600" spc="-315" dirty="0">
                <a:solidFill>
                  <a:srgbClr val="374050"/>
                </a:solidFill>
                <a:latin typeface="Malgun Gothic"/>
                <a:cs typeface="Malgun Gothic"/>
              </a:rPr>
              <a:t>식별 </a:t>
            </a:r>
            <a:r>
              <a:rPr sz="1600" spc="-20" dirty="0">
                <a:solidFill>
                  <a:srgbClr val="374050"/>
                </a:solidFill>
                <a:latin typeface="Malgun Gothic"/>
                <a:cs typeface="Malgun Gothic"/>
              </a:rPr>
              <a:t>합니다.</a:t>
            </a:r>
            <a:endParaRPr sz="1600">
              <a:latin typeface="Malgun Gothic"/>
              <a:cs typeface="Malgun Gothic"/>
            </a:endParaRPr>
          </a:p>
          <a:p>
            <a:pPr marL="12700" marR="5080">
              <a:lnSpc>
                <a:spcPct val="109700"/>
              </a:lnSpc>
              <a:spcBef>
                <a:spcPts val="1415"/>
              </a:spcBef>
            </a:pPr>
            <a:r>
              <a:rPr sz="1250" dirty="0">
                <a:solidFill>
                  <a:srgbClr val="6A7280"/>
                </a:solidFill>
                <a:latin typeface="Segoe UI Emoji"/>
                <a:cs typeface="Segoe UI Emoji"/>
              </a:rPr>
              <a:t>⚠</a:t>
            </a:r>
            <a:r>
              <a:rPr sz="1250" spc="155" dirty="0">
                <a:solidFill>
                  <a:srgbClr val="6A7280"/>
                </a:solidFill>
                <a:latin typeface="Segoe UI Emoji"/>
                <a:cs typeface="Segoe UI Emoji"/>
              </a:rPr>
              <a:t> </a:t>
            </a:r>
            <a:r>
              <a:rPr sz="1450" spc="-80" dirty="0">
                <a:solidFill>
                  <a:srgbClr val="6A7280"/>
                </a:solidFill>
                <a:latin typeface="Malgun Gothic"/>
                <a:cs typeface="Malgun Gothic"/>
              </a:rPr>
              <a:t>URI</a:t>
            </a:r>
            <a:r>
              <a:rPr sz="1450" spc="-1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50" spc="-245" dirty="0">
                <a:solidFill>
                  <a:srgbClr val="6A7280"/>
                </a:solidFill>
                <a:latin typeface="Malgun Gothic"/>
                <a:cs typeface="Malgun Gothic"/>
              </a:rPr>
              <a:t>내부에는</a:t>
            </a:r>
            <a:r>
              <a:rPr sz="1450" spc="-17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50" spc="-180" dirty="0">
                <a:solidFill>
                  <a:srgbClr val="6A7280"/>
                </a:solidFill>
                <a:latin typeface="Malgun Gothic"/>
                <a:cs typeface="Malgun Gothic"/>
              </a:rPr>
              <a:t>행위(동사)를</a:t>
            </a:r>
            <a:r>
              <a:rPr sz="1450" spc="-17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50" spc="-245" dirty="0">
                <a:solidFill>
                  <a:srgbClr val="6A7280"/>
                </a:solidFill>
                <a:latin typeface="Malgun Gothic"/>
                <a:cs typeface="Malgun Gothic"/>
              </a:rPr>
              <a:t>배제하고</a:t>
            </a:r>
            <a:r>
              <a:rPr sz="1450" spc="-17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50" spc="-285" dirty="0">
                <a:solidFill>
                  <a:srgbClr val="6A7280"/>
                </a:solidFill>
                <a:latin typeface="Malgun Gothic"/>
                <a:cs typeface="Malgun Gothic"/>
              </a:rPr>
              <a:t>오직</a:t>
            </a:r>
            <a:r>
              <a:rPr sz="1450" spc="-5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50" spc="-210" dirty="0">
                <a:solidFill>
                  <a:srgbClr val="6A7280"/>
                </a:solidFill>
                <a:latin typeface="Malgun Gothic"/>
                <a:cs typeface="Malgun Gothic"/>
              </a:rPr>
              <a:t>명사형으 로</a:t>
            </a:r>
            <a:r>
              <a:rPr sz="1450" spc="-17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50" spc="-235" dirty="0">
                <a:solidFill>
                  <a:srgbClr val="6A7280"/>
                </a:solidFill>
                <a:latin typeface="Malgun Gothic"/>
                <a:cs typeface="Malgun Gothic"/>
              </a:rPr>
              <a:t>구성해야</a:t>
            </a:r>
            <a:r>
              <a:rPr sz="1450" spc="-19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50" spc="-20" dirty="0">
                <a:solidFill>
                  <a:srgbClr val="6A7280"/>
                </a:solidFill>
                <a:latin typeface="Malgun Gothic"/>
                <a:cs typeface="Malgun Gothic"/>
              </a:rPr>
              <a:t>합니다.</a:t>
            </a:r>
            <a:endParaRPr sz="1450">
              <a:latin typeface="Malgun Gothic"/>
              <a:cs typeface="Malgun Gothic"/>
            </a:endParaRPr>
          </a:p>
          <a:p>
            <a:pPr marL="137795">
              <a:lnSpc>
                <a:spcPct val="100000"/>
              </a:lnSpc>
              <a:spcBef>
                <a:spcPts val="1864"/>
              </a:spcBef>
            </a:pPr>
            <a:r>
              <a:rPr sz="1350" b="1" spc="50" dirty="0">
                <a:solidFill>
                  <a:srgbClr val="6266F1"/>
                </a:solidFill>
                <a:latin typeface="Malgun Gothic"/>
                <a:cs typeface="Malgun Gothic"/>
              </a:rPr>
              <a:t>예</a:t>
            </a:r>
            <a:r>
              <a:rPr sz="1400" b="1" spc="50" dirty="0">
                <a:solidFill>
                  <a:srgbClr val="6266F1"/>
                </a:solidFill>
                <a:latin typeface="Malgun Gothic"/>
                <a:cs typeface="Malgun Gothic"/>
              </a:rPr>
              <a:t>:</a:t>
            </a:r>
            <a:r>
              <a:rPr sz="1400" b="1" spc="15" dirty="0">
                <a:solidFill>
                  <a:srgbClr val="6266F1"/>
                </a:solidFill>
                <a:latin typeface="Malgun Gothic"/>
                <a:cs typeface="Malgun Gothic"/>
              </a:rPr>
              <a:t>  </a:t>
            </a:r>
            <a:r>
              <a:rPr sz="1400" b="1" spc="-10" dirty="0">
                <a:solidFill>
                  <a:srgbClr val="6266F1"/>
                </a:solidFill>
                <a:latin typeface="Malgun Gothic"/>
                <a:cs typeface="Malgun Gothic"/>
              </a:rPr>
              <a:t>/user</a:t>
            </a:r>
            <a:r>
              <a:rPr sz="1400" b="1" spc="-290" dirty="0">
                <a:solidFill>
                  <a:srgbClr val="6266F1"/>
                </a:solidFill>
                <a:latin typeface="Malgun Gothic"/>
                <a:cs typeface="Malgun Gothic"/>
              </a:rPr>
              <a:t> </a:t>
            </a:r>
            <a:r>
              <a:rPr sz="1400" b="1" spc="-20" dirty="0">
                <a:solidFill>
                  <a:srgbClr val="6266F1"/>
                </a:solidFill>
                <a:latin typeface="Malgun Gothic"/>
                <a:cs typeface="Malgun Gothic"/>
              </a:rPr>
              <a:t>s/42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57204" y="2022317"/>
            <a:ext cx="4471035" cy="2966727"/>
            <a:chOff x="5557204" y="2022317"/>
            <a:chExt cx="4471035" cy="2966727"/>
          </a:xfrm>
        </p:grpSpPr>
        <p:sp>
          <p:nvSpPr>
            <p:cNvPr id="12" name="object 12"/>
            <p:cNvSpPr/>
            <p:nvPr/>
          </p:nvSpPr>
          <p:spPr>
            <a:xfrm>
              <a:off x="5557204" y="2022317"/>
              <a:ext cx="4471035" cy="2966720"/>
            </a:xfrm>
            <a:custGeom>
              <a:avLst/>
              <a:gdLst/>
              <a:ahLst/>
              <a:cxnLst/>
              <a:rect l="l" t="t" r="r" b="b"/>
              <a:pathLst>
                <a:path w="4471034" h="2966720">
                  <a:moveTo>
                    <a:pt x="4303699" y="2966626"/>
                  </a:moveTo>
                  <a:lnTo>
                    <a:pt x="167134" y="2966626"/>
                  </a:lnTo>
                  <a:lnTo>
                    <a:pt x="150669" y="2965831"/>
                  </a:lnTo>
                  <a:lnTo>
                    <a:pt x="103174" y="2953903"/>
                  </a:lnTo>
                  <a:lnTo>
                    <a:pt x="61156" y="2928753"/>
                  </a:lnTo>
                  <a:lnTo>
                    <a:pt x="28140" y="2892364"/>
                  </a:lnTo>
                  <a:lnTo>
                    <a:pt x="7155" y="2847936"/>
                  </a:lnTo>
                  <a:lnTo>
                    <a:pt x="0" y="2799492"/>
                  </a:lnTo>
                  <a:lnTo>
                    <a:pt x="0" y="167133"/>
                  </a:lnTo>
                  <a:lnTo>
                    <a:pt x="7155" y="118689"/>
                  </a:lnTo>
                  <a:lnTo>
                    <a:pt x="28140" y="74261"/>
                  </a:lnTo>
                  <a:lnTo>
                    <a:pt x="61156" y="37872"/>
                  </a:lnTo>
                  <a:lnTo>
                    <a:pt x="103173" y="12722"/>
                  </a:lnTo>
                  <a:lnTo>
                    <a:pt x="150669" y="795"/>
                  </a:lnTo>
                  <a:lnTo>
                    <a:pt x="167134" y="0"/>
                  </a:lnTo>
                  <a:lnTo>
                    <a:pt x="4303699" y="0"/>
                  </a:lnTo>
                  <a:lnTo>
                    <a:pt x="4352143" y="7156"/>
                  </a:lnTo>
                  <a:lnTo>
                    <a:pt x="4396571" y="28140"/>
                  </a:lnTo>
                  <a:lnTo>
                    <a:pt x="4432960" y="61156"/>
                  </a:lnTo>
                  <a:lnTo>
                    <a:pt x="4458110" y="103174"/>
                  </a:lnTo>
                  <a:lnTo>
                    <a:pt x="4470038" y="150669"/>
                  </a:lnTo>
                  <a:lnTo>
                    <a:pt x="4470833" y="167133"/>
                  </a:lnTo>
                  <a:lnTo>
                    <a:pt x="4470833" y="2799492"/>
                  </a:lnTo>
                  <a:lnTo>
                    <a:pt x="4463676" y="2847936"/>
                  </a:lnTo>
                  <a:lnTo>
                    <a:pt x="4442691" y="2892364"/>
                  </a:lnTo>
                  <a:lnTo>
                    <a:pt x="4409676" y="2928753"/>
                  </a:lnTo>
                  <a:lnTo>
                    <a:pt x="4367658" y="2953903"/>
                  </a:lnTo>
                  <a:lnTo>
                    <a:pt x="4320163" y="2965831"/>
                  </a:lnTo>
                  <a:lnTo>
                    <a:pt x="4303699" y="29666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57204" y="2022324"/>
              <a:ext cx="4471035" cy="2966720"/>
            </a:xfrm>
            <a:custGeom>
              <a:avLst/>
              <a:gdLst/>
              <a:ahLst/>
              <a:cxnLst/>
              <a:rect l="l" t="t" r="r" b="b"/>
              <a:pathLst>
                <a:path w="4471034" h="2966720">
                  <a:moveTo>
                    <a:pt x="4303699" y="2966626"/>
                  </a:moveTo>
                  <a:lnTo>
                    <a:pt x="167134" y="2966626"/>
                  </a:lnTo>
                  <a:lnTo>
                    <a:pt x="150669" y="2965831"/>
                  </a:lnTo>
                  <a:lnTo>
                    <a:pt x="103174" y="2953903"/>
                  </a:lnTo>
                  <a:lnTo>
                    <a:pt x="61156" y="2928753"/>
                  </a:lnTo>
                  <a:lnTo>
                    <a:pt x="28140" y="2892364"/>
                  </a:lnTo>
                  <a:lnTo>
                    <a:pt x="7155" y="2847936"/>
                  </a:lnTo>
                  <a:lnTo>
                    <a:pt x="0" y="2799492"/>
                  </a:lnTo>
                  <a:lnTo>
                    <a:pt x="0" y="167133"/>
                  </a:lnTo>
                  <a:lnTo>
                    <a:pt x="7155" y="118689"/>
                  </a:lnTo>
                  <a:lnTo>
                    <a:pt x="28140" y="74261"/>
                  </a:lnTo>
                  <a:lnTo>
                    <a:pt x="61156" y="37872"/>
                  </a:lnTo>
                  <a:lnTo>
                    <a:pt x="103173" y="12722"/>
                  </a:lnTo>
                  <a:lnTo>
                    <a:pt x="150669" y="795"/>
                  </a:lnTo>
                  <a:lnTo>
                    <a:pt x="167134" y="0"/>
                  </a:lnTo>
                  <a:lnTo>
                    <a:pt x="4303699" y="0"/>
                  </a:lnTo>
                  <a:lnTo>
                    <a:pt x="4320163" y="795"/>
                  </a:lnTo>
                  <a:lnTo>
                    <a:pt x="4336311" y="3180"/>
                  </a:lnTo>
                  <a:lnTo>
                    <a:pt x="4352143" y="7156"/>
                  </a:lnTo>
                  <a:lnTo>
                    <a:pt x="4355493" y="8358"/>
                  </a:lnTo>
                  <a:lnTo>
                    <a:pt x="167133" y="8358"/>
                  </a:lnTo>
                  <a:lnTo>
                    <a:pt x="159333" y="8548"/>
                  </a:lnTo>
                  <a:lnTo>
                    <a:pt x="121042" y="15193"/>
                  </a:lnTo>
                  <a:lnTo>
                    <a:pt x="85513" y="30941"/>
                  </a:lnTo>
                  <a:lnTo>
                    <a:pt x="54861" y="54862"/>
                  </a:lnTo>
                  <a:lnTo>
                    <a:pt x="30940" y="85514"/>
                  </a:lnTo>
                  <a:lnTo>
                    <a:pt x="15191" y="121043"/>
                  </a:lnTo>
                  <a:lnTo>
                    <a:pt x="9230" y="150669"/>
                  </a:lnTo>
                  <a:lnTo>
                    <a:pt x="9119" y="151570"/>
                  </a:lnTo>
                  <a:lnTo>
                    <a:pt x="8547" y="159333"/>
                  </a:lnTo>
                  <a:lnTo>
                    <a:pt x="8356" y="167133"/>
                  </a:lnTo>
                  <a:lnTo>
                    <a:pt x="8356" y="2799492"/>
                  </a:lnTo>
                  <a:lnTo>
                    <a:pt x="13116" y="2838081"/>
                  </a:lnTo>
                  <a:lnTo>
                    <a:pt x="27103" y="2874339"/>
                  </a:lnTo>
                  <a:lnTo>
                    <a:pt x="49480" y="2906113"/>
                  </a:lnTo>
                  <a:lnTo>
                    <a:pt x="78921" y="2931509"/>
                  </a:lnTo>
                  <a:lnTo>
                    <a:pt x="113651" y="2948991"/>
                  </a:lnTo>
                  <a:lnTo>
                    <a:pt x="151570" y="2957505"/>
                  </a:lnTo>
                  <a:lnTo>
                    <a:pt x="167133" y="2958268"/>
                  </a:lnTo>
                  <a:lnTo>
                    <a:pt x="4355491" y="2958268"/>
                  </a:lnTo>
                  <a:lnTo>
                    <a:pt x="4352143" y="2959469"/>
                  </a:lnTo>
                  <a:lnTo>
                    <a:pt x="4336311" y="2963445"/>
                  </a:lnTo>
                  <a:lnTo>
                    <a:pt x="4320163" y="2965831"/>
                  </a:lnTo>
                  <a:lnTo>
                    <a:pt x="4303699" y="2966626"/>
                  </a:lnTo>
                  <a:close/>
                </a:path>
                <a:path w="4471034" h="2966720">
                  <a:moveTo>
                    <a:pt x="4355491" y="2958268"/>
                  </a:moveTo>
                  <a:lnTo>
                    <a:pt x="4303699" y="2958268"/>
                  </a:lnTo>
                  <a:lnTo>
                    <a:pt x="4311499" y="2958077"/>
                  </a:lnTo>
                  <a:lnTo>
                    <a:pt x="4319262" y="2957505"/>
                  </a:lnTo>
                  <a:lnTo>
                    <a:pt x="4357181" y="2948991"/>
                  </a:lnTo>
                  <a:lnTo>
                    <a:pt x="4391911" y="2931509"/>
                  </a:lnTo>
                  <a:lnTo>
                    <a:pt x="4421352" y="2906113"/>
                  </a:lnTo>
                  <a:lnTo>
                    <a:pt x="4443729" y="2874339"/>
                  </a:lnTo>
                  <a:lnTo>
                    <a:pt x="4457717" y="2838081"/>
                  </a:lnTo>
                  <a:lnTo>
                    <a:pt x="4462477" y="2799492"/>
                  </a:lnTo>
                  <a:lnTo>
                    <a:pt x="4462477" y="167133"/>
                  </a:lnTo>
                  <a:lnTo>
                    <a:pt x="4457717" y="128545"/>
                  </a:lnTo>
                  <a:lnTo>
                    <a:pt x="4443729" y="92286"/>
                  </a:lnTo>
                  <a:lnTo>
                    <a:pt x="4421352" y="60512"/>
                  </a:lnTo>
                  <a:lnTo>
                    <a:pt x="4391911" y="35116"/>
                  </a:lnTo>
                  <a:lnTo>
                    <a:pt x="4357181" y="17635"/>
                  </a:lnTo>
                  <a:lnTo>
                    <a:pt x="4319262" y="9120"/>
                  </a:lnTo>
                  <a:lnTo>
                    <a:pt x="4303699" y="8358"/>
                  </a:lnTo>
                  <a:lnTo>
                    <a:pt x="4355493" y="8358"/>
                  </a:lnTo>
                  <a:lnTo>
                    <a:pt x="4396571" y="28140"/>
                  </a:lnTo>
                  <a:lnTo>
                    <a:pt x="4432960" y="61156"/>
                  </a:lnTo>
                  <a:lnTo>
                    <a:pt x="4458110" y="103174"/>
                  </a:lnTo>
                  <a:lnTo>
                    <a:pt x="4470038" y="150669"/>
                  </a:lnTo>
                  <a:lnTo>
                    <a:pt x="4470834" y="2799492"/>
                  </a:lnTo>
                  <a:lnTo>
                    <a:pt x="4470081" y="2815055"/>
                  </a:lnTo>
                  <a:lnTo>
                    <a:pt x="4458110" y="2863451"/>
                  </a:lnTo>
                  <a:lnTo>
                    <a:pt x="4432960" y="2905469"/>
                  </a:lnTo>
                  <a:lnTo>
                    <a:pt x="4396571" y="2938484"/>
                  </a:lnTo>
                  <a:lnTo>
                    <a:pt x="4367658" y="2953903"/>
                  </a:lnTo>
                  <a:lnTo>
                    <a:pt x="4355491" y="2958268"/>
                  </a:lnTo>
                  <a:close/>
                </a:path>
              </a:pathLst>
            </a:custGeom>
            <a:solidFill>
              <a:srgbClr val="0FB981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58046" y="4245205"/>
              <a:ext cx="3869690" cy="443230"/>
            </a:xfrm>
            <a:custGeom>
              <a:avLst/>
              <a:gdLst/>
              <a:ahLst/>
              <a:cxnLst/>
              <a:rect l="l" t="t" r="r" b="b"/>
              <a:pathLst>
                <a:path w="3869690" h="443229">
                  <a:moveTo>
                    <a:pt x="3775455" y="442905"/>
                  </a:moveTo>
                  <a:lnTo>
                    <a:pt x="93695" y="442905"/>
                  </a:lnTo>
                  <a:lnTo>
                    <a:pt x="87174" y="442260"/>
                  </a:lnTo>
                  <a:lnTo>
                    <a:pt x="50041" y="429659"/>
                  </a:lnTo>
                  <a:lnTo>
                    <a:pt x="20558" y="403810"/>
                  </a:lnTo>
                  <a:lnTo>
                    <a:pt x="3211" y="368641"/>
                  </a:lnTo>
                  <a:lnTo>
                    <a:pt x="0" y="349206"/>
                  </a:lnTo>
                  <a:lnTo>
                    <a:pt x="0" y="342624"/>
                  </a:lnTo>
                  <a:lnTo>
                    <a:pt x="0" y="93694"/>
                  </a:lnTo>
                  <a:lnTo>
                    <a:pt x="10152" y="55811"/>
                  </a:lnTo>
                  <a:lnTo>
                    <a:pt x="34027" y="24710"/>
                  </a:lnTo>
                  <a:lnTo>
                    <a:pt x="67987" y="5112"/>
                  </a:lnTo>
                  <a:lnTo>
                    <a:pt x="93695" y="0"/>
                  </a:lnTo>
                  <a:lnTo>
                    <a:pt x="3775455" y="0"/>
                  </a:lnTo>
                  <a:lnTo>
                    <a:pt x="3813329" y="10148"/>
                  </a:lnTo>
                  <a:lnTo>
                    <a:pt x="3844434" y="34018"/>
                  </a:lnTo>
                  <a:lnTo>
                    <a:pt x="3864036" y="67980"/>
                  </a:lnTo>
                  <a:lnTo>
                    <a:pt x="3869151" y="93694"/>
                  </a:lnTo>
                  <a:lnTo>
                    <a:pt x="3869151" y="349206"/>
                  </a:lnTo>
                  <a:lnTo>
                    <a:pt x="3858996" y="387080"/>
                  </a:lnTo>
                  <a:lnTo>
                    <a:pt x="3835123" y="418190"/>
                  </a:lnTo>
                  <a:lnTo>
                    <a:pt x="3801162" y="437788"/>
                  </a:lnTo>
                  <a:lnTo>
                    <a:pt x="3781975" y="442260"/>
                  </a:lnTo>
                  <a:lnTo>
                    <a:pt x="3775455" y="442905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8045" y="2394236"/>
              <a:ext cx="219074" cy="27304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845345" y="2314247"/>
            <a:ext cx="3877310" cy="2256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1310">
              <a:lnSpc>
                <a:spcPct val="100000"/>
              </a:lnSpc>
              <a:spcBef>
                <a:spcPts val="105"/>
              </a:spcBef>
            </a:pPr>
            <a:r>
              <a:rPr sz="2350" b="1" spc="-455" dirty="0">
                <a:solidFill>
                  <a:srgbClr val="F43F5D"/>
                </a:solidFill>
                <a:latin typeface="Malgun Gothic"/>
                <a:cs typeface="Malgun Gothic"/>
              </a:rPr>
              <a:t>행위</a:t>
            </a:r>
            <a:r>
              <a:rPr sz="2350" b="1" spc="-185" dirty="0">
                <a:solidFill>
                  <a:srgbClr val="F43F5D"/>
                </a:solidFill>
                <a:latin typeface="Malgun Gothic"/>
                <a:cs typeface="Malgun Gothic"/>
              </a:rPr>
              <a:t> </a:t>
            </a:r>
            <a:r>
              <a:rPr sz="2400" b="1" spc="-10" dirty="0">
                <a:solidFill>
                  <a:srgbClr val="F43F5D"/>
                </a:solidFill>
                <a:latin typeface="Malgun Gothic"/>
                <a:cs typeface="Malgun Gothic"/>
              </a:rPr>
              <a:t>(Verb)</a:t>
            </a:r>
            <a:endParaRPr sz="2400">
              <a:latin typeface="Malgun Gothic"/>
              <a:cs typeface="Malgun Gothic"/>
            </a:endParaRPr>
          </a:p>
          <a:p>
            <a:pPr marL="12700" marR="5080">
              <a:lnSpc>
                <a:spcPct val="123400"/>
              </a:lnSpc>
              <a:spcBef>
                <a:spcPts val="1155"/>
              </a:spcBef>
            </a:pPr>
            <a:r>
              <a:rPr sz="1600" spc="-305" dirty="0">
                <a:solidFill>
                  <a:srgbClr val="374050"/>
                </a:solidFill>
                <a:latin typeface="Malgun Gothic"/>
                <a:cs typeface="Malgun Gothic"/>
              </a:rPr>
              <a:t>데이터의</a:t>
            </a:r>
            <a:r>
              <a:rPr sz="1600" spc="-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600" spc="-114" dirty="0">
                <a:solidFill>
                  <a:srgbClr val="374050"/>
                </a:solidFill>
                <a:latin typeface="Malgun Gothic"/>
                <a:cs typeface="Malgun Gothic"/>
              </a:rPr>
              <a:t>CRUD</a:t>
            </a:r>
            <a:r>
              <a:rPr sz="1600" spc="-13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374050"/>
                </a:solidFill>
                <a:latin typeface="Malgun Gothic"/>
                <a:cs typeface="Malgun Gothic"/>
              </a:rPr>
              <a:t>상태</a:t>
            </a:r>
            <a:r>
              <a:rPr sz="1600" spc="-10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600" spc="-270" dirty="0">
                <a:solidFill>
                  <a:srgbClr val="374050"/>
                </a:solidFill>
                <a:latin typeface="Malgun Gothic"/>
                <a:cs typeface="Malgun Gothic"/>
              </a:rPr>
              <a:t>조작은</a:t>
            </a:r>
            <a:r>
              <a:rPr sz="1600" spc="-18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600" spc="-315" dirty="0">
                <a:solidFill>
                  <a:srgbClr val="374050"/>
                </a:solidFill>
                <a:latin typeface="Malgun Gothic"/>
                <a:cs typeface="Malgun Gothic"/>
              </a:rPr>
              <a:t>오직</a:t>
            </a:r>
            <a:r>
              <a:rPr sz="1600" spc="-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600" spc="-30" dirty="0">
                <a:solidFill>
                  <a:srgbClr val="374050"/>
                </a:solidFill>
                <a:latin typeface="Malgun Gothic"/>
                <a:cs typeface="Malgun Gothic"/>
              </a:rPr>
              <a:t>HTTP</a:t>
            </a:r>
            <a:r>
              <a:rPr sz="1600" spc="-14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600" spc="-254" dirty="0">
                <a:solidFill>
                  <a:srgbClr val="374050"/>
                </a:solidFill>
                <a:latin typeface="Malgun Gothic"/>
                <a:cs typeface="Malgun Gothic"/>
              </a:rPr>
              <a:t>표준</a:t>
            </a:r>
            <a:r>
              <a:rPr sz="1600" spc="-1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600" spc="-345" dirty="0">
                <a:solidFill>
                  <a:srgbClr val="374050"/>
                </a:solidFill>
                <a:latin typeface="Malgun Gothic"/>
                <a:cs typeface="Malgun Gothic"/>
              </a:rPr>
              <a:t>메서 </a:t>
            </a:r>
            <a:r>
              <a:rPr sz="1600" spc="-250" dirty="0">
                <a:solidFill>
                  <a:srgbClr val="374050"/>
                </a:solidFill>
                <a:latin typeface="Malgun Gothic"/>
                <a:cs typeface="Malgun Gothic"/>
              </a:rPr>
              <a:t>드만</a:t>
            </a:r>
            <a:r>
              <a:rPr sz="1600" spc="-21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600" spc="-80" dirty="0">
                <a:solidFill>
                  <a:srgbClr val="374050"/>
                </a:solidFill>
                <a:latin typeface="Malgun Gothic"/>
                <a:cs typeface="Malgun Gothic"/>
              </a:rPr>
              <a:t>사용합니다.</a:t>
            </a:r>
            <a:endParaRPr sz="16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sz="1450" spc="-130" dirty="0">
                <a:solidFill>
                  <a:srgbClr val="6A7280"/>
                </a:solidFill>
                <a:latin typeface="Malgun Gothic"/>
                <a:cs typeface="Malgun Gothic"/>
              </a:rPr>
              <a:t>CRUD에</a:t>
            </a:r>
            <a:r>
              <a:rPr sz="1450" spc="-9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50" spc="-270" dirty="0">
                <a:solidFill>
                  <a:srgbClr val="6A7280"/>
                </a:solidFill>
                <a:latin typeface="Malgun Gothic"/>
                <a:cs typeface="Malgun Gothic"/>
              </a:rPr>
              <a:t>대응하여</a:t>
            </a:r>
            <a:r>
              <a:rPr sz="1450" spc="-5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50" spc="-229" dirty="0">
                <a:solidFill>
                  <a:srgbClr val="6A7280"/>
                </a:solidFill>
                <a:latin typeface="Malgun Gothic"/>
                <a:cs typeface="Malgun Gothic"/>
              </a:rPr>
              <a:t>각각</a:t>
            </a:r>
            <a:r>
              <a:rPr sz="1450" spc="-20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50" spc="-35" dirty="0">
                <a:solidFill>
                  <a:srgbClr val="6A7280"/>
                </a:solidFill>
                <a:latin typeface="Malgun Gothic"/>
                <a:cs typeface="Malgun Gothic"/>
              </a:rPr>
              <a:t>GET,</a:t>
            </a:r>
            <a:r>
              <a:rPr sz="1450" spc="-7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50" spc="-45" dirty="0">
                <a:solidFill>
                  <a:srgbClr val="6A7280"/>
                </a:solidFill>
                <a:latin typeface="Malgun Gothic"/>
                <a:cs typeface="Malgun Gothic"/>
              </a:rPr>
              <a:t>POST,</a:t>
            </a:r>
            <a:r>
              <a:rPr sz="1450" spc="-7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50" spc="-20" dirty="0">
                <a:solidFill>
                  <a:srgbClr val="6A7280"/>
                </a:solidFill>
                <a:latin typeface="Malgun Gothic"/>
                <a:cs typeface="Malgun Gothic"/>
              </a:rPr>
              <a:t>PUT,</a:t>
            </a:r>
            <a:r>
              <a:rPr sz="1450" spc="-7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50" spc="-10" dirty="0">
                <a:solidFill>
                  <a:srgbClr val="6A7280"/>
                </a:solidFill>
                <a:latin typeface="Malgun Gothic"/>
                <a:cs typeface="Malgun Gothic"/>
              </a:rPr>
              <a:t>DELETE를</a:t>
            </a:r>
            <a:endParaRPr sz="14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450" spc="-55" dirty="0">
                <a:solidFill>
                  <a:srgbClr val="6A7280"/>
                </a:solidFill>
                <a:latin typeface="Malgun Gothic"/>
                <a:cs typeface="Malgun Gothic"/>
              </a:rPr>
              <a:t>매핑합니다.</a:t>
            </a:r>
            <a:endParaRPr sz="1450">
              <a:latin typeface="Malgun Gothic"/>
              <a:cs typeface="Malgun Gothic"/>
            </a:endParaRPr>
          </a:p>
          <a:p>
            <a:pPr marL="137795">
              <a:lnSpc>
                <a:spcPct val="100000"/>
              </a:lnSpc>
              <a:spcBef>
                <a:spcPts val="1860"/>
              </a:spcBef>
            </a:pPr>
            <a:r>
              <a:rPr sz="1400" b="1" spc="-70" dirty="0">
                <a:solidFill>
                  <a:srgbClr val="F43F5D"/>
                </a:solidFill>
                <a:latin typeface="Malgun Gothic"/>
                <a:cs typeface="Malgun Gothic"/>
              </a:rPr>
              <a:t>GET</a:t>
            </a:r>
            <a:r>
              <a:rPr sz="1400" b="1" spc="95" dirty="0">
                <a:solidFill>
                  <a:srgbClr val="F43F5D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43F5D"/>
                </a:solidFill>
                <a:latin typeface="Malgun Gothic"/>
                <a:cs typeface="Malgun Gothic"/>
              </a:rPr>
              <a:t>(</a:t>
            </a:r>
            <a:r>
              <a:rPr sz="1400" b="1" spc="-285" dirty="0">
                <a:solidFill>
                  <a:srgbClr val="F43F5D"/>
                </a:solidFill>
                <a:latin typeface="Malgun Gothic"/>
                <a:cs typeface="Malgun Gothic"/>
              </a:rPr>
              <a:t> </a:t>
            </a:r>
            <a:r>
              <a:rPr sz="1350" b="1" spc="-80" dirty="0">
                <a:solidFill>
                  <a:srgbClr val="F43F5D"/>
                </a:solidFill>
                <a:latin typeface="Malgun Gothic"/>
                <a:cs typeface="Malgun Gothic"/>
              </a:rPr>
              <a:t>조회</a:t>
            </a:r>
            <a:r>
              <a:rPr sz="1350" b="1" spc="-295" dirty="0">
                <a:solidFill>
                  <a:srgbClr val="F43F5D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43F5D"/>
                </a:solidFill>
                <a:latin typeface="Malgun Gothic"/>
                <a:cs typeface="Malgun Gothic"/>
              </a:rPr>
              <a:t>)</a:t>
            </a:r>
            <a:r>
              <a:rPr sz="1400" b="1" spc="330" dirty="0">
                <a:solidFill>
                  <a:srgbClr val="F43F5D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43F5D"/>
                </a:solidFill>
                <a:latin typeface="Malgun Gothic"/>
                <a:cs typeface="Malgun Gothic"/>
              </a:rPr>
              <a:t>/</a:t>
            </a:r>
            <a:r>
              <a:rPr sz="1400" b="1" spc="245" dirty="0">
                <a:solidFill>
                  <a:srgbClr val="F43F5D"/>
                </a:solidFill>
                <a:latin typeface="Malgun Gothic"/>
                <a:cs typeface="Malgun Gothic"/>
              </a:rPr>
              <a:t> </a:t>
            </a:r>
            <a:r>
              <a:rPr sz="1400" b="1" spc="-60" dirty="0">
                <a:solidFill>
                  <a:srgbClr val="F43F5D"/>
                </a:solidFill>
                <a:latin typeface="Malgun Gothic"/>
                <a:cs typeface="Malgun Gothic"/>
              </a:rPr>
              <a:t>DELETE</a:t>
            </a:r>
            <a:r>
              <a:rPr sz="1400" b="1" spc="185" dirty="0">
                <a:solidFill>
                  <a:srgbClr val="F43F5D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43F5D"/>
                </a:solidFill>
                <a:latin typeface="Malgun Gothic"/>
                <a:cs typeface="Malgun Gothic"/>
              </a:rPr>
              <a:t>(</a:t>
            </a:r>
            <a:r>
              <a:rPr sz="1400" b="1" spc="-285" dirty="0">
                <a:solidFill>
                  <a:srgbClr val="F43F5D"/>
                </a:solidFill>
                <a:latin typeface="Malgun Gothic"/>
                <a:cs typeface="Malgun Gothic"/>
              </a:rPr>
              <a:t> </a:t>
            </a:r>
            <a:r>
              <a:rPr sz="1350" b="1" spc="-25" dirty="0">
                <a:solidFill>
                  <a:srgbClr val="F43F5D"/>
                </a:solidFill>
                <a:latin typeface="Malgun Gothic"/>
                <a:cs typeface="Malgun Gothic"/>
              </a:rPr>
              <a:t>삭제</a:t>
            </a:r>
            <a:r>
              <a:rPr sz="1400" b="1" spc="-25" dirty="0">
                <a:solidFill>
                  <a:srgbClr val="F43F5D"/>
                </a:solidFill>
                <a:latin typeface="Malgun Gothic"/>
                <a:cs typeface="Malgun Gothic"/>
              </a:rPr>
              <a:t>)</a:t>
            </a:r>
            <a:endParaRPr sz="1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800" spc="-719" baseline="4340" dirty="0">
                <a:solidFill>
                  <a:srgbClr val="0FB981"/>
                </a:solidFill>
                <a:latin typeface="Trebuchet MS"/>
                <a:cs typeface="Trebuchet MS"/>
              </a:rPr>
              <a:t>09.</a:t>
            </a:r>
            <a:r>
              <a:rPr sz="4800" spc="202" baseline="4340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3250" spc="-80" dirty="0"/>
              <a:t>REST</a:t>
            </a:r>
            <a:r>
              <a:rPr sz="3250" spc="-395" dirty="0"/>
              <a:t> </a:t>
            </a:r>
            <a:r>
              <a:rPr sz="3250" spc="-65" dirty="0"/>
              <a:t>vs</a:t>
            </a:r>
            <a:r>
              <a:rPr sz="3250" spc="-350" dirty="0"/>
              <a:t> </a:t>
            </a:r>
            <a:r>
              <a:rPr sz="3250" spc="-105" dirty="0"/>
              <a:t>RESTful</a:t>
            </a:r>
            <a:r>
              <a:rPr sz="3250" spc="-320" dirty="0"/>
              <a:t> </a:t>
            </a:r>
            <a:r>
              <a:rPr sz="3250" spc="-610" dirty="0"/>
              <a:t>설계</a:t>
            </a:r>
            <a:r>
              <a:rPr sz="3250" spc="-315" dirty="0"/>
              <a:t> </a:t>
            </a:r>
            <a:r>
              <a:rPr sz="3250" spc="-545" dirty="0"/>
              <a:t>실무</a:t>
            </a:r>
            <a:r>
              <a:rPr sz="3250" spc="-445" dirty="0"/>
              <a:t> </a:t>
            </a:r>
            <a:r>
              <a:rPr sz="3250" spc="-670" dirty="0"/>
              <a:t>예시</a:t>
            </a:r>
            <a:endParaRPr sz="32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2300" y="2226712"/>
            <a:ext cx="9359900" cy="2774950"/>
            <a:chOff x="668535" y="1930406"/>
            <a:chExt cx="9359900" cy="2774950"/>
          </a:xfrm>
        </p:grpSpPr>
        <p:sp>
          <p:nvSpPr>
            <p:cNvPr id="5" name="object 5"/>
            <p:cNvSpPr/>
            <p:nvPr/>
          </p:nvSpPr>
          <p:spPr>
            <a:xfrm>
              <a:off x="672714" y="1934584"/>
              <a:ext cx="9351645" cy="2766695"/>
            </a:xfrm>
            <a:custGeom>
              <a:avLst/>
              <a:gdLst/>
              <a:ahLst/>
              <a:cxnLst/>
              <a:rect l="l" t="t" r="r" b="b"/>
              <a:pathLst>
                <a:path w="9351645" h="2766695">
                  <a:moveTo>
                    <a:pt x="0" y="2603111"/>
                  </a:moveTo>
                  <a:lnTo>
                    <a:pt x="0" y="162955"/>
                  </a:lnTo>
                  <a:lnTo>
                    <a:pt x="195" y="154948"/>
                  </a:lnTo>
                  <a:lnTo>
                    <a:pt x="7014" y="115644"/>
                  </a:lnTo>
                  <a:lnTo>
                    <a:pt x="23177" y="79175"/>
                  </a:lnTo>
                  <a:lnTo>
                    <a:pt x="47728" y="47724"/>
                  </a:lnTo>
                  <a:lnTo>
                    <a:pt x="79187" y="23171"/>
                  </a:lnTo>
                  <a:lnTo>
                    <a:pt x="115651" y="7010"/>
                  </a:lnTo>
                  <a:lnTo>
                    <a:pt x="154950" y="195"/>
                  </a:lnTo>
                  <a:lnTo>
                    <a:pt x="162955" y="0"/>
                  </a:lnTo>
                  <a:lnTo>
                    <a:pt x="9188190" y="0"/>
                  </a:lnTo>
                  <a:lnTo>
                    <a:pt x="9227794" y="4881"/>
                  </a:lnTo>
                  <a:lnTo>
                    <a:pt x="9265007" y="19233"/>
                  </a:lnTo>
                  <a:lnTo>
                    <a:pt x="9297617" y="42200"/>
                  </a:lnTo>
                  <a:lnTo>
                    <a:pt x="9323681" y="72410"/>
                  </a:lnTo>
                  <a:lnTo>
                    <a:pt x="9341623" y="108058"/>
                  </a:lnTo>
                  <a:lnTo>
                    <a:pt x="9350363" y="146979"/>
                  </a:lnTo>
                  <a:lnTo>
                    <a:pt x="9351146" y="162955"/>
                  </a:lnTo>
                  <a:lnTo>
                    <a:pt x="9351146" y="2603111"/>
                  </a:lnTo>
                  <a:lnTo>
                    <a:pt x="9346260" y="2642716"/>
                  </a:lnTo>
                  <a:lnTo>
                    <a:pt x="9331904" y="2679930"/>
                  </a:lnTo>
                  <a:lnTo>
                    <a:pt x="9308939" y="2712540"/>
                  </a:lnTo>
                  <a:lnTo>
                    <a:pt x="9278723" y="2738602"/>
                  </a:lnTo>
                  <a:lnTo>
                    <a:pt x="9243078" y="2756540"/>
                  </a:lnTo>
                  <a:lnTo>
                    <a:pt x="9204162" y="2765283"/>
                  </a:lnTo>
                  <a:lnTo>
                    <a:pt x="9188190" y="2766067"/>
                  </a:lnTo>
                  <a:lnTo>
                    <a:pt x="162955" y="2766067"/>
                  </a:lnTo>
                  <a:lnTo>
                    <a:pt x="123350" y="2761178"/>
                  </a:lnTo>
                  <a:lnTo>
                    <a:pt x="86137" y="2746825"/>
                  </a:lnTo>
                  <a:lnTo>
                    <a:pt x="53527" y="2723860"/>
                  </a:lnTo>
                  <a:lnTo>
                    <a:pt x="27462" y="2693639"/>
                  </a:lnTo>
                  <a:lnTo>
                    <a:pt x="9521" y="2657996"/>
                  </a:lnTo>
                  <a:lnTo>
                    <a:pt x="782" y="2619082"/>
                  </a:lnTo>
                  <a:lnTo>
                    <a:pt x="0" y="2603111"/>
                  </a:lnTo>
                  <a:close/>
                </a:path>
              </a:pathLst>
            </a:custGeom>
            <a:ln w="8356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6884" y="1938755"/>
              <a:ext cx="9343390" cy="560070"/>
            </a:xfrm>
            <a:custGeom>
              <a:avLst/>
              <a:gdLst/>
              <a:ahLst/>
              <a:cxnLst/>
              <a:rect l="l" t="t" r="r" b="b"/>
              <a:pathLst>
                <a:path w="9343390" h="560069">
                  <a:moveTo>
                    <a:pt x="2047392" y="0"/>
                  </a:moveTo>
                  <a:lnTo>
                    <a:pt x="158788" y="0"/>
                  </a:lnTo>
                  <a:lnTo>
                    <a:pt x="143141" y="762"/>
                  </a:lnTo>
                  <a:lnTo>
                    <a:pt x="98018" y="12090"/>
                  </a:lnTo>
                  <a:lnTo>
                    <a:pt x="58102" y="35979"/>
                  </a:lnTo>
                  <a:lnTo>
                    <a:pt x="26733" y="70548"/>
                  </a:lnTo>
                  <a:lnTo>
                    <a:pt x="6794" y="112750"/>
                  </a:lnTo>
                  <a:lnTo>
                    <a:pt x="0" y="158775"/>
                  </a:lnTo>
                  <a:lnTo>
                    <a:pt x="0" y="559904"/>
                  </a:lnTo>
                  <a:lnTo>
                    <a:pt x="2047392" y="559904"/>
                  </a:lnTo>
                  <a:lnTo>
                    <a:pt x="2047392" y="0"/>
                  </a:lnTo>
                  <a:close/>
                </a:path>
                <a:path w="9343390" h="560069">
                  <a:moveTo>
                    <a:pt x="9342793" y="158775"/>
                  </a:moveTo>
                  <a:lnTo>
                    <a:pt x="9335986" y="112750"/>
                  </a:lnTo>
                  <a:lnTo>
                    <a:pt x="9316060" y="70548"/>
                  </a:lnTo>
                  <a:lnTo>
                    <a:pt x="9284691" y="35979"/>
                  </a:lnTo>
                  <a:lnTo>
                    <a:pt x="9244774" y="12090"/>
                  </a:lnTo>
                  <a:lnTo>
                    <a:pt x="9199651" y="762"/>
                  </a:lnTo>
                  <a:lnTo>
                    <a:pt x="9183954" y="0"/>
                  </a:lnTo>
                  <a:lnTo>
                    <a:pt x="5657481" y="0"/>
                  </a:lnTo>
                  <a:lnTo>
                    <a:pt x="5657481" y="559904"/>
                  </a:lnTo>
                  <a:lnTo>
                    <a:pt x="9342793" y="559904"/>
                  </a:lnTo>
                  <a:lnTo>
                    <a:pt x="9342793" y="158775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6884" y="2498660"/>
              <a:ext cx="9343390" cy="2198370"/>
            </a:xfrm>
            <a:custGeom>
              <a:avLst/>
              <a:gdLst/>
              <a:ahLst/>
              <a:cxnLst/>
              <a:rect l="l" t="t" r="r" b="b"/>
              <a:pathLst>
                <a:path w="9343390" h="2198370">
                  <a:moveTo>
                    <a:pt x="9342793" y="0"/>
                  </a:moveTo>
                  <a:lnTo>
                    <a:pt x="5657481" y="0"/>
                  </a:lnTo>
                  <a:lnTo>
                    <a:pt x="2047392" y="0"/>
                  </a:lnTo>
                  <a:lnTo>
                    <a:pt x="0" y="0"/>
                  </a:lnTo>
                  <a:lnTo>
                    <a:pt x="0" y="551535"/>
                  </a:lnTo>
                  <a:lnTo>
                    <a:pt x="0" y="1103083"/>
                  </a:lnTo>
                  <a:lnTo>
                    <a:pt x="0" y="1654619"/>
                  </a:lnTo>
                  <a:lnTo>
                    <a:pt x="0" y="2039035"/>
                  </a:lnTo>
                  <a:lnTo>
                    <a:pt x="762" y="2054669"/>
                  </a:lnTo>
                  <a:lnTo>
                    <a:pt x="12090" y="2099792"/>
                  </a:lnTo>
                  <a:lnTo>
                    <a:pt x="35979" y="2139708"/>
                  </a:lnTo>
                  <a:lnTo>
                    <a:pt x="70548" y="2171077"/>
                  </a:lnTo>
                  <a:lnTo>
                    <a:pt x="112750" y="2191004"/>
                  </a:lnTo>
                  <a:lnTo>
                    <a:pt x="158775" y="2197811"/>
                  </a:lnTo>
                  <a:lnTo>
                    <a:pt x="2047392" y="2197811"/>
                  </a:lnTo>
                  <a:lnTo>
                    <a:pt x="5657481" y="2197811"/>
                  </a:lnTo>
                  <a:lnTo>
                    <a:pt x="9184018" y="2197811"/>
                  </a:lnTo>
                  <a:lnTo>
                    <a:pt x="9199651" y="2197049"/>
                  </a:lnTo>
                  <a:lnTo>
                    <a:pt x="9244774" y="2185720"/>
                  </a:lnTo>
                  <a:lnTo>
                    <a:pt x="9284691" y="2161832"/>
                  </a:lnTo>
                  <a:lnTo>
                    <a:pt x="9316060" y="2127262"/>
                  </a:lnTo>
                  <a:lnTo>
                    <a:pt x="9335986" y="2085047"/>
                  </a:lnTo>
                  <a:lnTo>
                    <a:pt x="9342793" y="2039035"/>
                  </a:lnTo>
                  <a:lnTo>
                    <a:pt x="9342793" y="1654619"/>
                  </a:lnTo>
                  <a:lnTo>
                    <a:pt x="9342793" y="1103083"/>
                  </a:lnTo>
                  <a:lnTo>
                    <a:pt x="9342793" y="551535"/>
                  </a:lnTo>
                  <a:lnTo>
                    <a:pt x="9342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43795" y="2690862"/>
              <a:ext cx="4295775" cy="184150"/>
            </a:xfrm>
            <a:custGeom>
              <a:avLst/>
              <a:gdLst/>
              <a:ahLst/>
              <a:cxnLst/>
              <a:rect l="l" t="t" r="r" b="b"/>
              <a:pathLst>
                <a:path w="4295775" h="184150">
                  <a:moveTo>
                    <a:pt x="309194" y="62458"/>
                  </a:moveTo>
                  <a:lnTo>
                    <a:pt x="295490" y="26060"/>
                  </a:lnTo>
                  <a:lnTo>
                    <a:pt x="263867" y="3403"/>
                  </a:lnTo>
                  <a:lnTo>
                    <a:pt x="246735" y="0"/>
                  </a:lnTo>
                  <a:lnTo>
                    <a:pt x="62458" y="0"/>
                  </a:lnTo>
                  <a:lnTo>
                    <a:pt x="26060" y="13703"/>
                  </a:lnTo>
                  <a:lnTo>
                    <a:pt x="3403" y="45326"/>
                  </a:lnTo>
                  <a:lnTo>
                    <a:pt x="0" y="62458"/>
                  </a:lnTo>
                  <a:lnTo>
                    <a:pt x="0" y="116992"/>
                  </a:lnTo>
                  <a:lnTo>
                    <a:pt x="0" y="121386"/>
                  </a:lnTo>
                  <a:lnTo>
                    <a:pt x="13703" y="157772"/>
                  </a:lnTo>
                  <a:lnTo>
                    <a:pt x="45326" y="180428"/>
                  </a:lnTo>
                  <a:lnTo>
                    <a:pt x="62458" y="183845"/>
                  </a:lnTo>
                  <a:lnTo>
                    <a:pt x="246735" y="183845"/>
                  </a:lnTo>
                  <a:lnTo>
                    <a:pt x="283133" y="170129"/>
                  </a:lnTo>
                  <a:lnTo>
                    <a:pt x="305790" y="138518"/>
                  </a:lnTo>
                  <a:lnTo>
                    <a:pt x="309194" y="121386"/>
                  </a:lnTo>
                  <a:lnTo>
                    <a:pt x="309194" y="62458"/>
                  </a:lnTo>
                  <a:close/>
                </a:path>
                <a:path w="4295775" h="184150">
                  <a:moveTo>
                    <a:pt x="4295343" y="62458"/>
                  </a:moveTo>
                  <a:lnTo>
                    <a:pt x="4281640" y="26060"/>
                  </a:lnTo>
                  <a:lnTo>
                    <a:pt x="4250017" y="3403"/>
                  </a:lnTo>
                  <a:lnTo>
                    <a:pt x="4232872" y="0"/>
                  </a:lnTo>
                  <a:lnTo>
                    <a:pt x="4048607" y="0"/>
                  </a:lnTo>
                  <a:lnTo>
                    <a:pt x="4012209" y="13703"/>
                  </a:lnTo>
                  <a:lnTo>
                    <a:pt x="3989552" y="45326"/>
                  </a:lnTo>
                  <a:lnTo>
                    <a:pt x="3986149" y="62458"/>
                  </a:lnTo>
                  <a:lnTo>
                    <a:pt x="3986149" y="116992"/>
                  </a:lnTo>
                  <a:lnTo>
                    <a:pt x="3986149" y="121386"/>
                  </a:lnTo>
                  <a:lnTo>
                    <a:pt x="3999852" y="157772"/>
                  </a:lnTo>
                  <a:lnTo>
                    <a:pt x="4031475" y="180428"/>
                  </a:lnTo>
                  <a:lnTo>
                    <a:pt x="4048607" y="183845"/>
                  </a:lnTo>
                  <a:lnTo>
                    <a:pt x="4232872" y="183845"/>
                  </a:lnTo>
                  <a:lnTo>
                    <a:pt x="4269283" y="170129"/>
                  </a:lnTo>
                  <a:lnTo>
                    <a:pt x="4291927" y="138518"/>
                  </a:lnTo>
                  <a:lnTo>
                    <a:pt x="4295343" y="121386"/>
                  </a:lnTo>
                  <a:lnTo>
                    <a:pt x="4295343" y="62458"/>
                  </a:lnTo>
                  <a:close/>
                </a:path>
              </a:pathLst>
            </a:custGeom>
            <a:solidFill>
              <a:srgbClr val="61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51593" y="3242410"/>
              <a:ext cx="4521200" cy="735965"/>
            </a:xfrm>
            <a:custGeom>
              <a:avLst/>
              <a:gdLst/>
              <a:ahLst/>
              <a:cxnLst/>
              <a:rect l="l" t="t" r="r" b="b"/>
              <a:pathLst>
                <a:path w="4521200" h="735964">
                  <a:moveTo>
                    <a:pt x="367690" y="613994"/>
                  </a:moveTo>
                  <a:lnTo>
                    <a:pt x="353987" y="577596"/>
                  </a:lnTo>
                  <a:lnTo>
                    <a:pt x="322364" y="554951"/>
                  </a:lnTo>
                  <a:lnTo>
                    <a:pt x="305231" y="551535"/>
                  </a:lnTo>
                  <a:lnTo>
                    <a:pt x="62458" y="551535"/>
                  </a:lnTo>
                  <a:lnTo>
                    <a:pt x="26060" y="565238"/>
                  </a:lnTo>
                  <a:lnTo>
                    <a:pt x="3403" y="596849"/>
                  </a:lnTo>
                  <a:lnTo>
                    <a:pt x="0" y="613994"/>
                  </a:lnTo>
                  <a:lnTo>
                    <a:pt x="0" y="668528"/>
                  </a:lnTo>
                  <a:lnTo>
                    <a:pt x="0" y="672922"/>
                  </a:lnTo>
                  <a:lnTo>
                    <a:pt x="13703" y="709320"/>
                  </a:lnTo>
                  <a:lnTo>
                    <a:pt x="45326" y="731964"/>
                  </a:lnTo>
                  <a:lnTo>
                    <a:pt x="62458" y="735380"/>
                  </a:lnTo>
                  <a:lnTo>
                    <a:pt x="305231" y="735380"/>
                  </a:lnTo>
                  <a:lnTo>
                    <a:pt x="341630" y="721664"/>
                  </a:lnTo>
                  <a:lnTo>
                    <a:pt x="364286" y="690054"/>
                  </a:lnTo>
                  <a:lnTo>
                    <a:pt x="367690" y="672922"/>
                  </a:lnTo>
                  <a:lnTo>
                    <a:pt x="367690" y="613994"/>
                  </a:lnTo>
                  <a:close/>
                </a:path>
                <a:path w="4521200" h="735964">
                  <a:moveTo>
                    <a:pt x="660171" y="62458"/>
                  </a:moveTo>
                  <a:lnTo>
                    <a:pt x="646468" y="26047"/>
                  </a:lnTo>
                  <a:lnTo>
                    <a:pt x="614845" y="3403"/>
                  </a:lnTo>
                  <a:lnTo>
                    <a:pt x="597712" y="0"/>
                  </a:lnTo>
                  <a:lnTo>
                    <a:pt x="354939" y="0"/>
                  </a:lnTo>
                  <a:lnTo>
                    <a:pt x="318541" y="13690"/>
                  </a:lnTo>
                  <a:lnTo>
                    <a:pt x="295884" y="45313"/>
                  </a:lnTo>
                  <a:lnTo>
                    <a:pt x="292481" y="62458"/>
                  </a:lnTo>
                  <a:lnTo>
                    <a:pt x="292481" y="116992"/>
                  </a:lnTo>
                  <a:lnTo>
                    <a:pt x="292481" y="121373"/>
                  </a:lnTo>
                  <a:lnTo>
                    <a:pt x="306184" y="157772"/>
                  </a:lnTo>
                  <a:lnTo>
                    <a:pt x="337807" y="180416"/>
                  </a:lnTo>
                  <a:lnTo>
                    <a:pt x="354939" y="183832"/>
                  </a:lnTo>
                  <a:lnTo>
                    <a:pt x="597712" y="183832"/>
                  </a:lnTo>
                  <a:lnTo>
                    <a:pt x="634111" y="170129"/>
                  </a:lnTo>
                  <a:lnTo>
                    <a:pt x="656767" y="138518"/>
                  </a:lnTo>
                  <a:lnTo>
                    <a:pt x="660171" y="121373"/>
                  </a:lnTo>
                  <a:lnTo>
                    <a:pt x="660171" y="62458"/>
                  </a:lnTo>
                  <a:close/>
                </a:path>
                <a:path w="4521200" h="735964">
                  <a:moveTo>
                    <a:pt x="4520971" y="62458"/>
                  </a:moveTo>
                  <a:lnTo>
                    <a:pt x="4507268" y="26047"/>
                  </a:lnTo>
                  <a:lnTo>
                    <a:pt x="4475645" y="3403"/>
                  </a:lnTo>
                  <a:lnTo>
                    <a:pt x="4458513" y="0"/>
                  </a:lnTo>
                  <a:lnTo>
                    <a:pt x="4215739" y="0"/>
                  </a:lnTo>
                  <a:lnTo>
                    <a:pt x="4179341" y="13690"/>
                  </a:lnTo>
                  <a:lnTo>
                    <a:pt x="4156684" y="45313"/>
                  </a:lnTo>
                  <a:lnTo>
                    <a:pt x="4153281" y="62458"/>
                  </a:lnTo>
                  <a:lnTo>
                    <a:pt x="4153281" y="116992"/>
                  </a:lnTo>
                  <a:lnTo>
                    <a:pt x="4153281" y="121373"/>
                  </a:lnTo>
                  <a:lnTo>
                    <a:pt x="4166984" y="157772"/>
                  </a:lnTo>
                  <a:lnTo>
                    <a:pt x="4198594" y="180416"/>
                  </a:lnTo>
                  <a:lnTo>
                    <a:pt x="4215739" y="183832"/>
                  </a:lnTo>
                  <a:lnTo>
                    <a:pt x="4458513" y="183832"/>
                  </a:lnTo>
                  <a:lnTo>
                    <a:pt x="4494911" y="170129"/>
                  </a:lnTo>
                  <a:lnTo>
                    <a:pt x="4517555" y="138518"/>
                  </a:lnTo>
                  <a:lnTo>
                    <a:pt x="4520971" y="121373"/>
                  </a:lnTo>
                  <a:lnTo>
                    <a:pt x="4520971" y="62458"/>
                  </a:lnTo>
                  <a:close/>
                </a:path>
              </a:pathLst>
            </a:custGeom>
            <a:solidFill>
              <a:srgbClr val="98C2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04595" y="3793945"/>
              <a:ext cx="309245" cy="184150"/>
            </a:xfrm>
            <a:custGeom>
              <a:avLst/>
              <a:gdLst/>
              <a:ahLst/>
              <a:cxnLst/>
              <a:rect l="l" t="t" r="r" b="b"/>
              <a:pathLst>
                <a:path w="309245" h="184150">
                  <a:moveTo>
                    <a:pt x="246734" y="183843"/>
                  </a:moveTo>
                  <a:lnTo>
                    <a:pt x="62464" y="183843"/>
                  </a:lnTo>
                  <a:lnTo>
                    <a:pt x="58116" y="183414"/>
                  </a:lnTo>
                  <a:lnTo>
                    <a:pt x="22684" y="167362"/>
                  </a:lnTo>
                  <a:lnTo>
                    <a:pt x="2140" y="134335"/>
                  </a:lnTo>
                  <a:lnTo>
                    <a:pt x="0" y="121380"/>
                  </a:lnTo>
                  <a:lnTo>
                    <a:pt x="0" y="116993"/>
                  </a:lnTo>
                  <a:lnTo>
                    <a:pt x="0" y="62462"/>
                  </a:lnTo>
                  <a:lnTo>
                    <a:pt x="13705" y="26057"/>
                  </a:lnTo>
                  <a:lnTo>
                    <a:pt x="45324" y="3407"/>
                  </a:lnTo>
                  <a:lnTo>
                    <a:pt x="62464" y="0"/>
                  </a:lnTo>
                  <a:lnTo>
                    <a:pt x="246734" y="0"/>
                  </a:lnTo>
                  <a:lnTo>
                    <a:pt x="283136" y="13701"/>
                  </a:lnTo>
                  <a:lnTo>
                    <a:pt x="305788" y="45317"/>
                  </a:lnTo>
                  <a:lnTo>
                    <a:pt x="309197" y="62462"/>
                  </a:lnTo>
                  <a:lnTo>
                    <a:pt x="309197" y="121380"/>
                  </a:lnTo>
                  <a:lnTo>
                    <a:pt x="295491" y="157777"/>
                  </a:lnTo>
                  <a:lnTo>
                    <a:pt x="263872" y="180427"/>
                  </a:lnTo>
                  <a:lnTo>
                    <a:pt x="251081" y="183414"/>
                  </a:lnTo>
                  <a:lnTo>
                    <a:pt x="246734" y="183843"/>
                  </a:lnTo>
                  <a:close/>
                </a:path>
              </a:pathLst>
            </a:custGeom>
            <a:solidFill>
              <a:srgbClr val="D09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60233" y="4345488"/>
              <a:ext cx="309245" cy="184150"/>
            </a:xfrm>
            <a:custGeom>
              <a:avLst/>
              <a:gdLst/>
              <a:ahLst/>
              <a:cxnLst/>
              <a:rect l="l" t="t" r="r" b="b"/>
              <a:pathLst>
                <a:path w="309245" h="184150">
                  <a:moveTo>
                    <a:pt x="246734" y="183843"/>
                  </a:moveTo>
                  <a:lnTo>
                    <a:pt x="62464" y="183843"/>
                  </a:lnTo>
                  <a:lnTo>
                    <a:pt x="58116" y="183414"/>
                  </a:lnTo>
                  <a:lnTo>
                    <a:pt x="22684" y="167362"/>
                  </a:lnTo>
                  <a:lnTo>
                    <a:pt x="2140" y="134335"/>
                  </a:lnTo>
                  <a:lnTo>
                    <a:pt x="0" y="121380"/>
                  </a:lnTo>
                  <a:lnTo>
                    <a:pt x="0" y="116993"/>
                  </a:lnTo>
                  <a:lnTo>
                    <a:pt x="0" y="62462"/>
                  </a:lnTo>
                  <a:lnTo>
                    <a:pt x="13705" y="26053"/>
                  </a:lnTo>
                  <a:lnTo>
                    <a:pt x="45325" y="3407"/>
                  </a:lnTo>
                  <a:lnTo>
                    <a:pt x="62464" y="0"/>
                  </a:lnTo>
                  <a:lnTo>
                    <a:pt x="246734" y="0"/>
                  </a:lnTo>
                  <a:lnTo>
                    <a:pt x="283135" y="13701"/>
                  </a:lnTo>
                  <a:lnTo>
                    <a:pt x="305788" y="45320"/>
                  </a:lnTo>
                  <a:lnTo>
                    <a:pt x="309197" y="62462"/>
                  </a:lnTo>
                  <a:lnTo>
                    <a:pt x="309197" y="121380"/>
                  </a:lnTo>
                  <a:lnTo>
                    <a:pt x="295492" y="157777"/>
                  </a:lnTo>
                  <a:lnTo>
                    <a:pt x="263872" y="180431"/>
                  </a:lnTo>
                  <a:lnTo>
                    <a:pt x="251081" y="183414"/>
                  </a:lnTo>
                  <a:lnTo>
                    <a:pt x="246734" y="183843"/>
                  </a:lnTo>
                  <a:close/>
                </a:path>
              </a:pathLst>
            </a:custGeom>
            <a:solidFill>
              <a:srgbClr val="61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21029" y="4345488"/>
              <a:ext cx="485140" cy="184150"/>
            </a:xfrm>
            <a:custGeom>
              <a:avLst/>
              <a:gdLst/>
              <a:ahLst/>
              <a:cxnLst/>
              <a:rect l="l" t="t" r="r" b="b"/>
              <a:pathLst>
                <a:path w="485140" h="184150">
                  <a:moveTo>
                    <a:pt x="422223" y="183843"/>
                  </a:moveTo>
                  <a:lnTo>
                    <a:pt x="62463" y="183843"/>
                  </a:lnTo>
                  <a:lnTo>
                    <a:pt x="58115" y="183414"/>
                  </a:lnTo>
                  <a:lnTo>
                    <a:pt x="22684" y="167362"/>
                  </a:lnTo>
                  <a:lnTo>
                    <a:pt x="2140" y="134335"/>
                  </a:lnTo>
                  <a:lnTo>
                    <a:pt x="0" y="121380"/>
                  </a:lnTo>
                  <a:lnTo>
                    <a:pt x="0" y="116993"/>
                  </a:lnTo>
                  <a:lnTo>
                    <a:pt x="0" y="62462"/>
                  </a:lnTo>
                  <a:lnTo>
                    <a:pt x="13704" y="26053"/>
                  </a:lnTo>
                  <a:lnTo>
                    <a:pt x="45324" y="3407"/>
                  </a:lnTo>
                  <a:lnTo>
                    <a:pt x="62463" y="0"/>
                  </a:lnTo>
                  <a:lnTo>
                    <a:pt x="422223" y="0"/>
                  </a:lnTo>
                  <a:lnTo>
                    <a:pt x="458625" y="13701"/>
                  </a:lnTo>
                  <a:lnTo>
                    <a:pt x="481278" y="45320"/>
                  </a:lnTo>
                  <a:lnTo>
                    <a:pt x="484688" y="62462"/>
                  </a:lnTo>
                  <a:lnTo>
                    <a:pt x="484688" y="121380"/>
                  </a:lnTo>
                  <a:lnTo>
                    <a:pt x="470981" y="157777"/>
                  </a:lnTo>
                  <a:lnTo>
                    <a:pt x="439362" y="180431"/>
                  </a:lnTo>
                  <a:lnTo>
                    <a:pt x="426571" y="183414"/>
                  </a:lnTo>
                  <a:lnTo>
                    <a:pt x="422223" y="183843"/>
                  </a:lnTo>
                  <a:close/>
                </a:path>
              </a:pathLst>
            </a:custGeom>
            <a:solidFill>
              <a:srgbClr val="DF6B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812048"/>
              </p:ext>
            </p:extLst>
          </p:nvPr>
        </p:nvGraphicFramePr>
        <p:xfrm>
          <a:off x="622300" y="2235062"/>
          <a:ext cx="9368154" cy="2755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5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2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0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1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450" b="1" spc="-275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작업</a:t>
                      </a:r>
                      <a:r>
                        <a:rPr sz="1450" b="1" spc="-100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b="1" spc="-290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유형</a:t>
                      </a:r>
                      <a:endParaRPr sz="1450">
                        <a:latin typeface="Malgun Gothic"/>
                        <a:cs typeface="Malgun Gothic"/>
                      </a:endParaRPr>
                    </a:p>
                  </a:txBody>
                  <a:tcPr marL="0" marR="0" marT="158115" marB="0">
                    <a:lnB w="19050">
                      <a:solidFill>
                        <a:srgbClr val="A6F2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450" b="1" spc="-210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동사</a:t>
                      </a:r>
                      <a:r>
                        <a:rPr sz="1450" b="1" spc="-215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b="1" spc="-220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기반</a:t>
                      </a:r>
                      <a:r>
                        <a:rPr sz="1450" b="1" spc="-195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b="1" spc="-204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비</a:t>
                      </a:r>
                      <a:r>
                        <a:rPr sz="1500" b="1" spc="-204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sz="1500" b="1" spc="-65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RESTful</a:t>
                      </a:r>
                      <a:r>
                        <a:rPr sz="1500" b="1" spc="-135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140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API</a:t>
                      </a:r>
                      <a:r>
                        <a:rPr sz="1500" b="1" spc="-25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20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(Bad)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151765" marB="0">
                    <a:lnB w="19050">
                      <a:solidFill>
                        <a:srgbClr val="A6F2D0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2674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450" b="1" spc="-235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리소스</a:t>
                      </a:r>
                      <a:r>
                        <a:rPr sz="1450" b="1" spc="-180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b="1" spc="-220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기반</a:t>
                      </a:r>
                      <a:r>
                        <a:rPr sz="1450" b="1" spc="-195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65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RESTful</a:t>
                      </a:r>
                      <a:r>
                        <a:rPr sz="1500" b="1" spc="-135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140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API</a:t>
                      </a:r>
                      <a:r>
                        <a:rPr sz="1500" b="1" spc="-30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(Good)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151765" marB="0">
                    <a:lnB w="19050">
                      <a:solidFill>
                        <a:srgbClr val="A6F2D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450" spc="-229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사용자</a:t>
                      </a:r>
                      <a:r>
                        <a:rPr sz="1450" spc="-21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6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전체</a:t>
                      </a:r>
                      <a:r>
                        <a:rPr sz="1450" spc="-9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31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조회</a:t>
                      </a:r>
                      <a:endParaRPr sz="1450">
                        <a:latin typeface="Malgun Gothic"/>
                        <a:cs typeface="Malgun Gothic"/>
                      </a:endParaRPr>
                    </a:p>
                  </a:txBody>
                  <a:tcPr marL="0" marR="0" marT="166370" marB="0">
                    <a:lnT w="19050">
                      <a:solidFill>
                        <a:srgbClr val="A6F2D0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ct val="100000"/>
                        </a:lnSpc>
                        <a:spcBef>
                          <a:spcPts val="1265"/>
                        </a:spcBef>
                        <a:tabLst>
                          <a:tab pos="388620" algn="l"/>
                        </a:tabLst>
                      </a:pPr>
                      <a:r>
                        <a:rPr sz="8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GET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	</a:t>
                      </a:r>
                      <a:r>
                        <a:rPr sz="1300" spc="80" dirty="0">
                          <a:solidFill>
                            <a:srgbClr val="F43F5D"/>
                          </a:solidFill>
                          <a:latin typeface="Malgun Gothic"/>
                          <a:cs typeface="Malgun Gothic"/>
                        </a:rPr>
                        <a:t>/get_all_users</a:t>
                      </a:r>
                      <a:endParaRPr sz="1300">
                        <a:latin typeface="Malgun Gothic"/>
                        <a:cs typeface="Malgun Gothic"/>
                      </a:endParaRPr>
                    </a:p>
                  </a:txBody>
                  <a:tcPr marL="0" marR="0" marT="160655" marB="0">
                    <a:lnT w="19050">
                      <a:solidFill>
                        <a:srgbClr val="A6F2D0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R="30480" algn="r">
                        <a:lnSpc>
                          <a:spcPct val="100000"/>
                        </a:lnSpc>
                      </a:pPr>
                      <a:r>
                        <a:rPr sz="8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GET</a:t>
                      </a:r>
                      <a:endParaRPr sz="850">
                        <a:latin typeface="Malgun Gothic"/>
                        <a:cs typeface="Malgun Gothic"/>
                      </a:endParaRPr>
                    </a:p>
                  </a:txBody>
                  <a:tcPr marL="0" marR="0" marT="107950" marB="0">
                    <a:lnT w="19050">
                      <a:solidFill>
                        <a:srgbClr val="A6F2D0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1270" algn="ctr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sz="1300" spc="55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/users</a:t>
                      </a:r>
                      <a:endParaRPr sz="1300">
                        <a:latin typeface="Malgun Gothic"/>
                        <a:cs typeface="Malgun Gothic"/>
                      </a:endParaRPr>
                    </a:p>
                  </a:txBody>
                  <a:tcPr marL="0" marR="0" marT="160655" marB="0">
                    <a:lnT w="19050">
                      <a:solidFill>
                        <a:srgbClr val="A6F2D0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450" spc="-28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새</a:t>
                      </a:r>
                      <a:r>
                        <a:rPr sz="1450" spc="-10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29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사용자</a:t>
                      </a:r>
                      <a:r>
                        <a:rPr sz="1450" spc="-21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등록</a:t>
                      </a:r>
                      <a:endParaRPr sz="1450">
                        <a:latin typeface="Malgun Gothic"/>
                        <a:cs typeface="Malgun Gothic"/>
                      </a:endParaRPr>
                    </a:p>
                  </a:txBody>
                  <a:tcPr marL="0" marR="0" marT="162560" marB="0">
                    <a:lnT w="9525">
                      <a:solidFill>
                        <a:srgbClr val="F2F4F5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ct val="100000"/>
                        </a:lnSpc>
                        <a:spcBef>
                          <a:spcPts val="1230"/>
                        </a:spcBef>
                        <a:tabLst>
                          <a:tab pos="447040" algn="l"/>
                        </a:tabLst>
                      </a:pPr>
                      <a:r>
                        <a:rPr sz="850" b="1" spc="-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POST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	</a:t>
                      </a:r>
                      <a:r>
                        <a:rPr sz="1300" spc="-10" dirty="0">
                          <a:solidFill>
                            <a:srgbClr val="F43F5D"/>
                          </a:solidFill>
                          <a:latin typeface="Malgun Gothic"/>
                          <a:cs typeface="Malgun Gothic"/>
                        </a:rPr>
                        <a:t>/createUser</a:t>
                      </a:r>
                      <a:endParaRPr sz="1300">
                        <a:latin typeface="Malgun Gothic"/>
                        <a:cs typeface="Malgun Gothic"/>
                      </a:endParaRPr>
                    </a:p>
                  </a:txBody>
                  <a:tcPr marL="0" marR="0" marT="156210" marB="0">
                    <a:lnT w="9525">
                      <a:solidFill>
                        <a:srgbClr val="F2F4F5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1" spc="-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POST</a:t>
                      </a:r>
                      <a:endParaRPr sz="850">
                        <a:latin typeface="Malgun Gothic"/>
                        <a:cs typeface="Malgun Gothic"/>
                      </a:endParaRPr>
                    </a:p>
                  </a:txBody>
                  <a:tcPr marL="0" marR="0" marT="104139" marB="0">
                    <a:lnT w="9525">
                      <a:solidFill>
                        <a:srgbClr val="F2F4F5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12850"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300" spc="55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/users</a:t>
                      </a:r>
                      <a:endParaRPr sz="1300">
                        <a:latin typeface="Malgun Gothic"/>
                        <a:cs typeface="Malgun Gothic"/>
                      </a:endParaRPr>
                    </a:p>
                  </a:txBody>
                  <a:tcPr marL="0" marR="0" marT="156210" marB="0">
                    <a:lnT w="9525">
                      <a:solidFill>
                        <a:srgbClr val="F2F4F5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450" spc="-27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특정</a:t>
                      </a:r>
                      <a:r>
                        <a:rPr sz="1450" spc="-7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29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사용자</a:t>
                      </a:r>
                      <a:r>
                        <a:rPr sz="1450" spc="-21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30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수정</a:t>
                      </a:r>
                      <a:endParaRPr sz="1450">
                        <a:latin typeface="Malgun Gothic"/>
                        <a:cs typeface="Malgun Gothic"/>
                      </a:endParaRPr>
                    </a:p>
                  </a:txBody>
                  <a:tcPr marL="0" marR="0" marT="162560" marB="0">
                    <a:lnT w="9525">
                      <a:solidFill>
                        <a:srgbClr val="F2F4F5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ct val="100000"/>
                        </a:lnSpc>
                        <a:spcBef>
                          <a:spcPts val="1230"/>
                        </a:spcBef>
                        <a:tabLst>
                          <a:tab pos="447040" algn="l"/>
                        </a:tabLst>
                      </a:pPr>
                      <a:r>
                        <a:rPr sz="850" b="1" spc="-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POST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	</a:t>
                      </a:r>
                      <a:r>
                        <a:rPr sz="1300" spc="-10" dirty="0">
                          <a:solidFill>
                            <a:srgbClr val="F43F5D"/>
                          </a:solidFill>
                          <a:latin typeface="Malgun Gothic"/>
                          <a:cs typeface="Malgun Gothic"/>
                        </a:rPr>
                        <a:t>/update_user?id=42</a:t>
                      </a:r>
                      <a:endParaRPr sz="1300">
                        <a:latin typeface="Malgun Gothic"/>
                        <a:cs typeface="Malgun Gothic"/>
                      </a:endParaRPr>
                    </a:p>
                  </a:txBody>
                  <a:tcPr marL="0" marR="0" marT="156210" marB="0">
                    <a:lnT w="9525">
                      <a:solidFill>
                        <a:srgbClr val="F2F4F5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R="155575" algn="r">
                        <a:lnSpc>
                          <a:spcPct val="100000"/>
                        </a:lnSpc>
                      </a:pPr>
                      <a:r>
                        <a:rPr sz="8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PUT</a:t>
                      </a:r>
                      <a:endParaRPr sz="850">
                        <a:latin typeface="Malgun Gothic"/>
                        <a:cs typeface="Malgun Gothic"/>
                      </a:endParaRPr>
                    </a:p>
                  </a:txBody>
                  <a:tcPr marL="0" marR="0" marT="104139" marB="0">
                    <a:lnT w="9525">
                      <a:solidFill>
                        <a:srgbClr val="F2F4F5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635"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300" spc="-10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/users/42</a:t>
                      </a:r>
                      <a:endParaRPr sz="1300">
                        <a:latin typeface="Malgun Gothic"/>
                        <a:cs typeface="Malgun Gothic"/>
                      </a:endParaRPr>
                    </a:p>
                  </a:txBody>
                  <a:tcPr marL="0" marR="0" marT="156210" marB="0">
                    <a:lnT w="9525">
                      <a:solidFill>
                        <a:srgbClr val="F2F4F5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450" spc="-27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특정</a:t>
                      </a:r>
                      <a:r>
                        <a:rPr sz="1450" spc="-7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29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사용자</a:t>
                      </a:r>
                      <a:r>
                        <a:rPr sz="1450" spc="-21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31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탈퇴</a:t>
                      </a:r>
                      <a:endParaRPr sz="1450">
                        <a:latin typeface="Malgun Gothic"/>
                        <a:cs typeface="Malgun Gothic"/>
                      </a:endParaRPr>
                    </a:p>
                  </a:txBody>
                  <a:tcPr marL="0" marR="0" marT="162560" marB="0">
                    <a:lnT w="9525">
                      <a:solidFill>
                        <a:srgbClr val="F2F4F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ct val="100000"/>
                        </a:lnSpc>
                        <a:spcBef>
                          <a:spcPts val="1230"/>
                        </a:spcBef>
                        <a:tabLst>
                          <a:tab pos="388620" algn="l"/>
                        </a:tabLst>
                      </a:pPr>
                      <a:r>
                        <a:rPr sz="8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GET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	</a:t>
                      </a:r>
                      <a:r>
                        <a:rPr sz="1300" spc="-10" dirty="0">
                          <a:solidFill>
                            <a:srgbClr val="F43F5D"/>
                          </a:solidFill>
                          <a:latin typeface="Malgun Gothic"/>
                          <a:cs typeface="Malgun Gothic"/>
                        </a:rPr>
                        <a:t>/users/delete/42</a:t>
                      </a:r>
                      <a:endParaRPr sz="1300">
                        <a:latin typeface="Malgun Gothic"/>
                        <a:cs typeface="Malgun Gothic"/>
                      </a:endParaRPr>
                    </a:p>
                  </a:txBody>
                  <a:tcPr marL="0" marR="0" marT="156210" marB="0">
                    <a:lnT w="9525">
                      <a:solidFill>
                        <a:srgbClr val="F2F4F5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1249045">
                        <a:lnSpc>
                          <a:spcPct val="100000"/>
                        </a:lnSpc>
                        <a:spcBef>
                          <a:spcPts val="1230"/>
                        </a:spcBef>
                        <a:tabLst>
                          <a:tab pos="1750060" algn="l"/>
                        </a:tabLst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DELETE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	</a:t>
                      </a:r>
                      <a:r>
                        <a:rPr sz="1300" spc="-10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/users/42</a:t>
                      </a:r>
                      <a:endParaRPr sz="1300">
                        <a:latin typeface="Malgun Gothic"/>
                        <a:cs typeface="Malgun Gothic"/>
                      </a:endParaRPr>
                    </a:p>
                  </a:txBody>
                  <a:tcPr marL="0" marR="0" marT="156210" marB="0">
                    <a:lnT w="9525">
                      <a:solidFill>
                        <a:srgbClr val="F2F4F5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2454079" y="5161083"/>
            <a:ext cx="6732585" cy="2173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dirty="0">
                <a:solidFill>
                  <a:srgbClr val="6266F1"/>
                </a:solidFill>
                <a:latin typeface="Segoe UI Emoji"/>
                <a:cs typeface="Segoe UI Emoji"/>
              </a:rPr>
              <a:t>💡</a:t>
            </a:r>
            <a:r>
              <a:rPr sz="1300" spc="395" dirty="0">
                <a:solidFill>
                  <a:srgbClr val="6266F1"/>
                </a:solidFill>
                <a:latin typeface="Segoe UI Emoji"/>
                <a:cs typeface="Segoe UI Emoji"/>
              </a:rPr>
              <a:t> </a:t>
            </a:r>
            <a:r>
              <a:rPr sz="1300" b="1" spc="-110" dirty="0">
                <a:solidFill>
                  <a:srgbClr val="6266F1"/>
                </a:solidFill>
                <a:latin typeface="Malgun Gothic"/>
                <a:cs typeface="Malgun Gothic"/>
              </a:rPr>
              <a:t>URI에는</a:t>
            </a:r>
            <a:r>
              <a:rPr sz="1300" b="1" spc="-160" dirty="0">
                <a:solidFill>
                  <a:srgbClr val="6266F1"/>
                </a:solidFill>
                <a:latin typeface="Malgun Gothic"/>
                <a:cs typeface="Malgun Gothic"/>
              </a:rPr>
              <a:t> </a:t>
            </a:r>
            <a:r>
              <a:rPr sz="1300" b="1" spc="-250" dirty="0">
                <a:solidFill>
                  <a:srgbClr val="6266F1"/>
                </a:solidFill>
                <a:latin typeface="Malgun Gothic"/>
                <a:cs typeface="Malgun Gothic"/>
              </a:rPr>
              <a:t>오직</a:t>
            </a:r>
            <a:r>
              <a:rPr sz="1300" b="1" spc="-65" dirty="0">
                <a:solidFill>
                  <a:srgbClr val="6266F1"/>
                </a:solidFill>
                <a:latin typeface="Malgun Gothic"/>
                <a:cs typeface="Malgun Gothic"/>
              </a:rPr>
              <a:t> </a:t>
            </a:r>
            <a:r>
              <a:rPr sz="1300" b="1" spc="-90" dirty="0">
                <a:solidFill>
                  <a:srgbClr val="6266F1"/>
                </a:solidFill>
                <a:latin typeface="Malgun Gothic"/>
                <a:cs typeface="Malgun Gothic"/>
              </a:rPr>
              <a:t>'자원(Noun)'만</a:t>
            </a:r>
            <a:r>
              <a:rPr sz="1300" b="1" spc="-175" dirty="0">
                <a:solidFill>
                  <a:srgbClr val="6266F1"/>
                </a:solidFill>
                <a:latin typeface="Malgun Gothic"/>
                <a:cs typeface="Malgun Gothic"/>
              </a:rPr>
              <a:t> </a:t>
            </a:r>
            <a:r>
              <a:rPr sz="1300" b="1" spc="-165" dirty="0">
                <a:solidFill>
                  <a:srgbClr val="6266F1"/>
                </a:solidFill>
                <a:latin typeface="Malgun Gothic"/>
                <a:cs typeface="Malgun Gothic"/>
              </a:rPr>
              <a:t>남기고,</a:t>
            </a:r>
            <a:r>
              <a:rPr sz="1300" b="1" spc="-65" dirty="0">
                <a:solidFill>
                  <a:srgbClr val="6266F1"/>
                </a:solidFill>
                <a:latin typeface="Malgun Gothic"/>
                <a:cs typeface="Malgun Gothic"/>
              </a:rPr>
              <a:t> </a:t>
            </a:r>
            <a:r>
              <a:rPr sz="1300" b="1" spc="-210" dirty="0">
                <a:solidFill>
                  <a:srgbClr val="6266F1"/>
                </a:solidFill>
                <a:latin typeface="Malgun Gothic"/>
                <a:cs typeface="Malgun Gothic"/>
              </a:rPr>
              <a:t>행위는</a:t>
            </a:r>
            <a:r>
              <a:rPr sz="1300" b="1" spc="-160" dirty="0">
                <a:solidFill>
                  <a:srgbClr val="6266F1"/>
                </a:solidFill>
                <a:latin typeface="Malgun Gothic"/>
                <a:cs typeface="Malgun Gothic"/>
              </a:rPr>
              <a:t> </a:t>
            </a:r>
            <a:r>
              <a:rPr sz="1300" b="1" spc="-40" dirty="0">
                <a:solidFill>
                  <a:srgbClr val="6266F1"/>
                </a:solidFill>
                <a:latin typeface="Malgun Gothic"/>
                <a:cs typeface="Malgun Gothic"/>
              </a:rPr>
              <a:t>'HTTP</a:t>
            </a:r>
            <a:r>
              <a:rPr sz="1300" b="1" spc="-120" dirty="0">
                <a:solidFill>
                  <a:srgbClr val="6266F1"/>
                </a:solidFill>
                <a:latin typeface="Malgun Gothic"/>
                <a:cs typeface="Malgun Gothic"/>
              </a:rPr>
              <a:t> </a:t>
            </a:r>
            <a:r>
              <a:rPr sz="1300" b="1" spc="-80" dirty="0">
                <a:solidFill>
                  <a:srgbClr val="6266F1"/>
                </a:solidFill>
                <a:latin typeface="Malgun Gothic"/>
                <a:cs typeface="Malgun Gothic"/>
              </a:rPr>
              <a:t>Method(Verb)'에</a:t>
            </a:r>
            <a:r>
              <a:rPr sz="1300" b="1" spc="-95" dirty="0">
                <a:solidFill>
                  <a:srgbClr val="6266F1"/>
                </a:solidFill>
                <a:latin typeface="Malgun Gothic"/>
                <a:cs typeface="Malgun Gothic"/>
              </a:rPr>
              <a:t> </a:t>
            </a:r>
            <a:r>
              <a:rPr sz="1300" b="1" spc="-120" dirty="0">
                <a:solidFill>
                  <a:srgbClr val="6266F1"/>
                </a:solidFill>
                <a:latin typeface="Malgun Gothic"/>
                <a:cs typeface="Malgun Gothic"/>
              </a:rPr>
              <a:t>양보하세요!</a:t>
            </a:r>
            <a:endParaRPr sz="13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800" spc="-847" baseline="4340" dirty="0">
                <a:solidFill>
                  <a:srgbClr val="0FB981"/>
                </a:solidFill>
                <a:latin typeface="Trebuchet MS"/>
                <a:cs typeface="Trebuchet MS"/>
              </a:rPr>
              <a:t>10.</a:t>
            </a:r>
            <a:r>
              <a:rPr sz="4800" spc="187" baseline="4340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3250" spc="-575" dirty="0"/>
              <a:t>우리는</a:t>
            </a:r>
            <a:r>
              <a:rPr sz="3250" spc="-455" dirty="0"/>
              <a:t> </a:t>
            </a:r>
            <a:r>
              <a:rPr sz="3250" spc="-509" dirty="0"/>
              <a:t>진짜</a:t>
            </a:r>
            <a:r>
              <a:rPr sz="3250" spc="-525" dirty="0"/>
              <a:t> </a:t>
            </a:r>
            <a:r>
              <a:rPr sz="3250" spc="-85" dirty="0"/>
              <a:t>REST'ful'</a:t>
            </a:r>
            <a:r>
              <a:rPr sz="3250" spc="-120" dirty="0"/>
              <a:t> </a:t>
            </a:r>
            <a:r>
              <a:rPr sz="3250" spc="-480" dirty="0"/>
              <a:t>할까요?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835" y="2506209"/>
            <a:ext cx="3729990" cy="2029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150" b="1" spc="-135" dirty="0">
                <a:solidFill>
                  <a:srgbClr val="6266F1"/>
                </a:solidFill>
                <a:latin typeface="Trebuchet MS"/>
                <a:cs typeface="Trebuchet MS"/>
              </a:rPr>
              <a:t>1</a:t>
            </a:r>
            <a:r>
              <a:rPr sz="13150" b="1" spc="-985" dirty="0">
                <a:solidFill>
                  <a:srgbClr val="6266F1"/>
                </a:solidFill>
                <a:latin typeface="Trebuchet MS"/>
                <a:cs typeface="Trebuchet MS"/>
              </a:rPr>
              <a:t>00</a:t>
            </a:r>
            <a:r>
              <a:rPr sz="13150" b="1" spc="-1010" dirty="0">
                <a:solidFill>
                  <a:srgbClr val="6266F1"/>
                </a:solidFill>
                <a:latin typeface="Trebuchet MS"/>
                <a:cs typeface="Trebuchet MS"/>
              </a:rPr>
              <a:t>%</a:t>
            </a:r>
            <a:endParaRPr sz="131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12340" y="3026738"/>
            <a:ext cx="1535430" cy="1346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10" dirty="0">
                <a:solidFill>
                  <a:srgbClr val="374050"/>
                </a:solidFill>
                <a:latin typeface="Malgun Gothic"/>
                <a:cs typeface="Malgun Gothic"/>
              </a:rPr>
              <a:t>Strict</a:t>
            </a:r>
            <a:endParaRPr sz="2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2400" b="1" spc="-105" dirty="0">
                <a:solidFill>
                  <a:srgbClr val="374050"/>
                </a:solidFill>
                <a:latin typeface="Malgun Gothic"/>
                <a:cs typeface="Malgun Gothic"/>
              </a:rPr>
              <a:t>Conformity</a:t>
            </a:r>
            <a:endParaRPr sz="2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450" spc="-240" dirty="0">
                <a:solidFill>
                  <a:srgbClr val="6A7280"/>
                </a:solidFill>
                <a:latin typeface="Malgun Gothic"/>
                <a:cs typeface="Malgun Gothic"/>
              </a:rPr>
              <a:t>완벽한</a:t>
            </a:r>
            <a:r>
              <a:rPr sz="1450" spc="-18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50" spc="-225" dirty="0">
                <a:solidFill>
                  <a:srgbClr val="6A7280"/>
                </a:solidFill>
                <a:latin typeface="Malgun Gothic"/>
                <a:cs typeface="Malgun Gothic"/>
              </a:rPr>
              <a:t>규약</a:t>
            </a:r>
            <a:r>
              <a:rPr sz="1450" spc="-18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50" spc="-295" dirty="0">
                <a:solidFill>
                  <a:srgbClr val="6A7280"/>
                </a:solidFill>
                <a:latin typeface="Malgun Gothic"/>
                <a:cs typeface="Malgun Gothic"/>
              </a:rPr>
              <a:t>이행의</a:t>
            </a:r>
            <a:endParaRPr sz="14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450" spc="-310" dirty="0">
                <a:solidFill>
                  <a:srgbClr val="6A7280"/>
                </a:solidFill>
                <a:latin typeface="Malgun Gothic"/>
                <a:cs typeface="Malgun Gothic"/>
              </a:rPr>
              <a:t>가치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28767" y="2463356"/>
            <a:ext cx="3434715" cy="6965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6400"/>
              </a:lnSpc>
              <a:spcBef>
                <a:spcPts val="70"/>
              </a:spcBef>
            </a:pPr>
            <a:r>
              <a:rPr sz="2050" b="1" spc="-375" dirty="0">
                <a:solidFill>
                  <a:srgbClr val="1F2937"/>
                </a:solidFill>
                <a:latin typeface="Malgun Gothic"/>
                <a:cs typeface="Malgun Gothic"/>
              </a:rPr>
              <a:t>자체</a:t>
            </a:r>
            <a:r>
              <a:rPr sz="2050" b="1" spc="-165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2050" b="1" spc="-185" dirty="0">
                <a:solidFill>
                  <a:srgbClr val="1F2937"/>
                </a:solidFill>
                <a:latin typeface="Malgun Gothic"/>
                <a:cs typeface="Malgun Gothic"/>
              </a:rPr>
              <a:t>설명적</a:t>
            </a:r>
            <a:r>
              <a:rPr sz="2100" b="1" spc="-185" dirty="0">
                <a:solidFill>
                  <a:srgbClr val="1F2937"/>
                </a:solidFill>
                <a:latin typeface="Malgun Gothic"/>
                <a:cs typeface="Malgun Gothic"/>
              </a:rPr>
              <a:t>(Self-</a:t>
            </a:r>
            <a:r>
              <a:rPr sz="2100" b="1" spc="-85" dirty="0">
                <a:solidFill>
                  <a:srgbClr val="1F2937"/>
                </a:solidFill>
                <a:latin typeface="Malgun Gothic"/>
                <a:cs typeface="Malgun Gothic"/>
              </a:rPr>
              <a:t>descriptive)</a:t>
            </a:r>
            <a:r>
              <a:rPr sz="2100" b="1" spc="-8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2050" b="1" spc="-420" dirty="0">
                <a:solidFill>
                  <a:srgbClr val="1F2937"/>
                </a:solidFill>
                <a:latin typeface="Malgun Gothic"/>
                <a:cs typeface="Malgun Gothic"/>
              </a:rPr>
              <a:t>설 계</a:t>
            </a:r>
            <a:endParaRPr sz="205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8767" y="3244574"/>
            <a:ext cx="3489325" cy="10953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90"/>
              </a:spcBef>
            </a:pPr>
            <a:r>
              <a:rPr sz="1450" spc="-275" dirty="0">
                <a:solidFill>
                  <a:srgbClr val="374050"/>
                </a:solidFill>
                <a:latin typeface="Malgun Gothic"/>
                <a:cs typeface="Malgun Gothic"/>
              </a:rPr>
              <a:t>단순히</a:t>
            </a:r>
            <a:r>
              <a:rPr sz="1450" spc="-5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90" dirty="0">
                <a:solidFill>
                  <a:srgbClr val="374050"/>
                </a:solidFill>
                <a:latin typeface="Malgun Gothic"/>
                <a:cs typeface="Malgun Gothic"/>
              </a:rPr>
              <a:t>URL을</a:t>
            </a:r>
            <a:r>
              <a:rPr sz="1450" spc="-1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60" dirty="0">
                <a:solidFill>
                  <a:srgbClr val="374050"/>
                </a:solidFill>
                <a:latin typeface="Malgun Gothic"/>
                <a:cs typeface="Malgun Gothic"/>
              </a:rPr>
              <a:t>이쁘게</a:t>
            </a:r>
            <a:r>
              <a:rPr sz="1450" spc="-9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35" dirty="0">
                <a:solidFill>
                  <a:srgbClr val="374050"/>
                </a:solidFill>
                <a:latin typeface="Malgun Gothic"/>
                <a:cs typeface="Malgun Gothic"/>
              </a:rPr>
              <a:t>짓는</a:t>
            </a:r>
            <a:r>
              <a:rPr sz="1450" spc="-17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35" dirty="0">
                <a:solidFill>
                  <a:srgbClr val="374050"/>
                </a:solidFill>
                <a:latin typeface="Malgun Gothic"/>
                <a:cs typeface="Malgun Gothic"/>
              </a:rPr>
              <a:t>것을</a:t>
            </a:r>
            <a:r>
              <a:rPr sz="1450" spc="-1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175" dirty="0">
                <a:solidFill>
                  <a:srgbClr val="374050"/>
                </a:solidFill>
                <a:latin typeface="Malgun Gothic"/>
                <a:cs typeface="Malgun Gothic"/>
              </a:rPr>
              <a:t>넘어,</a:t>
            </a:r>
            <a:r>
              <a:rPr sz="1450" spc="-7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90" dirty="0">
                <a:solidFill>
                  <a:srgbClr val="374050"/>
                </a:solidFill>
                <a:latin typeface="Malgun Gothic"/>
                <a:cs typeface="Malgun Gothic"/>
              </a:rPr>
              <a:t>API</a:t>
            </a:r>
            <a:r>
              <a:rPr sz="1450" spc="-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300" dirty="0">
                <a:solidFill>
                  <a:srgbClr val="374050"/>
                </a:solidFill>
                <a:latin typeface="Malgun Gothic"/>
                <a:cs typeface="Malgun Gothic"/>
              </a:rPr>
              <a:t>명세서 </a:t>
            </a:r>
            <a:r>
              <a:rPr sz="1450" spc="-195" dirty="0">
                <a:solidFill>
                  <a:srgbClr val="374050"/>
                </a:solidFill>
                <a:latin typeface="Malgun Gothic"/>
                <a:cs typeface="Malgun Gothic"/>
              </a:rPr>
              <a:t>나</a:t>
            </a:r>
            <a:r>
              <a:rPr sz="1450" spc="-1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15" dirty="0">
                <a:solidFill>
                  <a:srgbClr val="374050"/>
                </a:solidFill>
                <a:latin typeface="Malgun Gothic"/>
                <a:cs typeface="Malgun Gothic"/>
              </a:rPr>
              <a:t>추가</a:t>
            </a:r>
            <a:r>
              <a:rPr sz="1450" spc="-19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40" dirty="0">
                <a:solidFill>
                  <a:srgbClr val="374050"/>
                </a:solidFill>
                <a:latin typeface="Malgun Gothic"/>
                <a:cs typeface="Malgun Gothic"/>
              </a:rPr>
              <a:t>설명서가</a:t>
            </a:r>
            <a:r>
              <a:rPr sz="1450" spc="-19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40" dirty="0">
                <a:solidFill>
                  <a:srgbClr val="374050"/>
                </a:solidFill>
                <a:latin typeface="Malgun Gothic"/>
                <a:cs typeface="Malgun Gothic"/>
              </a:rPr>
              <a:t>없이도</a:t>
            </a:r>
            <a:r>
              <a:rPr sz="1450" spc="-1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40" dirty="0">
                <a:solidFill>
                  <a:srgbClr val="374050"/>
                </a:solidFill>
                <a:latin typeface="Malgun Gothic"/>
                <a:cs typeface="Malgun Gothic"/>
              </a:rPr>
              <a:t>리소스</a:t>
            </a:r>
            <a:r>
              <a:rPr sz="1450" spc="-1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29" dirty="0">
                <a:solidFill>
                  <a:srgbClr val="374050"/>
                </a:solidFill>
                <a:latin typeface="Malgun Gothic"/>
                <a:cs typeface="Malgun Gothic"/>
              </a:rPr>
              <a:t>경로와</a:t>
            </a:r>
            <a:r>
              <a:rPr sz="1450" spc="-19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40" dirty="0">
                <a:solidFill>
                  <a:srgbClr val="374050"/>
                </a:solidFill>
                <a:latin typeface="Malgun Gothic"/>
                <a:cs typeface="Malgun Gothic"/>
              </a:rPr>
              <a:t>호출</a:t>
            </a:r>
            <a:r>
              <a:rPr sz="1450" spc="-1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300" dirty="0">
                <a:solidFill>
                  <a:srgbClr val="374050"/>
                </a:solidFill>
                <a:latin typeface="Malgun Gothic"/>
                <a:cs typeface="Malgun Gothic"/>
              </a:rPr>
              <a:t>상태 </a:t>
            </a:r>
            <a:r>
              <a:rPr sz="1450" spc="-245" dirty="0">
                <a:solidFill>
                  <a:srgbClr val="374050"/>
                </a:solidFill>
                <a:latin typeface="Malgun Gothic"/>
                <a:cs typeface="Malgun Gothic"/>
              </a:rPr>
              <a:t>메시지만으로</a:t>
            </a:r>
            <a:r>
              <a:rPr sz="1450" spc="-17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125" dirty="0">
                <a:solidFill>
                  <a:srgbClr val="374050"/>
                </a:solidFill>
                <a:latin typeface="Malgun Gothic"/>
                <a:cs typeface="Malgun Gothic"/>
              </a:rPr>
              <a:t>API의</a:t>
            </a:r>
            <a:r>
              <a:rPr sz="1450" spc="-4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40" dirty="0">
                <a:solidFill>
                  <a:srgbClr val="374050"/>
                </a:solidFill>
                <a:latin typeface="Malgun Gothic"/>
                <a:cs typeface="Malgun Gothic"/>
              </a:rPr>
              <a:t>동작을</a:t>
            </a:r>
            <a:r>
              <a:rPr sz="1450" spc="-1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75" dirty="0">
                <a:solidFill>
                  <a:srgbClr val="374050"/>
                </a:solidFill>
                <a:latin typeface="Malgun Gothic"/>
                <a:cs typeface="Malgun Gothic"/>
              </a:rPr>
              <a:t>완벽히</a:t>
            </a:r>
            <a:r>
              <a:rPr sz="1450" spc="-4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40" dirty="0">
                <a:solidFill>
                  <a:srgbClr val="374050"/>
                </a:solidFill>
                <a:latin typeface="Malgun Gothic"/>
                <a:cs typeface="Malgun Gothic"/>
              </a:rPr>
              <a:t>파악할</a:t>
            </a:r>
            <a:r>
              <a:rPr sz="1450" spc="-19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10" dirty="0">
                <a:solidFill>
                  <a:srgbClr val="374050"/>
                </a:solidFill>
                <a:latin typeface="Malgun Gothic"/>
                <a:cs typeface="Malgun Gothic"/>
              </a:rPr>
              <a:t>수</a:t>
            </a:r>
            <a:r>
              <a:rPr sz="1450" spc="-1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175" dirty="0">
                <a:solidFill>
                  <a:srgbClr val="374050"/>
                </a:solidFill>
                <a:latin typeface="Malgun Gothic"/>
                <a:cs typeface="Malgun Gothic"/>
              </a:rPr>
              <a:t>있는 </a:t>
            </a:r>
            <a:r>
              <a:rPr sz="1450" spc="-254" dirty="0">
                <a:solidFill>
                  <a:srgbClr val="374050"/>
                </a:solidFill>
                <a:latin typeface="Malgun Gothic"/>
                <a:cs typeface="Malgun Gothic"/>
              </a:rPr>
              <a:t>고도화된</a:t>
            </a:r>
            <a:r>
              <a:rPr sz="1450" spc="-10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10" dirty="0">
                <a:solidFill>
                  <a:srgbClr val="374050"/>
                </a:solidFill>
                <a:latin typeface="Malgun Gothic"/>
                <a:cs typeface="Malgun Gothic"/>
              </a:rPr>
              <a:t>REST</a:t>
            </a:r>
            <a:r>
              <a:rPr sz="1450" spc="-17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60" dirty="0">
                <a:solidFill>
                  <a:srgbClr val="374050"/>
                </a:solidFill>
                <a:latin typeface="Malgun Gothic"/>
                <a:cs typeface="Malgun Gothic"/>
              </a:rPr>
              <a:t>설계</a:t>
            </a:r>
            <a:r>
              <a:rPr sz="1450" spc="-10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245" dirty="0">
                <a:solidFill>
                  <a:srgbClr val="374050"/>
                </a:solidFill>
                <a:latin typeface="Malgun Gothic"/>
                <a:cs typeface="Malgun Gothic"/>
              </a:rPr>
              <a:t>상태를</a:t>
            </a:r>
            <a:r>
              <a:rPr sz="1450" spc="-17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50" spc="-45" dirty="0">
                <a:solidFill>
                  <a:srgbClr val="374050"/>
                </a:solidFill>
                <a:latin typeface="Malgun Gothic"/>
                <a:cs typeface="Malgun Gothic"/>
              </a:rPr>
              <a:t>지향합니다.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28767" y="4460875"/>
            <a:ext cx="3397885" cy="4603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9700"/>
              </a:lnSpc>
              <a:spcBef>
                <a:spcPts val="90"/>
              </a:spcBef>
            </a:pPr>
            <a:r>
              <a:rPr sz="1200" dirty="0">
                <a:solidFill>
                  <a:srgbClr val="0FB981"/>
                </a:solidFill>
                <a:latin typeface="Segoe UI Emoji"/>
                <a:cs typeface="Segoe UI Emoji"/>
              </a:rPr>
              <a:t>✨</a:t>
            </a:r>
            <a:r>
              <a:rPr sz="1200" spc="100" dirty="0">
                <a:solidFill>
                  <a:srgbClr val="0FB981"/>
                </a:solidFill>
                <a:latin typeface="Segoe UI Emoji"/>
                <a:cs typeface="Segoe UI Emoji"/>
              </a:rPr>
              <a:t> </a:t>
            </a:r>
            <a:r>
              <a:rPr sz="1300" b="1" spc="-225" dirty="0">
                <a:solidFill>
                  <a:srgbClr val="0FB981"/>
                </a:solidFill>
                <a:latin typeface="Malgun Gothic"/>
                <a:cs typeface="Malgun Gothic"/>
              </a:rPr>
              <a:t>일관된</a:t>
            </a:r>
            <a:r>
              <a:rPr sz="1300" b="1" spc="-125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1300" b="1" spc="-235" dirty="0">
                <a:solidFill>
                  <a:srgbClr val="0FB981"/>
                </a:solidFill>
                <a:latin typeface="Malgun Gothic"/>
                <a:cs typeface="Malgun Gothic"/>
              </a:rPr>
              <a:t>시스템</a:t>
            </a:r>
            <a:r>
              <a:rPr sz="1300" b="1" spc="-110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1300" b="1" spc="-220" dirty="0">
                <a:solidFill>
                  <a:srgbClr val="0FB981"/>
                </a:solidFill>
                <a:latin typeface="Malgun Gothic"/>
                <a:cs typeface="Malgun Gothic"/>
              </a:rPr>
              <a:t>아키텍처는</a:t>
            </a:r>
            <a:r>
              <a:rPr sz="1300" b="1" spc="-180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1300" b="1" spc="-215" dirty="0">
                <a:solidFill>
                  <a:srgbClr val="0FB981"/>
                </a:solidFill>
                <a:latin typeface="Malgun Gothic"/>
                <a:cs typeface="Malgun Gothic"/>
              </a:rPr>
              <a:t>비즈니스</a:t>
            </a:r>
            <a:r>
              <a:rPr sz="1300" b="1" spc="-180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1300" b="1" spc="-200" dirty="0">
                <a:solidFill>
                  <a:srgbClr val="0FB981"/>
                </a:solidFill>
                <a:latin typeface="Malgun Gothic"/>
                <a:cs typeface="Malgun Gothic"/>
              </a:rPr>
              <a:t>병목과 </a:t>
            </a:r>
            <a:r>
              <a:rPr sz="1300" b="1" spc="-155" dirty="0">
                <a:solidFill>
                  <a:srgbClr val="0FB981"/>
                </a:solidFill>
                <a:latin typeface="Malgun Gothic"/>
                <a:cs typeface="Malgun Gothic"/>
              </a:rPr>
              <a:t>유지보 </a:t>
            </a:r>
            <a:r>
              <a:rPr sz="1300" b="1" spc="-175" dirty="0">
                <a:solidFill>
                  <a:srgbClr val="0FB981"/>
                </a:solidFill>
                <a:latin typeface="Malgun Gothic"/>
                <a:cs typeface="Malgun Gothic"/>
              </a:rPr>
              <a:t>수</a:t>
            </a:r>
            <a:r>
              <a:rPr sz="1300" b="1" spc="-160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1300" b="1" spc="-210" dirty="0">
                <a:solidFill>
                  <a:srgbClr val="0FB981"/>
                </a:solidFill>
                <a:latin typeface="Malgun Gothic"/>
                <a:cs typeface="Malgun Gothic"/>
              </a:rPr>
              <a:t>비용을</a:t>
            </a:r>
            <a:r>
              <a:rPr sz="1300" b="1" spc="-150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1300" b="1" spc="-220" dirty="0">
                <a:solidFill>
                  <a:srgbClr val="0FB981"/>
                </a:solidFill>
                <a:latin typeface="Malgun Gothic"/>
                <a:cs typeface="Malgun Gothic"/>
              </a:rPr>
              <a:t>획기적으로</a:t>
            </a:r>
            <a:r>
              <a:rPr sz="1300" b="1" spc="-155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1300" b="1" spc="-20" dirty="0">
                <a:solidFill>
                  <a:srgbClr val="0FB981"/>
                </a:solidFill>
                <a:latin typeface="Malgun Gothic"/>
                <a:cs typeface="Malgun Gothic"/>
              </a:rPr>
              <a:t>낮춥니다.</a:t>
            </a:r>
            <a:endParaRPr sz="13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800" spc="-1050" baseline="4340" dirty="0">
                <a:solidFill>
                  <a:srgbClr val="0FB981"/>
                </a:solidFill>
                <a:latin typeface="Trebuchet MS"/>
                <a:cs typeface="Trebuchet MS"/>
              </a:rPr>
              <a:t>11.</a:t>
            </a:r>
            <a:r>
              <a:rPr sz="4800" spc="217" baseline="4340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3250" spc="-185" dirty="0"/>
              <a:t>FastAPI가</a:t>
            </a:r>
            <a:r>
              <a:rPr sz="3250" spc="-500" dirty="0"/>
              <a:t> </a:t>
            </a:r>
            <a:r>
              <a:rPr sz="3250" spc="-550" dirty="0"/>
              <a:t>주는</a:t>
            </a:r>
            <a:r>
              <a:rPr sz="3250" spc="-445" dirty="0"/>
              <a:t> </a:t>
            </a:r>
            <a:r>
              <a:rPr sz="3250" spc="-500" dirty="0"/>
              <a:t>3가지</a:t>
            </a:r>
            <a:r>
              <a:rPr sz="3250" spc="-225" dirty="0"/>
              <a:t> </a:t>
            </a:r>
            <a:r>
              <a:rPr sz="3250" spc="-575" dirty="0"/>
              <a:t>선물</a:t>
            </a:r>
            <a:endParaRPr sz="325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6991" y="1938528"/>
            <a:ext cx="10061575" cy="3301365"/>
            <a:chOff x="316991" y="1938528"/>
            <a:chExt cx="10061575" cy="33013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1" y="1938528"/>
              <a:ext cx="10061447" cy="33009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6643" y="2575267"/>
              <a:ext cx="327024" cy="43497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14893" y="3056499"/>
            <a:ext cx="2401570" cy="126047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420"/>
              </a:spcBef>
            </a:pPr>
            <a:r>
              <a:rPr sz="1900" b="1" spc="-355" dirty="0">
                <a:solidFill>
                  <a:srgbClr val="1F2937"/>
                </a:solidFill>
                <a:latin typeface="Malgun Gothic"/>
                <a:cs typeface="Malgun Gothic"/>
              </a:rPr>
              <a:t>비동기</a:t>
            </a:r>
            <a:r>
              <a:rPr sz="1900" b="1" spc="-135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900" b="1" spc="-320" dirty="0">
                <a:solidFill>
                  <a:srgbClr val="1F2937"/>
                </a:solidFill>
                <a:latin typeface="Malgun Gothic"/>
                <a:cs typeface="Malgun Gothic"/>
              </a:rPr>
              <a:t>초고속</a:t>
            </a:r>
            <a:r>
              <a:rPr sz="1900" b="1" spc="-254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950" b="1" spc="-10" dirty="0">
                <a:solidFill>
                  <a:srgbClr val="1F2937"/>
                </a:solidFill>
                <a:latin typeface="Malgun Gothic"/>
                <a:cs typeface="Malgun Gothic"/>
              </a:rPr>
              <a:t>Engine</a:t>
            </a:r>
            <a:endParaRPr sz="1950">
              <a:latin typeface="Malgun Gothic"/>
              <a:cs typeface="Malgun Gothic"/>
            </a:endParaRPr>
          </a:p>
          <a:p>
            <a:pPr marL="12700" marR="5080" algn="just">
              <a:lnSpc>
                <a:spcPct val="113900"/>
              </a:lnSpc>
              <a:spcBef>
                <a:spcPts val="725"/>
              </a:spcBef>
            </a:pPr>
            <a:r>
              <a:rPr sz="1300" spc="-95" dirty="0">
                <a:solidFill>
                  <a:srgbClr val="6A7280"/>
                </a:solidFill>
                <a:latin typeface="Malgun Gothic"/>
                <a:cs typeface="Malgun Gothic"/>
              </a:rPr>
              <a:t>ASGI</a:t>
            </a:r>
            <a:r>
              <a:rPr sz="1300" spc="-2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25" dirty="0">
                <a:solidFill>
                  <a:srgbClr val="6A7280"/>
                </a:solidFill>
                <a:latin typeface="Malgun Gothic"/>
                <a:cs typeface="Malgun Gothic"/>
              </a:rPr>
              <a:t>및</a:t>
            </a:r>
            <a:r>
              <a:rPr sz="1300" spc="-12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35" dirty="0">
                <a:solidFill>
                  <a:srgbClr val="6A7280"/>
                </a:solidFill>
                <a:latin typeface="Malgun Gothic"/>
                <a:cs typeface="Malgun Gothic"/>
              </a:rPr>
              <a:t>Starlette</a:t>
            </a:r>
            <a:r>
              <a:rPr sz="1300" spc="-13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195" dirty="0">
                <a:solidFill>
                  <a:srgbClr val="6A7280"/>
                </a:solidFill>
                <a:latin typeface="Malgun Gothic"/>
                <a:cs typeface="Malgun Gothic"/>
              </a:rPr>
              <a:t>기반</a:t>
            </a:r>
            <a:r>
              <a:rPr sz="1300" spc="-18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10" dirty="0">
                <a:solidFill>
                  <a:srgbClr val="6A7280"/>
                </a:solidFill>
                <a:latin typeface="Malgun Gothic"/>
                <a:cs typeface="Malgun Gothic"/>
              </a:rPr>
              <a:t>설계를</a:t>
            </a:r>
            <a:r>
              <a:rPr sz="1300" spc="-16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29" dirty="0">
                <a:solidFill>
                  <a:srgbClr val="6A7280"/>
                </a:solidFill>
                <a:latin typeface="Malgun Gothic"/>
                <a:cs typeface="Malgun Gothic"/>
              </a:rPr>
              <a:t>적용해</a:t>
            </a:r>
            <a:r>
              <a:rPr sz="1300" spc="-9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35" dirty="0">
                <a:solidFill>
                  <a:srgbClr val="6A7280"/>
                </a:solidFill>
                <a:latin typeface="Malgun Gothic"/>
                <a:cs typeface="Malgun Gothic"/>
              </a:rPr>
              <a:t>Node.js,</a:t>
            </a:r>
            <a:r>
              <a:rPr sz="1300" spc="-8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85" dirty="0">
                <a:solidFill>
                  <a:srgbClr val="6A7280"/>
                </a:solidFill>
                <a:latin typeface="Malgun Gothic"/>
                <a:cs typeface="Malgun Gothic"/>
              </a:rPr>
              <a:t>Go</a:t>
            </a:r>
            <a:r>
              <a:rPr sz="1300" spc="-12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29" dirty="0">
                <a:solidFill>
                  <a:srgbClr val="6A7280"/>
                </a:solidFill>
                <a:latin typeface="Malgun Gothic"/>
                <a:cs typeface="Malgun Gothic"/>
              </a:rPr>
              <a:t>언어에</a:t>
            </a:r>
            <a:r>
              <a:rPr sz="1300" spc="-10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10" dirty="0">
                <a:solidFill>
                  <a:srgbClr val="6A7280"/>
                </a:solidFill>
                <a:latin typeface="Malgun Gothic"/>
                <a:cs typeface="Malgun Gothic"/>
              </a:rPr>
              <a:t>상응하는</a:t>
            </a:r>
            <a:r>
              <a:rPr sz="1300" spc="-16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04" dirty="0">
                <a:solidFill>
                  <a:srgbClr val="6A7280"/>
                </a:solidFill>
                <a:latin typeface="Malgun Gothic"/>
                <a:cs typeface="Malgun Gothic"/>
              </a:rPr>
              <a:t>탁월한</a:t>
            </a:r>
            <a:r>
              <a:rPr sz="1300" spc="-6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40" dirty="0">
                <a:solidFill>
                  <a:srgbClr val="6A7280"/>
                </a:solidFill>
                <a:latin typeface="Malgun Gothic"/>
                <a:cs typeface="Malgun Gothic"/>
              </a:rPr>
              <a:t>동시성</a:t>
            </a:r>
            <a:r>
              <a:rPr sz="1300" spc="-7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50" dirty="0">
                <a:solidFill>
                  <a:srgbClr val="6A7280"/>
                </a:solidFill>
                <a:latin typeface="Malgun Gothic"/>
                <a:cs typeface="Malgun Gothic"/>
              </a:rPr>
              <a:t>처리</a:t>
            </a:r>
            <a:r>
              <a:rPr sz="1300" spc="-5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10" dirty="0">
                <a:solidFill>
                  <a:srgbClr val="6A7280"/>
                </a:solidFill>
                <a:latin typeface="Malgun Gothic"/>
                <a:cs typeface="Malgun Gothic"/>
              </a:rPr>
              <a:t>속도를</a:t>
            </a:r>
            <a:r>
              <a:rPr sz="1300" spc="-16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190" dirty="0">
                <a:solidFill>
                  <a:srgbClr val="6A7280"/>
                </a:solidFill>
                <a:latin typeface="Malgun Gothic"/>
                <a:cs typeface="Malgun Gothic"/>
              </a:rPr>
              <a:t>보장합니다.</a:t>
            </a:r>
            <a:endParaRPr sz="1300">
              <a:latin typeface="Malgun Gothic"/>
              <a:cs typeface="Malgun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116979" y="2581617"/>
            <a:ext cx="3503929" cy="422275"/>
            <a:chOff x="4116979" y="2581617"/>
            <a:chExt cx="3503929" cy="42227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6979" y="2581617"/>
              <a:ext cx="419099" cy="4222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6496" y="2581617"/>
              <a:ext cx="314324" cy="42227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104279" y="3056499"/>
            <a:ext cx="2443480" cy="148653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950" b="1" spc="-75" dirty="0">
                <a:solidFill>
                  <a:srgbClr val="1F2937"/>
                </a:solidFill>
                <a:latin typeface="Malgun Gothic"/>
                <a:cs typeface="Malgun Gothic"/>
              </a:rPr>
              <a:t>Pydantic</a:t>
            </a:r>
            <a:r>
              <a:rPr sz="1950" b="1" spc="-20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900" b="1" spc="-355" dirty="0">
                <a:solidFill>
                  <a:srgbClr val="1F2937"/>
                </a:solidFill>
                <a:latin typeface="Malgun Gothic"/>
                <a:cs typeface="Malgun Gothic"/>
              </a:rPr>
              <a:t>데이터</a:t>
            </a:r>
            <a:r>
              <a:rPr sz="1900" b="1" spc="-95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900" b="1" spc="-330" dirty="0">
                <a:solidFill>
                  <a:srgbClr val="1F2937"/>
                </a:solidFill>
                <a:latin typeface="Malgun Gothic"/>
                <a:cs typeface="Malgun Gothic"/>
              </a:rPr>
              <a:t>검증</a:t>
            </a:r>
            <a:endParaRPr sz="1900">
              <a:latin typeface="Malgun Gothic"/>
              <a:cs typeface="Malgun Gothic"/>
            </a:endParaRPr>
          </a:p>
          <a:p>
            <a:pPr marL="12700" marR="5080">
              <a:lnSpc>
                <a:spcPct val="113900"/>
              </a:lnSpc>
              <a:spcBef>
                <a:spcPts val="725"/>
              </a:spcBef>
            </a:pPr>
            <a:r>
              <a:rPr sz="1300" spc="-229" dirty="0">
                <a:solidFill>
                  <a:srgbClr val="6A7280"/>
                </a:solidFill>
                <a:latin typeface="Malgun Gothic"/>
                <a:cs typeface="Malgun Gothic"/>
              </a:rPr>
              <a:t>파이썬</a:t>
            </a:r>
            <a:r>
              <a:rPr sz="1300" spc="-10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54" dirty="0">
                <a:solidFill>
                  <a:srgbClr val="6A7280"/>
                </a:solidFill>
                <a:latin typeface="Malgun Gothic"/>
                <a:cs typeface="Malgun Gothic"/>
              </a:rPr>
              <a:t>타입</a:t>
            </a:r>
            <a:r>
              <a:rPr sz="1300" spc="-4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15" dirty="0">
                <a:solidFill>
                  <a:srgbClr val="6A7280"/>
                </a:solidFill>
                <a:latin typeface="Malgun Gothic"/>
                <a:cs typeface="Malgun Gothic"/>
              </a:rPr>
              <a:t>힌팅을</a:t>
            </a:r>
            <a:r>
              <a:rPr sz="1300" spc="-14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40" dirty="0">
                <a:solidFill>
                  <a:srgbClr val="6A7280"/>
                </a:solidFill>
                <a:latin typeface="Malgun Gothic"/>
                <a:cs typeface="Malgun Gothic"/>
              </a:rPr>
              <a:t>활용하여</a:t>
            </a:r>
            <a:r>
              <a:rPr sz="1300" spc="-4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29" dirty="0">
                <a:solidFill>
                  <a:srgbClr val="6A7280"/>
                </a:solidFill>
                <a:latin typeface="Malgun Gothic"/>
                <a:cs typeface="Malgun Gothic"/>
              </a:rPr>
              <a:t>잘못된</a:t>
            </a:r>
            <a:r>
              <a:rPr sz="1300" spc="-8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325" dirty="0">
                <a:solidFill>
                  <a:srgbClr val="6A7280"/>
                </a:solidFill>
                <a:latin typeface="Malgun Gothic"/>
                <a:cs typeface="Malgun Gothic"/>
              </a:rPr>
              <a:t>형</a:t>
            </a:r>
            <a:r>
              <a:rPr sz="1300" spc="-254" dirty="0">
                <a:solidFill>
                  <a:srgbClr val="6A7280"/>
                </a:solidFill>
                <a:latin typeface="Malgun Gothic"/>
                <a:cs typeface="Malgun Gothic"/>
              </a:rPr>
              <a:t> 태의</a:t>
            </a:r>
            <a:r>
              <a:rPr sz="1300" spc="-4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45" dirty="0">
                <a:solidFill>
                  <a:srgbClr val="6A7280"/>
                </a:solidFill>
                <a:latin typeface="Malgun Gothic"/>
                <a:cs typeface="Malgun Gothic"/>
              </a:rPr>
              <a:t>데이터</a:t>
            </a:r>
            <a:r>
              <a:rPr sz="1300" spc="-4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15" dirty="0">
                <a:solidFill>
                  <a:srgbClr val="6A7280"/>
                </a:solidFill>
                <a:latin typeface="Malgun Gothic"/>
                <a:cs typeface="Malgun Gothic"/>
              </a:rPr>
              <a:t>진입을</a:t>
            </a:r>
            <a:r>
              <a:rPr sz="1300" spc="-14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50" dirty="0">
                <a:solidFill>
                  <a:srgbClr val="6A7280"/>
                </a:solidFill>
                <a:latin typeface="Malgun Gothic"/>
                <a:cs typeface="Malgun Gothic"/>
              </a:rPr>
              <a:t>런타임</a:t>
            </a:r>
            <a:r>
              <a:rPr sz="1300" spc="-4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54" dirty="0">
                <a:solidFill>
                  <a:srgbClr val="6A7280"/>
                </a:solidFill>
                <a:latin typeface="Malgun Gothic"/>
                <a:cs typeface="Malgun Gothic"/>
              </a:rPr>
              <a:t>진입</a:t>
            </a:r>
            <a:r>
              <a:rPr sz="1300" spc="-4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5" dirty="0">
                <a:solidFill>
                  <a:srgbClr val="6A7280"/>
                </a:solidFill>
                <a:latin typeface="Malgun Gothic"/>
                <a:cs typeface="Malgun Gothic"/>
              </a:rPr>
              <a:t>전에 </a:t>
            </a:r>
            <a:r>
              <a:rPr sz="1300" spc="-245" dirty="0">
                <a:solidFill>
                  <a:srgbClr val="6A7280"/>
                </a:solidFill>
                <a:latin typeface="Malgun Gothic"/>
                <a:cs typeface="Malgun Gothic"/>
              </a:rPr>
              <a:t>완벽히</a:t>
            </a:r>
            <a:r>
              <a:rPr sz="1300" spc="-3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15" dirty="0">
                <a:solidFill>
                  <a:srgbClr val="6A7280"/>
                </a:solidFill>
                <a:latin typeface="Malgun Gothic"/>
                <a:cs typeface="Malgun Gothic"/>
              </a:rPr>
              <a:t>차단하고</a:t>
            </a:r>
            <a:r>
              <a:rPr sz="1300" spc="-14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04" dirty="0">
                <a:solidFill>
                  <a:srgbClr val="6A7280"/>
                </a:solidFill>
                <a:latin typeface="Malgun Gothic"/>
                <a:cs typeface="Malgun Gothic"/>
              </a:rPr>
              <a:t>자동</a:t>
            </a:r>
            <a:r>
              <a:rPr sz="1300" spc="-14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20" dirty="0">
                <a:solidFill>
                  <a:srgbClr val="6A7280"/>
                </a:solidFill>
                <a:latin typeface="Malgun Gothic"/>
                <a:cs typeface="Malgun Gothic"/>
              </a:rPr>
              <a:t>가이드를</a:t>
            </a:r>
            <a:r>
              <a:rPr sz="1300" spc="-14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110" dirty="0">
                <a:solidFill>
                  <a:srgbClr val="6A7280"/>
                </a:solidFill>
                <a:latin typeface="Malgun Gothic"/>
                <a:cs typeface="Malgun Gothic"/>
              </a:rPr>
              <a:t>리턴합 </a:t>
            </a:r>
            <a:r>
              <a:rPr sz="1300" spc="-25" dirty="0">
                <a:solidFill>
                  <a:srgbClr val="6A7280"/>
                </a:solidFill>
                <a:latin typeface="Malgun Gothic"/>
                <a:cs typeface="Malgun Gothic"/>
              </a:rPr>
              <a:t>니다.</a:t>
            </a:r>
            <a:endParaRPr sz="13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93796" y="3056499"/>
            <a:ext cx="2416175" cy="126047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950" b="1" spc="-110" dirty="0">
                <a:solidFill>
                  <a:srgbClr val="1F2937"/>
                </a:solidFill>
                <a:latin typeface="Malgun Gothic"/>
                <a:cs typeface="Malgun Gothic"/>
              </a:rPr>
              <a:t>Swagger</a:t>
            </a:r>
            <a:r>
              <a:rPr sz="1950" b="1" spc="-25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950" b="1" spc="-165" dirty="0">
                <a:solidFill>
                  <a:srgbClr val="1F2937"/>
                </a:solidFill>
                <a:latin typeface="Malgun Gothic"/>
                <a:cs typeface="Malgun Gothic"/>
              </a:rPr>
              <a:t>UI</a:t>
            </a:r>
            <a:r>
              <a:rPr sz="1950" b="1" spc="-45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900" b="1" spc="-310" dirty="0">
                <a:solidFill>
                  <a:srgbClr val="1F2937"/>
                </a:solidFill>
                <a:latin typeface="Malgun Gothic"/>
                <a:cs typeface="Malgun Gothic"/>
              </a:rPr>
              <a:t>자동</a:t>
            </a:r>
            <a:r>
              <a:rPr sz="1900" b="1" spc="-245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900" b="1" spc="-385" dirty="0">
                <a:solidFill>
                  <a:srgbClr val="1F2937"/>
                </a:solidFill>
                <a:latin typeface="Malgun Gothic"/>
                <a:cs typeface="Malgun Gothic"/>
              </a:rPr>
              <a:t>생성</a:t>
            </a:r>
            <a:endParaRPr sz="1900">
              <a:latin typeface="Malgun Gothic"/>
              <a:cs typeface="Malgun Gothic"/>
            </a:endParaRPr>
          </a:p>
          <a:p>
            <a:pPr marL="12700" marR="5080">
              <a:lnSpc>
                <a:spcPct val="113900"/>
              </a:lnSpc>
              <a:spcBef>
                <a:spcPts val="725"/>
              </a:spcBef>
            </a:pPr>
            <a:r>
              <a:rPr sz="1300" spc="-195" dirty="0">
                <a:solidFill>
                  <a:srgbClr val="6A7280"/>
                </a:solidFill>
                <a:latin typeface="Malgun Gothic"/>
                <a:cs typeface="Malgun Gothic"/>
              </a:rPr>
              <a:t>추가</a:t>
            </a:r>
            <a:r>
              <a:rPr sz="1300" spc="-18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54" dirty="0">
                <a:solidFill>
                  <a:srgbClr val="6A7280"/>
                </a:solidFill>
                <a:latin typeface="Malgun Gothic"/>
                <a:cs typeface="Malgun Gothic"/>
              </a:rPr>
              <a:t>세팅</a:t>
            </a:r>
            <a:r>
              <a:rPr sz="1300" spc="-5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145" dirty="0">
                <a:solidFill>
                  <a:srgbClr val="6A7280"/>
                </a:solidFill>
                <a:latin typeface="Malgun Gothic"/>
                <a:cs typeface="Malgun Gothic"/>
              </a:rPr>
              <a:t>없이,</a:t>
            </a:r>
            <a:r>
              <a:rPr sz="1300" spc="-7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95" dirty="0">
                <a:solidFill>
                  <a:srgbClr val="6A7280"/>
                </a:solidFill>
                <a:latin typeface="Malgun Gothic"/>
                <a:cs typeface="Malgun Gothic"/>
              </a:rPr>
              <a:t>API</a:t>
            </a:r>
            <a:r>
              <a:rPr sz="1300" spc="-1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04" dirty="0">
                <a:solidFill>
                  <a:srgbClr val="6A7280"/>
                </a:solidFill>
                <a:latin typeface="Malgun Gothic"/>
                <a:cs typeface="Malgun Gothic"/>
              </a:rPr>
              <a:t>코딩과</a:t>
            </a:r>
            <a:r>
              <a:rPr sz="1300" spc="-18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29" dirty="0">
                <a:solidFill>
                  <a:srgbClr val="6A7280"/>
                </a:solidFill>
                <a:latin typeface="Malgun Gothic"/>
                <a:cs typeface="Malgun Gothic"/>
              </a:rPr>
              <a:t>동시에</a:t>
            </a:r>
            <a:r>
              <a:rPr sz="1300" spc="-9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50" dirty="0">
                <a:solidFill>
                  <a:srgbClr val="6A7280"/>
                </a:solidFill>
                <a:latin typeface="Malgun Gothic"/>
                <a:cs typeface="Malgun Gothic"/>
              </a:rPr>
              <a:t>실 </a:t>
            </a:r>
            <a:r>
              <a:rPr sz="1300" spc="-195" dirty="0">
                <a:solidFill>
                  <a:srgbClr val="6A7280"/>
                </a:solidFill>
                <a:latin typeface="Malgun Gothic"/>
                <a:cs typeface="Malgun Gothic"/>
              </a:rPr>
              <a:t>시간</a:t>
            </a:r>
            <a:r>
              <a:rPr sz="1300" spc="-17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20" dirty="0">
                <a:solidFill>
                  <a:srgbClr val="6A7280"/>
                </a:solidFill>
                <a:latin typeface="Malgun Gothic"/>
                <a:cs typeface="Malgun Gothic"/>
              </a:rPr>
              <a:t>인터랙티브</a:t>
            </a:r>
            <a:r>
              <a:rPr sz="1300" spc="-15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29" dirty="0">
                <a:solidFill>
                  <a:srgbClr val="6A7280"/>
                </a:solidFill>
                <a:latin typeface="Malgun Gothic"/>
                <a:cs typeface="Malgun Gothic"/>
              </a:rPr>
              <a:t>명세</a:t>
            </a:r>
            <a:r>
              <a:rPr sz="1300" spc="-8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54" dirty="0">
                <a:solidFill>
                  <a:srgbClr val="6A7280"/>
                </a:solidFill>
                <a:latin typeface="Malgun Gothic"/>
                <a:cs typeface="Malgun Gothic"/>
              </a:rPr>
              <a:t>문서</a:t>
            </a:r>
            <a:r>
              <a:rPr sz="1300" spc="-4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00" dirty="0">
                <a:solidFill>
                  <a:srgbClr val="6A7280"/>
                </a:solidFill>
                <a:latin typeface="Malgun Gothic"/>
                <a:cs typeface="Malgun Gothic"/>
              </a:rPr>
              <a:t>웹페이지가 </a:t>
            </a:r>
            <a:r>
              <a:rPr sz="1300" spc="-229" dirty="0">
                <a:solidFill>
                  <a:srgbClr val="6A7280"/>
                </a:solidFill>
                <a:latin typeface="Malgun Gothic"/>
                <a:cs typeface="Malgun Gothic"/>
              </a:rPr>
              <a:t>완전</a:t>
            </a:r>
            <a:r>
              <a:rPr sz="1300" spc="-9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15" dirty="0">
                <a:solidFill>
                  <a:srgbClr val="6A7280"/>
                </a:solidFill>
                <a:latin typeface="Malgun Gothic"/>
                <a:cs typeface="Malgun Gothic"/>
              </a:rPr>
              <a:t>자동으로</a:t>
            </a:r>
            <a:r>
              <a:rPr sz="1300" spc="-15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5" dirty="0">
                <a:solidFill>
                  <a:srgbClr val="6A7280"/>
                </a:solidFill>
                <a:latin typeface="Malgun Gothic"/>
                <a:cs typeface="Malgun Gothic"/>
              </a:rPr>
              <a:t>빌드됩니다.</a:t>
            </a:r>
            <a:endParaRPr sz="13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800" spc="-765" baseline="4340" dirty="0">
                <a:solidFill>
                  <a:srgbClr val="0FB981"/>
                </a:solidFill>
                <a:latin typeface="Trebuchet MS"/>
                <a:cs typeface="Trebuchet MS"/>
              </a:rPr>
              <a:t>12.</a:t>
            </a:r>
            <a:r>
              <a:rPr sz="4800" spc="202" baseline="4340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3250" spc="-635" dirty="0"/>
              <a:t>전통적</a:t>
            </a:r>
            <a:r>
              <a:rPr sz="3250" spc="-245" dirty="0"/>
              <a:t> </a:t>
            </a:r>
            <a:r>
              <a:rPr sz="3250" spc="-204" dirty="0"/>
              <a:t>검증(Flask)</a:t>
            </a:r>
            <a:r>
              <a:rPr sz="3250" spc="-140" dirty="0"/>
              <a:t> </a:t>
            </a:r>
            <a:r>
              <a:rPr sz="3250" spc="-65" dirty="0"/>
              <a:t>vs</a:t>
            </a:r>
            <a:r>
              <a:rPr sz="3250" spc="-350" dirty="0"/>
              <a:t> </a:t>
            </a:r>
            <a:r>
              <a:rPr sz="3250" spc="-180" dirty="0"/>
              <a:t>FastAPI</a:t>
            </a:r>
            <a:r>
              <a:rPr sz="3250" spc="-95" dirty="0"/>
              <a:t> </a:t>
            </a:r>
            <a:r>
              <a:rPr sz="3250" spc="-635" dirty="0"/>
              <a:t>선언적</a:t>
            </a:r>
            <a:r>
              <a:rPr sz="3250" spc="-240" dirty="0"/>
              <a:t> </a:t>
            </a:r>
            <a:r>
              <a:rPr sz="3250" spc="-575" dirty="0"/>
              <a:t>검증</a:t>
            </a:r>
            <a:endParaRPr sz="325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65360" y="1820442"/>
            <a:ext cx="4599940" cy="3402588"/>
            <a:chOff x="665360" y="1820442"/>
            <a:chExt cx="4599940" cy="3402588"/>
          </a:xfrm>
        </p:grpSpPr>
        <p:sp>
          <p:nvSpPr>
            <p:cNvPr id="5" name="object 5"/>
            <p:cNvSpPr/>
            <p:nvPr/>
          </p:nvSpPr>
          <p:spPr>
            <a:xfrm>
              <a:off x="668535" y="2047395"/>
              <a:ext cx="4596765" cy="3175635"/>
            </a:xfrm>
            <a:custGeom>
              <a:avLst/>
              <a:gdLst/>
              <a:ahLst/>
              <a:cxnLst/>
              <a:rect l="l" t="t" r="r" b="b"/>
              <a:pathLst>
                <a:path w="4596765" h="3175635">
                  <a:moveTo>
                    <a:pt x="4462477" y="3175545"/>
                  </a:moveTo>
                  <a:lnTo>
                    <a:pt x="133707" y="3175545"/>
                  </a:lnTo>
                  <a:lnTo>
                    <a:pt x="127138" y="3175380"/>
                  </a:lnTo>
                  <a:lnTo>
                    <a:pt x="88669" y="3167719"/>
                  </a:lnTo>
                  <a:lnTo>
                    <a:pt x="54050" y="3149221"/>
                  </a:lnTo>
                  <a:lnTo>
                    <a:pt x="26316" y="3121480"/>
                  </a:lnTo>
                  <a:lnTo>
                    <a:pt x="7812" y="3086867"/>
                  </a:lnTo>
                  <a:lnTo>
                    <a:pt x="160" y="3048402"/>
                  </a:lnTo>
                  <a:lnTo>
                    <a:pt x="0" y="3041838"/>
                  </a:lnTo>
                  <a:lnTo>
                    <a:pt x="0" y="133707"/>
                  </a:lnTo>
                  <a:lnTo>
                    <a:pt x="5755" y="94883"/>
                  </a:lnTo>
                  <a:lnTo>
                    <a:pt x="22533" y="59419"/>
                  </a:lnTo>
                  <a:lnTo>
                    <a:pt x="48883" y="30340"/>
                  </a:lnTo>
                  <a:lnTo>
                    <a:pt x="82539" y="10168"/>
                  </a:lnTo>
                  <a:lnTo>
                    <a:pt x="120601" y="641"/>
                  </a:lnTo>
                  <a:lnTo>
                    <a:pt x="133707" y="0"/>
                  </a:lnTo>
                  <a:lnTo>
                    <a:pt x="4462477" y="0"/>
                  </a:lnTo>
                  <a:lnTo>
                    <a:pt x="4501290" y="5750"/>
                  </a:lnTo>
                  <a:lnTo>
                    <a:pt x="4536760" y="22523"/>
                  </a:lnTo>
                  <a:lnTo>
                    <a:pt x="4565835" y="48870"/>
                  </a:lnTo>
                  <a:lnTo>
                    <a:pt x="4586005" y="82530"/>
                  </a:lnTo>
                  <a:lnTo>
                    <a:pt x="4595542" y="120596"/>
                  </a:lnTo>
                  <a:lnTo>
                    <a:pt x="4596184" y="133707"/>
                  </a:lnTo>
                  <a:lnTo>
                    <a:pt x="4596184" y="3041838"/>
                  </a:lnTo>
                  <a:lnTo>
                    <a:pt x="4590428" y="3080642"/>
                  </a:lnTo>
                  <a:lnTo>
                    <a:pt x="4573650" y="3116110"/>
                  </a:lnTo>
                  <a:lnTo>
                    <a:pt x="4547300" y="3145188"/>
                  </a:lnTo>
                  <a:lnTo>
                    <a:pt x="4513644" y="3165352"/>
                  </a:lnTo>
                  <a:lnTo>
                    <a:pt x="4475583" y="3174895"/>
                  </a:lnTo>
                  <a:lnTo>
                    <a:pt x="4462477" y="3175545"/>
                  </a:lnTo>
                  <a:close/>
                </a:path>
              </a:pathLst>
            </a:custGeom>
            <a:solidFill>
              <a:srgbClr val="282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5360" y="1820442"/>
              <a:ext cx="130174" cy="11112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48040" y="1776053"/>
            <a:ext cx="2956560" cy="26631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55" dirty="0">
                <a:solidFill>
                  <a:srgbClr val="E4BF7B"/>
                </a:solidFill>
                <a:latin typeface="Malgun Gothic"/>
                <a:cs typeface="Malgun Gothic"/>
              </a:rPr>
              <a:t>Flask의</a:t>
            </a:r>
            <a:r>
              <a:rPr sz="1100" b="1" spc="-60" dirty="0">
                <a:solidFill>
                  <a:srgbClr val="E4BF7B"/>
                </a:solidFill>
                <a:latin typeface="Malgun Gothic"/>
                <a:cs typeface="Malgun Gothic"/>
              </a:rPr>
              <a:t> </a:t>
            </a:r>
            <a:r>
              <a:rPr sz="1100" b="1" spc="-195" dirty="0">
                <a:solidFill>
                  <a:srgbClr val="E4BF7B"/>
                </a:solidFill>
                <a:latin typeface="Malgun Gothic"/>
                <a:cs typeface="Malgun Gothic"/>
              </a:rPr>
              <a:t>번거로운</a:t>
            </a:r>
            <a:r>
              <a:rPr sz="1100" b="1" spc="-135" dirty="0">
                <a:solidFill>
                  <a:srgbClr val="E4BF7B"/>
                </a:solidFill>
                <a:latin typeface="Malgun Gothic"/>
                <a:cs typeface="Malgun Gothic"/>
              </a:rPr>
              <a:t> </a:t>
            </a:r>
            <a:r>
              <a:rPr sz="1100" b="1" spc="-185" dirty="0">
                <a:solidFill>
                  <a:srgbClr val="E4BF7B"/>
                </a:solidFill>
                <a:latin typeface="Malgun Gothic"/>
                <a:cs typeface="Malgun Gothic"/>
              </a:rPr>
              <a:t>수동</a:t>
            </a:r>
            <a:r>
              <a:rPr sz="1100" b="1" spc="-130" dirty="0">
                <a:solidFill>
                  <a:srgbClr val="E4BF7B"/>
                </a:solidFill>
                <a:latin typeface="Malgun Gothic"/>
                <a:cs typeface="Malgun Gothic"/>
              </a:rPr>
              <a:t> </a:t>
            </a:r>
            <a:r>
              <a:rPr sz="1100" b="1" spc="-210" dirty="0">
                <a:solidFill>
                  <a:srgbClr val="E4BF7B"/>
                </a:solidFill>
                <a:latin typeface="Malgun Gothic"/>
                <a:cs typeface="Malgun Gothic"/>
              </a:rPr>
              <a:t>유효성</a:t>
            </a:r>
            <a:r>
              <a:rPr sz="1100" b="1" spc="-65" dirty="0">
                <a:solidFill>
                  <a:srgbClr val="E4BF7B"/>
                </a:solidFill>
                <a:latin typeface="Malgun Gothic"/>
                <a:cs typeface="Malgun Gothic"/>
              </a:rPr>
              <a:t> </a:t>
            </a:r>
            <a:r>
              <a:rPr sz="1100" b="1" spc="-35" dirty="0">
                <a:solidFill>
                  <a:srgbClr val="E4BF7B"/>
                </a:solidFill>
                <a:latin typeface="Malgun Gothic"/>
                <a:cs typeface="Malgun Gothic"/>
              </a:rPr>
              <a:t>검증</a:t>
            </a:r>
            <a:endParaRPr sz="11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950">
              <a:latin typeface="Malgun Gothic"/>
              <a:cs typeface="Malgun Gothic"/>
            </a:endParaRPr>
          </a:p>
          <a:p>
            <a:pPr marL="20955">
              <a:lnSpc>
                <a:spcPct val="100000"/>
              </a:lnSpc>
            </a:pP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from</a:t>
            </a:r>
            <a:r>
              <a:rPr sz="850" spc="21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110" dirty="0">
                <a:solidFill>
                  <a:srgbClr val="ABB1BE"/>
                </a:solidFill>
                <a:latin typeface="Malgun Gothic"/>
                <a:cs typeface="Malgun Gothic"/>
              </a:rPr>
              <a:t>flask</a:t>
            </a:r>
            <a:r>
              <a:rPr sz="850" spc="21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import</a:t>
            </a:r>
            <a:r>
              <a:rPr sz="850" spc="21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75" dirty="0">
                <a:solidFill>
                  <a:srgbClr val="ABB1BE"/>
                </a:solidFill>
                <a:latin typeface="Malgun Gothic"/>
                <a:cs typeface="Malgun Gothic"/>
              </a:rPr>
              <a:t>request,</a:t>
            </a:r>
            <a:r>
              <a:rPr sz="850" spc="21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90" dirty="0">
                <a:solidFill>
                  <a:srgbClr val="ABB1BE"/>
                </a:solidFill>
                <a:latin typeface="Malgun Gothic"/>
                <a:cs typeface="Malgun Gothic"/>
              </a:rPr>
              <a:t>jsonify</a:t>
            </a:r>
            <a:endParaRPr sz="850">
              <a:latin typeface="Malgun Gothic"/>
              <a:cs typeface="Malgun Gothic"/>
            </a:endParaRPr>
          </a:p>
          <a:p>
            <a:pPr marL="20955" marR="706755">
              <a:lnSpc>
                <a:spcPct val="129000"/>
              </a:lnSpc>
              <a:spcBef>
                <a:spcPts val="1380"/>
              </a:spcBef>
            </a:pPr>
            <a:r>
              <a:rPr sz="850" spc="70" dirty="0">
                <a:solidFill>
                  <a:srgbClr val="ABB1BE"/>
                </a:solidFill>
                <a:latin typeface="Malgun Gothic"/>
                <a:cs typeface="Malgun Gothic"/>
              </a:rPr>
              <a:t>@app.route('/users',</a:t>
            </a:r>
            <a:r>
              <a:rPr sz="850" spc="23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-10" dirty="0">
                <a:solidFill>
                  <a:srgbClr val="ABB1BE"/>
                </a:solidFill>
                <a:latin typeface="Malgun Gothic"/>
                <a:cs typeface="Malgun Gothic"/>
              </a:rPr>
              <a:t>methods=['POST'])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def</a:t>
            </a:r>
            <a:r>
              <a:rPr sz="850" spc="29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85" dirty="0">
                <a:solidFill>
                  <a:srgbClr val="ABB1BE"/>
                </a:solidFill>
                <a:latin typeface="Malgun Gothic"/>
                <a:cs typeface="Malgun Gothic"/>
              </a:rPr>
              <a:t>create_user():</a:t>
            </a:r>
            <a:endParaRPr sz="850">
              <a:latin typeface="Malgun Gothic"/>
              <a:cs typeface="Malgun Gothic"/>
            </a:endParaRPr>
          </a:p>
          <a:p>
            <a:pPr marL="254635">
              <a:lnSpc>
                <a:spcPct val="100000"/>
              </a:lnSpc>
              <a:spcBef>
                <a:spcPts val="295"/>
              </a:spcBef>
            </a:pP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data</a:t>
            </a:r>
            <a:r>
              <a:rPr sz="850" spc="16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=</a:t>
            </a:r>
            <a:r>
              <a:rPr sz="850" spc="16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70" dirty="0">
                <a:solidFill>
                  <a:srgbClr val="ABB1BE"/>
                </a:solidFill>
                <a:latin typeface="Malgun Gothic"/>
                <a:cs typeface="Malgun Gothic"/>
              </a:rPr>
              <a:t>request.get_json()</a:t>
            </a:r>
            <a:endParaRPr sz="850">
              <a:latin typeface="Malgun Gothic"/>
              <a:cs typeface="Malgun Gothic"/>
            </a:endParaRPr>
          </a:p>
          <a:p>
            <a:pPr marL="254635" marR="1001394">
              <a:lnSpc>
                <a:spcPts val="1380"/>
              </a:lnSpc>
              <a:spcBef>
                <a:spcPts val="45"/>
              </a:spcBef>
            </a:pP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#</a:t>
            </a:r>
            <a:r>
              <a:rPr sz="850" spc="22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125" dirty="0">
                <a:solidFill>
                  <a:srgbClr val="ABB1BE"/>
                </a:solidFill>
                <a:latin typeface="Malgun Gothic"/>
                <a:cs typeface="Malgun Gothic"/>
              </a:rPr>
              <a:t>1.</a:t>
            </a:r>
            <a:r>
              <a:rPr sz="850" spc="22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필수</a:t>
            </a:r>
            <a:r>
              <a:rPr sz="850" spc="25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필드</a:t>
            </a:r>
            <a:r>
              <a:rPr sz="850" spc="25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존재</a:t>
            </a:r>
            <a:r>
              <a:rPr sz="850" spc="25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유무</a:t>
            </a:r>
            <a:r>
              <a:rPr sz="850" spc="25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-25" dirty="0">
                <a:solidFill>
                  <a:srgbClr val="ABB1BE"/>
                </a:solidFill>
                <a:latin typeface="Malgun Gothic"/>
                <a:cs typeface="Malgun Gothic"/>
              </a:rPr>
              <a:t>검증 </a:t>
            </a:r>
            <a:r>
              <a:rPr sz="850" spc="204" dirty="0">
                <a:solidFill>
                  <a:srgbClr val="ABB1BE"/>
                </a:solidFill>
                <a:latin typeface="Malgun Gothic"/>
                <a:cs typeface="Malgun Gothic"/>
              </a:rPr>
              <a:t>if</a:t>
            </a:r>
            <a:r>
              <a:rPr sz="850" spc="19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90" dirty="0">
                <a:solidFill>
                  <a:srgbClr val="ABB1BE"/>
                </a:solidFill>
                <a:latin typeface="Malgun Gothic"/>
                <a:cs typeface="Malgun Gothic"/>
              </a:rPr>
              <a:t>'age'</a:t>
            </a:r>
            <a:r>
              <a:rPr sz="850" spc="20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not</a:t>
            </a:r>
            <a:r>
              <a:rPr sz="850" spc="20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100" dirty="0">
                <a:solidFill>
                  <a:srgbClr val="ABB1BE"/>
                </a:solidFill>
                <a:latin typeface="Malgun Gothic"/>
                <a:cs typeface="Malgun Gothic"/>
              </a:rPr>
              <a:t>in</a:t>
            </a:r>
            <a:r>
              <a:rPr sz="850" spc="20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60" dirty="0">
                <a:solidFill>
                  <a:srgbClr val="ABB1BE"/>
                </a:solidFill>
                <a:latin typeface="Malgun Gothic"/>
                <a:cs typeface="Malgun Gothic"/>
              </a:rPr>
              <a:t>data:</a:t>
            </a:r>
            <a:endParaRPr sz="850">
              <a:latin typeface="Malgun Gothic"/>
              <a:cs typeface="Malgun Gothic"/>
            </a:endParaRPr>
          </a:p>
          <a:p>
            <a:pPr marL="488950">
              <a:lnSpc>
                <a:spcPct val="100000"/>
              </a:lnSpc>
              <a:spcBef>
                <a:spcPts val="190"/>
              </a:spcBef>
            </a:pPr>
            <a:r>
              <a:rPr sz="850" spc="70" dirty="0">
                <a:solidFill>
                  <a:srgbClr val="ABB1BE"/>
                </a:solidFill>
                <a:latin typeface="Malgun Gothic"/>
                <a:cs typeface="Malgun Gothic"/>
              </a:rPr>
              <a:t>return</a:t>
            </a:r>
            <a:r>
              <a:rPr sz="850" spc="21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125" dirty="0">
                <a:solidFill>
                  <a:srgbClr val="ABB1BE"/>
                </a:solidFill>
                <a:latin typeface="Malgun Gothic"/>
                <a:cs typeface="Malgun Gothic"/>
              </a:rPr>
              <a:t>jsonify({"err":</a:t>
            </a:r>
            <a:r>
              <a:rPr sz="850" spc="21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"age</a:t>
            </a:r>
            <a:r>
              <a:rPr sz="850" spc="21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145" dirty="0">
                <a:solidFill>
                  <a:srgbClr val="ABB1BE"/>
                </a:solidFill>
                <a:latin typeface="Malgun Gothic"/>
                <a:cs typeface="Malgun Gothic"/>
              </a:rPr>
              <a:t>필수"}),</a:t>
            </a:r>
            <a:r>
              <a:rPr sz="850" spc="21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-25" dirty="0">
                <a:solidFill>
                  <a:srgbClr val="ABB1BE"/>
                </a:solidFill>
                <a:latin typeface="Malgun Gothic"/>
                <a:cs typeface="Malgun Gothic"/>
              </a:rPr>
              <a:t>400</a:t>
            </a:r>
            <a:endParaRPr sz="850">
              <a:latin typeface="Malgun Gothic"/>
              <a:cs typeface="Malgun Gothic"/>
            </a:endParaRPr>
          </a:p>
          <a:p>
            <a:pPr marL="254635">
              <a:lnSpc>
                <a:spcPct val="100000"/>
              </a:lnSpc>
              <a:spcBef>
                <a:spcPts val="295"/>
              </a:spcBef>
            </a:pP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#</a:t>
            </a:r>
            <a:r>
              <a:rPr sz="850" spc="21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125" dirty="0">
                <a:solidFill>
                  <a:srgbClr val="ABB1BE"/>
                </a:solidFill>
                <a:latin typeface="Malgun Gothic"/>
                <a:cs typeface="Malgun Gothic"/>
              </a:rPr>
              <a:t>2.</a:t>
            </a:r>
            <a:r>
              <a:rPr sz="850" spc="21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50" dirty="0">
                <a:solidFill>
                  <a:srgbClr val="ABB1BE"/>
                </a:solidFill>
                <a:latin typeface="Malgun Gothic"/>
                <a:cs typeface="Malgun Gothic"/>
              </a:rPr>
              <a:t>데이터</a:t>
            </a:r>
            <a:r>
              <a:rPr sz="850" spc="23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타입</a:t>
            </a:r>
            <a:r>
              <a:rPr sz="850" spc="23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일치</a:t>
            </a:r>
            <a:r>
              <a:rPr sz="850" spc="23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수동</a:t>
            </a:r>
            <a:r>
              <a:rPr sz="850" spc="23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-25" dirty="0">
                <a:solidFill>
                  <a:srgbClr val="ABB1BE"/>
                </a:solidFill>
                <a:latin typeface="Malgun Gothic"/>
                <a:cs typeface="Malgun Gothic"/>
              </a:rPr>
              <a:t>검증</a:t>
            </a:r>
            <a:endParaRPr sz="850">
              <a:latin typeface="Malgun Gothic"/>
              <a:cs typeface="Malgun Gothic"/>
            </a:endParaRPr>
          </a:p>
          <a:p>
            <a:pPr marL="254635">
              <a:lnSpc>
                <a:spcPct val="100000"/>
              </a:lnSpc>
              <a:spcBef>
                <a:spcPts val="295"/>
              </a:spcBef>
            </a:pPr>
            <a:r>
              <a:rPr sz="850" spc="204" dirty="0">
                <a:solidFill>
                  <a:srgbClr val="ABB1BE"/>
                </a:solidFill>
                <a:latin typeface="Malgun Gothic"/>
                <a:cs typeface="Malgun Gothic"/>
              </a:rPr>
              <a:t>if</a:t>
            </a:r>
            <a:r>
              <a:rPr sz="850" spc="22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not</a:t>
            </a:r>
            <a:r>
              <a:rPr sz="850" spc="22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100" dirty="0">
                <a:solidFill>
                  <a:srgbClr val="ABB1BE"/>
                </a:solidFill>
                <a:latin typeface="Malgun Gothic"/>
                <a:cs typeface="Malgun Gothic"/>
              </a:rPr>
              <a:t>isinstance(data['age'],</a:t>
            </a:r>
            <a:r>
              <a:rPr sz="850" spc="22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145" dirty="0">
                <a:solidFill>
                  <a:srgbClr val="ABB1BE"/>
                </a:solidFill>
                <a:latin typeface="Malgun Gothic"/>
                <a:cs typeface="Malgun Gothic"/>
              </a:rPr>
              <a:t>int):</a:t>
            </a:r>
            <a:endParaRPr sz="850">
              <a:latin typeface="Malgun Gothic"/>
              <a:cs typeface="Malgun Gothic"/>
            </a:endParaRPr>
          </a:p>
          <a:p>
            <a:pPr marL="488950">
              <a:lnSpc>
                <a:spcPct val="100000"/>
              </a:lnSpc>
              <a:spcBef>
                <a:spcPts val="365"/>
              </a:spcBef>
            </a:pPr>
            <a:r>
              <a:rPr sz="850" spc="70" dirty="0">
                <a:solidFill>
                  <a:srgbClr val="ABB1BE"/>
                </a:solidFill>
                <a:latin typeface="Malgun Gothic"/>
                <a:cs typeface="Malgun Gothic"/>
              </a:rPr>
              <a:t>return</a:t>
            </a:r>
            <a:r>
              <a:rPr sz="850" spc="22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125" dirty="0">
                <a:solidFill>
                  <a:srgbClr val="ABB1BE"/>
                </a:solidFill>
                <a:latin typeface="Malgun Gothic"/>
                <a:cs typeface="Malgun Gothic"/>
              </a:rPr>
              <a:t>jsonify({"err":</a:t>
            </a:r>
            <a:r>
              <a:rPr sz="850" spc="22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"age는</a:t>
            </a:r>
            <a:r>
              <a:rPr sz="850" spc="25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145" dirty="0">
                <a:solidFill>
                  <a:srgbClr val="ABB1BE"/>
                </a:solidFill>
                <a:latin typeface="Malgun Gothic"/>
                <a:cs typeface="Malgun Gothic"/>
              </a:rPr>
              <a:t>정수"}),</a:t>
            </a:r>
            <a:r>
              <a:rPr sz="850" spc="22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-25" dirty="0">
                <a:solidFill>
                  <a:srgbClr val="ABB1BE"/>
                </a:solidFill>
                <a:latin typeface="Malgun Gothic"/>
                <a:cs typeface="Malgun Gothic"/>
              </a:rPr>
              <a:t>400</a:t>
            </a:r>
            <a:endParaRPr sz="8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850">
              <a:latin typeface="Malgun Gothic"/>
              <a:cs typeface="Malgun Gothic"/>
            </a:endParaRPr>
          </a:p>
          <a:p>
            <a:pPr marL="254635">
              <a:lnSpc>
                <a:spcPct val="100000"/>
              </a:lnSpc>
            </a:pPr>
            <a:r>
              <a:rPr sz="850" spc="70" dirty="0">
                <a:solidFill>
                  <a:srgbClr val="ABB1BE"/>
                </a:solidFill>
                <a:latin typeface="Malgun Gothic"/>
                <a:cs typeface="Malgun Gothic"/>
              </a:rPr>
              <a:t>return</a:t>
            </a:r>
            <a:r>
              <a:rPr sz="850" spc="20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114" dirty="0">
                <a:solidFill>
                  <a:srgbClr val="ABB1BE"/>
                </a:solidFill>
                <a:latin typeface="Malgun Gothic"/>
                <a:cs typeface="Malgun Gothic"/>
              </a:rPr>
              <a:t>jsonify({"status":</a:t>
            </a:r>
            <a:r>
              <a:rPr sz="850" spc="204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70" dirty="0">
                <a:solidFill>
                  <a:srgbClr val="ABB1BE"/>
                </a:solidFill>
                <a:latin typeface="Malgun Gothic"/>
                <a:cs typeface="Malgun Gothic"/>
              </a:rPr>
              <a:t>"Success"})</a:t>
            </a:r>
            <a:endParaRPr sz="850">
              <a:latin typeface="Malgun Gothic"/>
              <a:cs typeface="Malgun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431854" y="1810917"/>
            <a:ext cx="4596765" cy="3412113"/>
            <a:chOff x="5431854" y="1810917"/>
            <a:chExt cx="4596765" cy="3412113"/>
          </a:xfrm>
        </p:grpSpPr>
        <p:sp>
          <p:nvSpPr>
            <p:cNvPr id="10" name="object 10"/>
            <p:cNvSpPr/>
            <p:nvPr/>
          </p:nvSpPr>
          <p:spPr>
            <a:xfrm>
              <a:off x="5431854" y="2047395"/>
              <a:ext cx="4596765" cy="3175635"/>
            </a:xfrm>
            <a:custGeom>
              <a:avLst/>
              <a:gdLst/>
              <a:ahLst/>
              <a:cxnLst/>
              <a:rect l="l" t="t" r="r" b="b"/>
              <a:pathLst>
                <a:path w="4596765" h="3175635">
                  <a:moveTo>
                    <a:pt x="4462477" y="3175545"/>
                  </a:moveTo>
                  <a:lnTo>
                    <a:pt x="133707" y="3175545"/>
                  </a:lnTo>
                  <a:lnTo>
                    <a:pt x="127138" y="3175380"/>
                  </a:lnTo>
                  <a:lnTo>
                    <a:pt x="88669" y="3167719"/>
                  </a:lnTo>
                  <a:lnTo>
                    <a:pt x="54050" y="3149221"/>
                  </a:lnTo>
                  <a:lnTo>
                    <a:pt x="26315" y="3121480"/>
                  </a:lnTo>
                  <a:lnTo>
                    <a:pt x="7811" y="3086867"/>
                  </a:lnTo>
                  <a:lnTo>
                    <a:pt x="160" y="3048402"/>
                  </a:lnTo>
                  <a:lnTo>
                    <a:pt x="0" y="3041838"/>
                  </a:lnTo>
                  <a:lnTo>
                    <a:pt x="0" y="133707"/>
                  </a:lnTo>
                  <a:lnTo>
                    <a:pt x="5755" y="94883"/>
                  </a:lnTo>
                  <a:lnTo>
                    <a:pt x="22533" y="59419"/>
                  </a:lnTo>
                  <a:lnTo>
                    <a:pt x="48882" y="30340"/>
                  </a:lnTo>
                  <a:lnTo>
                    <a:pt x="82538" y="10168"/>
                  </a:lnTo>
                  <a:lnTo>
                    <a:pt x="120601" y="641"/>
                  </a:lnTo>
                  <a:lnTo>
                    <a:pt x="133707" y="0"/>
                  </a:lnTo>
                  <a:lnTo>
                    <a:pt x="4462477" y="0"/>
                  </a:lnTo>
                  <a:lnTo>
                    <a:pt x="4501289" y="5750"/>
                  </a:lnTo>
                  <a:lnTo>
                    <a:pt x="4536759" y="22523"/>
                  </a:lnTo>
                  <a:lnTo>
                    <a:pt x="4565834" y="48870"/>
                  </a:lnTo>
                  <a:lnTo>
                    <a:pt x="4586005" y="82530"/>
                  </a:lnTo>
                  <a:lnTo>
                    <a:pt x="4595541" y="120596"/>
                  </a:lnTo>
                  <a:lnTo>
                    <a:pt x="4596184" y="133707"/>
                  </a:lnTo>
                  <a:lnTo>
                    <a:pt x="4596184" y="3041838"/>
                  </a:lnTo>
                  <a:lnTo>
                    <a:pt x="4590427" y="3080642"/>
                  </a:lnTo>
                  <a:lnTo>
                    <a:pt x="4573649" y="3116110"/>
                  </a:lnTo>
                  <a:lnTo>
                    <a:pt x="4547299" y="3145188"/>
                  </a:lnTo>
                  <a:lnTo>
                    <a:pt x="4513643" y="3165352"/>
                  </a:lnTo>
                  <a:lnTo>
                    <a:pt x="4475582" y="3174895"/>
                  </a:lnTo>
                  <a:lnTo>
                    <a:pt x="4462477" y="3175545"/>
                  </a:lnTo>
                  <a:close/>
                </a:path>
              </a:pathLst>
            </a:custGeom>
            <a:solidFill>
              <a:srgbClr val="282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1854" y="1810917"/>
              <a:ext cx="133349" cy="1269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619715" y="1776053"/>
            <a:ext cx="2714625" cy="2153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14"/>
              </a:spcBef>
            </a:pPr>
            <a:r>
              <a:rPr sz="1100" b="1" spc="-75" dirty="0">
                <a:solidFill>
                  <a:srgbClr val="0FB981"/>
                </a:solidFill>
                <a:latin typeface="Malgun Gothic"/>
                <a:cs typeface="Malgun Gothic"/>
              </a:rPr>
              <a:t>FastAPI의</a:t>
            </a:r>
            <a:r>
              <a:rPr sz="1100" b="1" spc="-65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1100" b="1" spc="-215" dirty="0">
                <a:solidFill>
                  <a:srgbClr val="0FB981"/>
                </a:solidFill>
                <a:latin typeface="Malgun Gothic"/>
                <a:cs typeface="Malgun Gothic"/>
              </a:rPr>
              <a:t>타입</a:t>
            </a:r>
            <a:r>
              <a:rPr sz="1100" b="1" spc="-55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1100" b="1" spc="-185" dirty="0">
                <a:solidFill>
                  <a:srgbClr val="0FB981"/>
                </a:solidFill>
                <a:latin typeface="Malgun Gothic"/>
                <a:cs typeface="Malgun Gothic"/>
              </a:rPr>
              <a:t>힌트</a:t>
            </a:r>
            <a:r>
              <a:rPr sz="1100" b="1" spc="-135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1100" b="1" spc="-180" dirty="0">
                <a:solidFill>
                  <a:srgbClr val="0FB981"/>
                </a:solidFill>
                <a:latin typeface="Malgun Gothic"/>
                <a:cs typeface="Malgun Gothic"/>
              </a:rPr>
              <a:t>검증</a:t>
            </a:r>
            <a:r>
              <a:rPr sz="1100" b="1" spc="-140" dirty="0">
                <a:solidFill>
                  <a:srgbClr val="0FB981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0FB981"/>
                </a:solidFill>
                <a:latin typeface="Malgun Gothic"/>
                <a:cs typeface="Malgun Gothic"/>
              </a:rPr>
              <a:t>자동화</a:t>
            </a:r>
            <a:endParaRPr sz="1100">
              <a:latin typeface="Malgun Gothic"/>
              <a:cs typeface="Malgun Gothic"/>
            </a:endParaRPr>
          </a:p>
          <a:p>
            <a:pPr marL="12700" marR="940435">
              <a:lnSpc>
                <a:spcPct val="264500"/>
              </a:lnSpc>
              <a:spcBef>
                <a:spcPts val="740"/>
              </a:spcBef>
            </a:pP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from</a:t>
            </a:r>
            <a:r>
              <a:rPr sz="850" spc="22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45" dirty="0">
                <a:solidFill>
                  <a:srgbClr val="ABB1BE"/>
                </a:solidFill>
                <a:latin typeface="Malgun Gothic"/>
                <a:cs typeface="Malgun Gothic"/>
              </a:rPr>
              <a:t>pydantic</a:t>
            </a:r>
            <a:r>
              <a:rPr sz="850" spc="22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import</a:t>
            </a:r>
            <a:r>
              <a:rPr sz="850" spc="22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-10" dirty="0">
                <a:solidFill>
                  <a:srgbClr val="ABB1BE"/>
                </a:solidFill>
                <a:latin typeface="Malgun Gothic"/>
                <a:cs typeface="Malgun Gothic"/>
              </a:rPr>
              <a:t>BaseModel </a:t>
            </a:r>
            <a:r>
              <a:rPr sz="850" spc="95" dirty="0">
                <a:solidFill>
                  <a:srgbClr val="ABB1BE"/>
                </a:solidFill>
                <a:latin typeface="Malgun Gothic"/>
                <a:cs typeface="Malgun Gothic"/>
              </a:rPr>
              <a:t>class</a:t>
            </a:r>
            <a:r>
              <a:rPr sz="850" spc="19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-10" dirty="0">
                <a:solidFill>
                  <a:srgbClr val="ABB1BE"/>
                </a:solidFill>
                <a:latin typeface="Malgun Gothic"/>
                <a:cs typeface="Malgun Gothic"/>
              </a:rPr>
              <a:t>UserSchema(BaseModel):</a:t>
            </a:r>
            <a:endParaRPr sz="850">
              <a:latin typeface="Malgun Gothic"/>
              <a:cs typeface="Malgun Gothic"/>
            </a:endParaRPr>
          </a:p>
          <a:p>
            <a:pPr marL="246379">
              <a:lnSpc>
                <a:spcPct val="100000"/>
              </a:lnSpc>
              <a:spcBef>
                <a:spcPts val="295"/>
              </a:spcBef>
            </a:pP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name:</a:t>
            </a:r>
            <a:r>
              <a:rPr sz="850" spc="13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110" dirty="0">
                <a:solidFill>
                  <a:srgbClr val="ABB1BE"/>
                </a:solidFill>
                <a:latin typeface="Malgun Gothic"/>
                <a:cs typeface="Malgun Gothic"/>
              </a:rPr>
              <a:t>str</a:t>
            </a:r>
            <a:endParaRPr sz="850">
              <a:latin typeface="Malgun Gothic"/>
              <a:cs typeface="Malgun Gothic"/>
            </a:endParaRPr>
          </a:p>
          <a:p>
            <a:pPr marL="246379">
              <a:lnSpc>
                <a:spcPct val="100000"/>
              </a:lnSpc>
              <a:spcBef>
                <a:spcPts val="295"/>
              </a:spcBef>
            </a:pPr>
            <a:r>
              <a:rPr sz="850" spc="55" dirty="0">
                <a:solidFill>
                  <a:srgbClr val="ABB1BE"/>
                </a:solidFill>
                <a:latin typeface="Malgun Gothic"/>
                <a:cs typeface="Malgun Gothic"/>
              </a:rPr>
              <a:t>age:</a:t>
            </a:r>
            <a:r>
              <a:rPr sz="850" spc="21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120" dirty="0">
                <a:solidFill>
                  <a:srgbClr val="ABB1BE"/>
                </a:solidFill>
                <a:latin typeface="Malgun Gothic"/>
                <a:cs typeface="Malgun Gothic"/>
              </a:rPr>
              <a:t>int</a:t>
            </a:r>
            <a:r>
              <a:rPr sz="850" spc="204" dirty="0">
                <a:solidFill>
                  <a:srgbClr val="ABB1BE"/>
                </a:solidFill>
                <a:latin typeface="Malgun Gothic"/>
                <a:cs typeface="Malgun Gothic"/>
              </a:rPr>
              <a:t> 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#</a:t>
            </a:r>
            <a:r>
              <a:rPr sz="850" spc="22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타입</a:t>
            </a:r>
            <a:r>
              <a:rPr sz="850" spc="23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힌트</a:t>
            </a:r>
            <a:r>
              <a:rPr sz="850" spc="23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50" dirty="0">
                <a:solidFill>
                  <a:srgbClr val="ABB1BE"/>
                </a:solidFill>
                <a:latin typeface="Malgun Gothic"/>
                <a:cs typeface="Malgun Gothic"/>
              </a:rPr>
              <a:t>하나로</a:t>
            </a:r>
            <a:r>
              <a:rPr sz="850" spc="229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자동</a:t>
            </a:r>
            <a:r>
              <a:rPr sz="850" spc="23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검증</a:t>
            </a:r>
            <a:r>
              <a:rPr sz="850" spc="23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100" dirty="0">
                <a:solidFill>
                  <a:srgbClr val="ABB1BE"/>
                </a:solidFill>
                <a:latin typeface="Malgun Gothic"/>
                <a:cs typeface="Malgun Gothic"/>
              </a:rPr>
              <a:t>끝!</a:t>
            </a:r>
            <a:endParaRPr sz="8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8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850" spc="55" dirty="0">
                <a:solidFill>
                  <a:srgbClr val="ABB1BE"/>
                </a:solidFill>
                <a:latin typeface="Malgun Gothic"/>
                <a:cs typeface="Malgun Gothic"/>
              </a:rPr>
              <a:t>@app.post('/users')</a:t>
            </a:r>
            <a:endParaRPr sz="8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def</a:t>
            </a:r>
            <a:r>
              <a:rPr sz="850" spc="26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80" dirty="0">
                <a:solidFill>
                  <a:srgbClr val="ABB1BE"/>
                </a:solidFill>
                <a:latin typeface="Malgun Gothic"/>
                <a:cs typeface="Malgun Gothic"/>
              </a:rPr>
              <a:t>create_user(user:</a:t>
            </a:r>
            <a:r>
              <a:rPr sz="850" spc="26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-10" dirty="0">
                <a:solidFill>
                  <a:srgbClr val="ABB1BE"/>
                </a:solidFill>
                <a:latin typeface="Malgun Gothic"/>
                <a:cs typeface="Malgun Gothic"/>
              </a:rPr>
              <a:t>UserSchema):</a:t>
            </a:r>
            <a:endParaRPr sz="850">
              <a:latin typeface="Malgun Gothic"/>
              <a:cs typeface="Malgun Gothic"/>
            </a:endParaRPr>
          </a:p>
          <a:p>
            <a:pPr marL="246379" marR="5080">
              <a:lnSpc>
                <a:spcPct val="129000"/>
              </a:lnSpc>
            </a:pP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#</a:t>
            </a:r>
            <a:r>
              <a:rPr sz="850" spc="19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검증</a:t>
            </a:r>
            <a:r>
              <a:rPr sz="850" spc="22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실패</a:t>
            </a:r>
            <a:r>
              <a:rPr sz="850" spc="22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시</a:t>
            </a:r>
            <a:r>
              <a:rPr sz="850" spc="22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자동</a:t>
            </a:r>
            <a:r>
              <a:rPr sz="850" spc="22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422</a:t>
            </a:r>
            <a:r>
              <a:rPr sz="850" spc="195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-30" dirty="0">
                <a:solidFill>
                  <a:srgbClr val="ABB1BE"/>
                </a:solidFill>
                <a:latin typeface="Malgun Gothic"/>
                <a:cs typeface="Malgun Gothic"/>
              </a:rPr>
              <a:t>JSON</a:t>
            </a:r>
            <a:r>
              <a:rPr sz="850" spc="20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dirty="0">
                <a:solidFill>
                  <a:srgbClr val="ABB1BE"/>
                </a:solidFill>
                <a:latin typeface="Malgun Gothic"/>
                <a:cs typeface="Malgun Gothic"/>
              </a:rPr>
              <a:t>에러</a:t>
            </a:r>
            <a:r>
              <a:rPr sz="850" spc="22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-25" dirty="0">
                <a:solidFill>
                  <a:srgbClr val="ABB1BE"/>
                </a:solidFill>
                <a:latin typeface="Malgun Gothic"/>
                <a:cs typeface="Malgun Gothic"/>
              </a:rPr>
              <a:t>리턴 </a:t>
            </a:r>
            <a:r>
              <a:rPr sz="850" spc="70" dirty="0">
                <a:solidFill>
                  <a:srgbClr val="ABB1BE"/>
                </a:solidFill>
                <a:latin typeface="Malgun Gothic"/>
                <a:cs typeface="Malgun Gothic"/>
              </a:rPr>
              <a:t>return</a:t>
            </a:r>
            <a:r>
              <a:rPr sz="850" spc="19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120" dirty="0">
                <a:solidFill>
                  <a:srgbClr val="ABB1BE"/>
                </a:solidFill>
                <a:latin typeface="Malgun Gothic"/>
                <a:cs typeface="Malgun Gothic"/>
              </a:rPr>
              <a:t>{"status":</a:t>
            </a:r>
            <a:r>
              <a:rPr sz="850" spc="19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75" dirty="0">
                <a:solidFill>
                  <a:srgbClr val="ABB1BE"/>
                </a:solidFill>
                <a:latin typeface="Malgun Gothic"/>
                <a:cs typeface="Malgun Gothic"/>
              </a:rPr>
              <a:t>"Success",</a:t>
            </a:r>
            <a:r>
              <a:rPr sz="850" spc="19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100" dirty="0">
                <a:solidFill>
                  <a:srgbClr val="ABB1BE"/>
                </a:solidFill>
                <a:latin typeface="Malgun Gothic"/>
                <a:cs typeface="Malgun Gothic"/>
              </a:rPr>
              <a:t>"user":</a:t>
            </a:r>
            <a:r>
              <a:rPr sz="850" spc="190" dirty="0">
                <a:solidFill>
                  <a:srgbClr val="ABB1BE"/>
                </a:solidFill>
                <a:latin typeface="Malgun Gothic"/>
                <a:cs typeface="Malgun Gothic"/>
              </a:rPr>
              <a:t> </a:t>
            </a:r>
            <a:r>
              <a:rPr sz="850" spc="70" dirty="0">
                <a:solidFill>
                  <a:srgbClr val="ABB1BE"/>
                </a:solidFill>
                <a:latin typeface="Malgun Gothic"/>
                <a:cs typeface="Malgun Gothic"/>
              </a:rPr>
              <a:t>user}</a:t>
            </a:r>
            <a:endParaRPr sz="8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800" spc="-750" baseline="4340" dirty="0">
                <a:solidFill>
                  <a:srgbClr val="0FB981"/>
                </a:solidFill>
                <a:latin typeface="Trebuchet MS"/>
                <a:cs typeface="Trebuchet MS"/>
              </a:rPr>
              <a:t>13.</a:t>
            </a:r>
            <a:r>
              <a:rPr sz="4800" spc="232" baseline="4340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3250" spc="-155" dirty="0"/>
              <a:t>Swagger:</a:t>
            </a:r>
            <a:r>
              <a:rPr sz="3250" spc="-145" dirty="0"/>
              <a:t> </a:t>
            </a:r>
            <a:r>
              <a:rPr sz="3250" spc="-625" dirty="0"/>
              <a:t>자동화의</a:t>
            </a:r>
            <a:r>
              <a:rPr sz="3250" spc="-220" dirty="0"/>
              <a:t> </a:t>
            </a:r>
            <a:r>
              <a:rPr sz="3250" spc="-670" dirty="0"/>
              <a:t>마법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835" y="1661646"/>
            <a:ext cx="308419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b="1" spc="-370" dirty="0">
                <a:solidFill>
                  <a:srgbClr val="1F2937"/>
                </a:solidFill>
                <a:latin typeface="Malgun Gothic"/>
                <a:cs typeface="Malgun Gothic"/>
              </a:rPr>
              <a:t>명세</a:t>
            </a:r>
            <a:r>
              <a:rPr sz="2050" b="1" spc="-195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2050" b="1" spc="-395" dirty="0">
                <a:solidFill>
                  <a:srgbClr val="1F2937"/>
                </a:solidFill>
                <a:latin typeface="Malgun Gothic"/>
                <a:cs typeface="Malgun Gothic"/>
              </a:rPr>
              <a:t>관리의</a:t>
            </a:r>
            <a:r>
              <a:rPr sz="2050" b="1" spc="-145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2050" b="1" spc="-350" dirty="0">
                <a:solidFill>
                  <a:srgbClr val="1F2937"/>
                </a:solidFill>
                <a:latin typeface="Malgun Gothic"/>
                <a:cs typeface="Malgun Gothic"/>
              </a:rPr>
              <a:t>귀찮음을</a:t>
            </a:r>
            <a:r>
              <a:rPr sz="2050" b="1" spc="-28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2050" b="1" spc="-405" dirty="0">
                <a:solidFill>
                  <a:srgbClr val="1F2937"/>
                </a:solidFill>
                <a:latin typeface="Malgun Gothic"/>
                <a:cs typeface="Malgun Gothic"/>
              </a:rPr>
              <a:t>완벽</a:t>
            </a:r>
            <a:r>
              <a:rPr sz="2050" b="1" spc="-145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2050" b="1" spc="-405" dirty="0">
                <a:solidFill>
                  <a:srgbClr val="1F2937"/>
                </a:solidFill>
                <a:latin typeface="Malgun Gothic"/>
                <a:cs typeface="Malgun Gothic"/>
              </a:rPr>
              <a:t>해결</a:t>
            </a:r>
            <a:endParaRPr sz="205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5983" y="1670304"/>
            <a:ext cx="5172455" cy="38770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916769" y="2796424"/>
            <a:ext cx="133604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45" dirty="0">
                <a:solidFill>
                  <a:srgbClr val="FFFFFF"/>
                </a:solidFill>
                <a:latin typeface="Malgun Gothic"/>
                <a:cs typeface="Malgun Gothic"/>
              </a:rPr>
              <a:t>Swagger</a:t>
            </a:r>
            <a:r>
              <a:rPr sz="950" b="1" spc="-10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950" b="1" spc="-80" dirty="0">
                <a:solidFill>
                  <a:srgbClr val="FFFFFF"/>
                </a:solidFill>
                <a:latin typeface="Malgun Gothic"/>
                <a:cs typeface="Malgun Gothic"/>
              </a:rPr>
              <a:t>UI</a:t>
            </a:r>
            <a:r>
              <a:rPr sz="950" b="1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950" b="1" spc="-20" dirty="0">
                <a:solidFill>
                  <a:srgbClr val="FFFFFF"/>
                </a:solidFill>
                <a:latin typeface="Malgun Gothic"/>
                <a:cs typeface="Malgun Gothic"/>
              </a:rPr>
              <a:t>Live</a:t>
            </a:r>
            <a:r>
              <a:rPr sz="950" b="1" spc="-7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950" b="1" spc="-50" dirty="0">
                <a:solidFill>
                  <a:srgbClr val="FFFFFF"/>
                </a:solidFill>
                <a:latin typeface="Malgun Gothic"/>
                <a:cs typeface="Malgun Gothic"/>
              </a:rPr>
              <a:t>Mockup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9113" y="3332441"/>
            <a:ext cx="2946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35" dirty="0">
                <a:solidFill>
                  <a:srgbClr val="FFFFFF"/>
                </a:solidFill>
                <a:latin typeface="Malgun Gothic"/>
                <a:cs typeface="Malgun Gothic"/>
              </a:rPr>
              <a:t>POST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76165" y="3321292"/>
            <a:ext cx="41529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solidFill>
                  <a:srgbClr val="1D2937"/>
                </a:solidFill>
                <a:latin typeface="Malgun Gothic"/>
                <a:cs typeface="Malgun Gothic"/>
              </a:rPr>
              <a:t>/</a:t>
            </a:r>
            <a:r>
              <a:rPr sz="900" b="1" spc="-160" dirty="0">
                <a:solidFill>
                  <a:srgbClr val="1D2937"/>
                </a:solidFill>
                <a:latin typeface="Malgun Gothic"/>
                <a:cs typeface="Malgun Gothic"/>
              </a:rPr>
              <a:t> </a:t>
            </a:r>
            <a:r>
              <a:rPr sz="900" b="1" dirty="0">
                <a:solidFill>
                  <a:srgbClr val="1D2937"/>
                </a:solidFill>
                <a:latin typeface="Malgun Gothic"/>
                <a:cs typeface="Malgun Gothic"/>
              </a:rPr>
              <a:t>user</a:t>
            </a:r>
            <a:r>
              <a:rPr sz="900" b="1" spc="-70" dirty="0">
                <a:solidFill>
                  <a:srgbClr val="1D2937"/>
                </a:solidFill>
                <a:latin typeface="Malgun Gothic"/>
                <a:cs typeface="Malgun Gothic"/>
              </a:rPr>
              <a:t> </a:t>
            </a:r>
            <a:r>
              <a:rPr sz="900" b="1" spc="-50" dirty="0">
                <a:solidFill>
                  <a:srgbClr val="1D2937"/>
                </a:solidFill>
                <a:latin typeface="Malgun Gothic"/>
                <a:cs typeface="Malgun Gothic"/>
              </a:rPr>
              <a:t>s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25050" y="3334095"/>
            <a:ext cx="571500" cy="1612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spc="-25" dirty="0">
                <a:solidFill>
                  <a:srgbClr val="6A7280"/>
                </a:solidFill>
                <a:latin typeface="Malgun Gothic"/>
                <a:cs typeface="Malgun Gothic"/>
              </a:rPr>
              <a:t>Create</a:t>
            </a:r>
            <a:r>
              <a:rPr sz="850" spc="-5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850" spc="-20" dirty="0">
                <a:solidFill>
                  <a:srgbClr val="6A7280"/>
                </a:solidFill>
                <a:latin typeface="Malgun Gothic"/>
                <a:cs typeface="Malgun Gothic"/>
              </a:rPr>
              <a:t>User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59113" y="3850556"/>
            <a:ext cx="2247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FFFFFF"/>
                </a:solidFill>
                <a:latin typeface="Malgun Gothic"/>
                <a:cs typeface="Malgun Gothic"/>
              </a:rPr>
              <a:t>GET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5786" y="3839407"/>
            <a:ext cx="74866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solidFill>
                  <a:srgbClr val="1D2937"/>
                </a:solidFill>
                <a:latin typeface="Malgun Gothic"/>
                <a:cs typeface="Malgun Gothic"/>
              </a:rPr>
              <a:t>/</a:t>
            </a:r>
            <a:r>
              <a:rPr sz="900" b="1" spc="-175" dirty="0">
                <a:solidFill>
                  <a:srgbClr val="1D2937"/>
                </a:solidFill>
                <a:latin typeface="Malgun Gothic"/>
                <a:cs typeface="Malgun Gothic"/>
              </a:rPr>
              <a:t> </a:t>
            </a:r>
            <a:r>
              <a:rPr sz="900" b="1" dirty="0">
                <a:solidFill>
                  <a:srgbClr val="1D2937"/>
                </a:solidFill>
                <a:latin typeface="Malgun Gothic"/>
                <a:cs typeface="Malgun Gothic"/>
              </a:rPr>
              <a:t>user</a:t>
            </a:r>
            <a:r>
              <a:rPr sz="900" b="1" spc="-100" dirty="0">
                <a:solidFill>
                  <a:srgbClr val="1D2937"/>
                </a:solidFill>
                <a:latin typeface="Malgun Gothic"/>
                <a:cs typeface="Malgun Gothic"/>
              </a:rPr>
              <a:t> </a:t>
            </a:r>
            <a:r>
              <a:rPr sz="900" b="1" spc="50" dirty="0">
                <a:solidFill>
                  <a:srgbClr val="1D2937"/>
                </a:solidFill>
                <a:latin typeface="Malgun Gothic"/>
                <a:cs typeface="Malgun Gothic"/>
              </a:rPr>
              <a:t>s/</a:t>
            </a:r>
            <a:r>
              <a:rPr sz="900" b="1" spc="-175" dirty="0">
                <a:solidFill>
                  <a:srgbClr val="1D2937"/>
                </a:solidFill>
                <a:latin typeface="Malgun Gothic"/>
                <a:cs typeface="Malgun Gothic"/>
              </a:rPr>
              <a:t> </a:t>
            </a:r>
            <a:r>
              <a:rPr sz="900" b="1" spc="55" dirty="0">
                <a:solidFill>
                  <a:srgbClr val="1D2937"/>
                </a:solidFill>
                <a:latin typeface="Malgun Gothic"/>
                <a:cs typeface="Malgun Gothic"/>
              </a:rPr>
              <a:t>{</a:t>
            </a:r>
            <a:r>
              <a:rPr sz="900" b="1" spc="-140" dirty="0">
                <a:solidFill>
                  <a:srgbClr val="1D2937"/>
                </a:solidFill>
                <a:latin typeface="Malgun Gothic"/>
                <a:cs typeface="Malgun Gothic"/>
              </a:rPr>
              <a:t> </a:t>
            </a:r>
            <a:r>
              <a:rPr sz="900" b="1" dirty="0">
                <a:solidFill>
                  <a:srgbClr val="1D2937"/>
                </a:solidFill>
                <a:latin typeface="Malgun Gothic"/>
                <a:cs typeface="Malgun Gothic"/>
              </a:rPr>
              <a:t>i</a:t>
            </a:r>
            <a:r>
              <a:rPr sz="900" b="1" spc="-35" dirty="0">
                <a:solidFill>
                  <a:srgbClr val="1D2937"/>
                </a:solidFill>
                <a:latin typeface="Malgun Gothic"/>
                <a:cs typeface="Malgun Gothic"/>
              </a:rPr>
              <a:t> </a:t>
            </a:r>
            <a:r>
              <a:rPr sz="900" b="1" spc="-25" dirty="0">
                <a:solidFill>
                  <a:srgbClr val="1D2937"/>
                </a:solidFill>
                <a:latin typeface="Malgun Gothic"/>
                <a:cs typeface="Malgun Gothic"/>
              </a:rPr>
              <a:t>d}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19527" y="3852210"/>
            <a:ext cx="774065" cy="1612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spc="-30" dirty="0">
                <a:solidFill>
                  <a:srgbClr val="6A7280"/>
                </a:solidFill>
                <a:latin typeface="Malgun Gothic"/>
                <a:cs typeface="Malgun Gothic"/>
              </a:rPr>
              <a:t>Get</a:t>
            </a:r>
            <a:r>
              <a:rPr sz="850" spc="-85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850" spc="-10" dirty="0">
                <a:solidFill>
                  <a:srgbClr val="6A7280"/>
                </a:solidFill>
                <a:latin typeface="Malgun Gothic"/>
                <a:cs typeface="Malgun Gothic"/>
              </a:rPr>
              <a:t>User</a:t>
            </a:r>
            <a:r>
              <a:rPr sz="850" spc="-90" dirty="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850" spc="-10" dirty="0">
                <a:solidFill>
                  <a:srgbClr val="6A7280"/>
                </a:solidFill>
                <a:latin typeface="Malgun Gothic"/>
                <a:cs typeface="Malgun Gothic"/>
              </a:rPr>
              <a:t>Details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1887" y="2130156"/>
            <a:ext cx="4129404" cy="98679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20600"/>
              </a:lnSpc>
              <a:spcBef>
                <a:spcPts val="60"/>
              </a:spcBef>
            </a:pPr>
            <a:r>
              <a:rPr sz="1750" b="1" spc="-280" dirty="0">
                <a:solidFill>
                  <a:srgbClr val="374050"/>
                </a:solidFill>
                <a:latin typeface="Malgun Gothic"/>
                <a:cs typeface="Malgun Gothic"/>
              </a:rPr>
              <a:t>개발과</a:t>
            </a:r>
            <a:r>
              <a:rPr sz="1750" b="1" spc="-2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325" dirty="0">
                <a:solidFill>
                  <a:srgbClr val="374050"/>
                </a:solidFill>
                <a:latin typeface="Malgun Gothic"/>
                <a:cs typeface="Malgun Gothic"/>
              </a:rPr>
              <a:t>명세의</a:t>
            </a:r>
            <a:r>
              <a:rPr sz="1750" b="1" spc="-12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330" dirty="0">
                <a:solidFill>
                  <a:srgbClr val="374050"/>
                </a:solidFill>
                <a:latin typeface="Malgun Gothic"/>
                <a:cs typeface="Malgun Gothic"/>
              </a:rPr>
              <a:t>완벽</a:t>
            </a:r>
            <a:r>
              <a:rPr sz="1750" b="1" spc="-12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240" dirty="0">
                <a:solidFill>
                  <a:srgbClr val="374050"/>
                </a:solidFill>
                <a:latin typeface="Malgun Gothic"/>
                <a:cs typeface="Malgun Gothic"/>
              </a:rPr>
              <a:t>동기화</a:t>
            </a:r>
            <a:r>
              <a:rPr sz="1700" b="1" spc="-240" dirty="0">
                <a:solidFill>
                  <a:srgbClr val="374050"/>
                </a:solidFill>
                <a:latin typeface="Malgun Gothic"/>
                <a:cs typeface="Malgun Gothic"/>
              </a:rPr>
              <a:t>:</a:t>
            </a:r>
            <a:r>
              <a:rPr sz="1700" b="1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90" dirty="0">
                <a:solidFill>
                  <a:srgbClr val="374050"/>
                </a:solidFill>
                <a:latin typeface="Malgun Gothic"/>
                <a:cs typeface="Malgun Gothic"/>
              </a:rPr>
              <a:t>코드가</a:t>
            </a:r>
            <a:r>
              <a:rPr sz="1750" spc="-25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20" dirty="0">
                <a:solidFill>
                  <a:srgbClr val="374050"/>
                </a:solidFill>
                <a:latin typeface="Malgun Gothic"/>
                <a:cs typeface="Malgun Gothic"/>
              </a:rPr>
              <a:t>수정될</a:t>
            </a:r>
            <a:r>
              <a:rPr sz="1750" spc="-13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10" dirty="0">
                <a:solidFill>
                  <a:srgbClr val="374050"/>
                </a:solidFill>
                <a:latin typeface="Malgun Gothic"/>
                <a:cs typeface="Malgun Gothic"/>
              </a:rPr>
              <a:t>때마다 </a:t>
            </a:r>
            <a:r>
              <a:rPr sz="1750" spc="-320" dirty="0">
                <a:solidFill>
                  <a:srgbClr val="374050"/>
                </a:solidFill>
                <a:latin typeface="Malgun Gothic"/>
                <a:cs typeface="Malgun Gothic"/>
              </a:rPr>
              <a:t>번거롭던</a:t>
            </a:r>
            <a:r>
              <a:rPr sz="1750" spc="-13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50" dirty="0">
                <a:solidFill>
                  <a:srgbClr val="374050"/>
                </a:solidFill>
                <a:latin typeface="Malgun Gothic"/>
                <a:cs typeface="Malgun Gothic"/>
              </a:rPr>
              <a:t>문서</a:t>
            </a:r>
            <a:r>
              <a:rPr sz="1750" spc="-8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95" dirty="0">
                <a:solidFill>
                  <a:srgbClr val="374050"/>
                </a:solidFill>
                <a:latin typeface="Malgun Gothic"/>
                <a:cs typeface="Malgun Gothic"/>
              </a:rPr>
              <a:t>업데이트가</a:t>
            </a:r>
            <a:r>
              <a:rPr sz="1750" spc="-254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90" dirty="0">
                <a:solidFill>
                  <a:srgbClr val="374050"/>
                </a:solidFill>
                <a:latin typeface="Malgun Gothic"/>
                <a:cs typeface="Malgun Gothic"/>
              </a:rPr>
              <a:t>소스</a:t>
            </a:r>
            <a:r>
              <a:rPr sz="1750" spc="-21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85" dirty="0">
                <a:solidFill>
                  <a:srgbClr val="374050"/>
                </a:solidFill>
                <a:latin typeface="Malgun Gothic"/>
                <a:cs typeface="Malgun Gothic"/>
              </a:rPr>
              <a:t>구현과</a:t>
            </a:r>
            <a:r>
              <a:rPr sz="1750" spc="-25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25" dirty="0">
                <a:solidFill>
                  <a:srgbClr val="374050"/>
                </a:solidFill>
                <a:latin typeface="Malgun Gothic"/>
                <a:cs typeface="Malgun Gothic"/>
              </a:rPr>
              <a:t>동시에</a:t>
            </a:r>
            <a:r>
              <a:rPr sz="1750" spc="-12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85" dirty="0">
                <a:solidFill>
                  <a:srgbClr val="374050"/>
                </a:solidFill>
                <a:latin typeface="Malgun Gothic"/>
                <a:cs typeface="Malgun Gothic"/>
              </a:rPr>
              <a:t>실 </a:t>
            </a:r>
            <a:r>
              <a:rPr sz="1750" spc="-265" dirty="0">
                <a:solidFill>
                  <a:srgbClr val="374050"/>
                </a:solidFill>
                <a:latin typeface="Malgun Gothic"/>
                <a:cs typeface="Malgun Gothic"/>
              </a:rPr>
              <a:t>시간</a:t>
            </a:r>
            <a:r>
              <a:rPr sz="1750" spc="-25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85" dirty="0">
                <a:solidFill>
                  <a:srgbClr val="374050"/>
                </a:solidFill>
                <a:latin typeface="Malgun Gothic"/>
                <a:cs typeface="Malgun Gothic"/>
              </a:rPr>
              <a:t>자동</a:t>
            </a:r>
            <a:r>
              <a:rPr sz="1750" spc="-22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75" dirty="0">
                <a:solidFill>
                  <a:srgbClr val="374050"/>
                </a:solidFill>
                <a:latin typeface="Malgun Gothic"/>
                <a:cs typeface="Malgun Gothic"/>
              </a:rPr>
              <a:t>적용됩니다.</a:t>
            </a:r>
            <a:endParaRPr sz="1750">
              <a:latin typeface="Malgun Gothic"/>
              <a:cs typeface="Malgun Gothic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0319" y="2213052"/>
            <a:ext cx="219074" cy="22224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31887" y="3283380"/>
            <a:ext cx="4058285" cy="9950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120600"/>
              </a:lnSpc>
              <a:spcBef>
                <a:spcPts val="125"/>
              </a:spcBef>
            </a:pPr>
            <a:r>
              <a:rPr sz="1750" b="1" spc="-275" dirty="0">
                <a:solidFill>
                  <a:srgbClr val="374050"/>
                </a:solidFill>
                <a:latin typeface="Malgun Gothic"/>
                <a:cs typeface="Malgun Gothic"/>
              </a:rPr>
              <a:t>실시간</a:t>
            </a:r>
            <a:r>
              <a:rPr sz="1750" b="1" spc="-2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325" dirty="0">
                <a:solidFill>
                  <a:srgbClr val="374050"/>
                </a:solidFill>
                <a:latin typeface="Malgun Gothic"/>
                <a:cs typeface="Malgun Gothic"/>
              </a:rPr>
              <a:t>브라우저</a:t>
            </a:r>
            <a:r>
              <a:rPr sz="1750" b="1" spc="-14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240" dirty="0">
                <a:solidFill>
                  <a:srgbClr val="374050"/>
                </a:solidFill>
                <a:latin typeface="Malgun Gothic"/>
                <a:cs typeface="Malgun Gothic"/>
              </a:rPr>
              <a:t>테스트</a:t>
            </a:r>
            <a:r>
              <a:rPr sz="1700" b="1" spc="-240" dirty="0">
                <a:solidFill>
                  <a:srgbClr val="374050"/>
                </a:solidFill>
                <a:latin typeface="Malgun Gothic"/>
                <a:cs typeface="Malgun Gothic"/>
              </a:rPr>
              <a:t>:</a:t>
            </a:r>
            <a:r>
              <a:rPr sz="1700" b="1" spc="-7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70" dirty="0">
                <a:solidFill>
                  <a:srgbClr val="374050"/>
                </a:solidFill>
                <a:latin typeface="Malgun Gothic"/>
                <a:cs typeface="Malgun Gothic"/>
              </a:rPr>
              <a:t>Postman</a:t>
            </a:r>
            <a:r>
              <a:rPr sz="1750" spc="-11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65" dirty="0">
                <a:solidFill>
                  <a:srgbClr val="374050"/>
                </a:solidFill>
                <a:latin typeface="Malgun Gothic"/>
                <a:cs typeface="Malgun Gothic"/>
              </a:rPr>
              <a:t>등</a:t>
            </a:r>
            <a:r>
              <a:rPr sz="1750" spc="-22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90" dirty="0">
                <a:solidFill>
                  <a:srgbClr val="374050"/>
                </a:solidFill>
                <a:latin typeface="Malgun Gothic"/>
                <a:cs typeface="Malgun Gothic"/>
              </a:rPr>
              <a:t>외부</a:t>
            </a:r>
            <a:r>
              <a:rPr sz="1750" spc="-22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35" dirty="0">
                <a:solidFill>
                  <a:srgbClr val="374050"/>
                </a:solidFill>
                <a:latin typeface="Malgun Gothic"/>
                <a:cs typeface="Malgun Gothic"/>
              </a:rPr>
              <a:t>유틸</a:t>
            </a:r>
            <a:r>
              <a:rPr sz="1750" spc="-12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60" dirty="0">
                <a:solidFill>
                  <a:srgbClr val="374050"/>
                </a:solidFill>
                <a:latin typeface="Malgun Gothic"/>
                <a:cs typeface="Malgun Gothic"/>
              </a:rPr>
              <a:t>리티</a:t>
            </a:r>
            <a:r>
              <a:rPr sz="1750" spc="-8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90" dirty="0">
                <a:solidFill>
                  <a:srgbClr val="374050"/>
                </a:solidFill>
                <a:latin typeface="Malgun Gothic"/>
                <a:cs typeface="Malgun Gothic"/>
              </a:rPr>
              <a:t>도움</a:t>
            </a:r>
            <a:r>
              <a:rPr sz="1750" spc="-22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55" dirty="0">
                <a:solidFill>
                  <a:srgbClr val="374050"/>
                </a:solidFill>
                <a:latin typeface="Malgun Gothic"/>
                <a:cs typeface="Malgun Gothic"/>
              </a:rPr>
              <a:t>없이</a:t>
            </a:r>
            <a:r>
              <a:rPr sz="1750" spc="-8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05" dirty="0">
                <a:solidFill>
                  <a:srgbClr val="374050"/>
                </a:solidFill>
                <a:latin typeface="Malgun Gothic"/>
                <a:cs typeface="Malgun Gothic"/>
              </a:rPr>
              <a:t>다이렉트로</a:t>
            </a:r>
            <a:r>
              <a:rPr sz="1750" spc="-22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125" dirty="0">
                <a:solidFill>
                  <a:srgbClr val="374050"/>
                </a:solidFill>
                <a:latin typeface="Malgun Gothic"/>
                <a:cs typeface="Malgun Gothic"/>
              </a:rPr>
              <a:t>API</a:t>
            </a:r>
            <a:r>
              <a:rPr sz="1750" spc="-3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90" dirty="0">
                <a:solidFill>
                  <a:srgbClr val="374050"/>
                </a:solidFill>
                <a:latin typeface="Malgun Gothic"/>
                <a:cs typeface="Malgun Gothic"/>
              </a:rPr>
              <a:t>전송</a:t>
            </a:r>
            <a:r>
              <a:rPr sz="1750" spc="-22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95" dirty="0">
                <a:solidFill>
                  <a:srgbClr val="374050"/>
                </a:solidFill>
                <a:latin typeface="Malgun Gothic"/>
                <a:cs typeface="Malgun Gothic"/>
              </a:rPr>
              <a:t>테스트가</a:t>
            </a:r>
            <a:r>
              <a:rPr sz="1750" spc="-2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29" dirty="0">
                <a:solidFill>
                  <a:srgbClr val="374050"/>
                </a:solidFill>
                <a:latin typeface="Malgun Gothic"/>
                <a:cs typeface="Malgun Gothic"/>
              </a:rPr>
              <a:t>가</a:t>
            </a:r>
            <a:r>
              <a:rPr sz="1750" spc="-8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60" dirty="0">
                <a:solidFill>
                  <a:srgbClr val="374050"/>
                </a:solidFill>
                <a:latin typeface="Malgun Gothic"/>
                <a:cs typeface="Malgun Gothic"/>
              </a:rPr>
              <a:t>능합니다.</a:t>
            </a:r>
            <a:endParaRPr sz="1750">
              <a:latin typeface="Malgun Gothic"/>
              <a:cs typeface="Malgun Gothic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0319" y="3374633"/>
            <a:ext cx="219074" cy="2222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031887" y="4444961"/>
            <a:ext cx="4000500" cy="677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2200"/>
              </a:lnSpc>
              <a:spcBef>
                <a:spcPts val="90"/>
              </a:spcBef>
            </a:pPr>
            <a:r>
              <a:rPr sz="1750" b="1" spc="-330" dirty="0">
                <a:solidFill>
                  <a:srgbClr val="374050"/>
                </a:solidFill>
                <a:latin typeface="Malgun Gothic"/>
                <a:cs typeface="Malgun Gothic"/>
              </a:rPr>
              <a:t>협업</a:t>
            </a:r>
            <a:r>
              <a:rPr sz="1750" b="1" spc="-12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260" dirty="0">
                <a:solidFill>
                  <a:srgbClr val="374050"/>
                </a:solidFill>
                <a:latin typeface="Malgun Gothic"/>
                <a:cs typeface="Malgun Gothic"/>
              </a:rPr>
              <a:t>마찰</a:t>
            </a:r>
            <a:r>
              <a:rPr sz="1750" b="1" spc="-2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280" dirty="0">
                <a:solidFill>
                  <a:srgbClr val="374050"/>
                </a:solidFill>
                <a:latin typeface="Malgun Gothic"/>
                <a:cs typeface="Malgun Gothic"/>
              </a:rPr>
              <a:t>비용</a:t>
            </a:r>
            <a:r>
              <a:rPr sz="1750" b="1" spc="-23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b="1" spc="-220" dirty="0">
                <a:solidFill>
                  <a:srgbClr val="374050"/>
                </a:solidFill>
                <a:latin typeface="Malgun Gothic"/>
                <a:cs typeface="Malgun Gothic"/>
              </a:rPr>
              <a:t>제로</a:t>
            </a:r>
            <a:r>
              <a:rPr sz="1700" b="1" spc="-220" dirty="0">
                <a:solidFill>
                  <a:srgbClr val="374050"/>
                </a:solidFill>
                <a:latin typeface="Malgun Gothic"/>
                <a:cs typeface="Malgun Gothic"/>
              </a:rPr>
              <a:t>:</a:t>
            </a:r>
            <a:r>
              <a:rPr sz="1700" b="1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05" dirty="0">
                <a:solidFill>
                  <a:srgbClr val="374050"/>
                </a:solidFill>
                <a:latin typeface="Malgun Gothic"/>
                <a:cs typeface="Malgun Gothic"/>
              </a:rPr>
              <a:t>프론트엔드</a:t>
            </a:r>
            <a:r>
              <a:rPr sz="1750" spc="-22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15" dirty="0">
                <a:solidFill>
                  <a:srgbClr val="374050"/>
                </a:solidFill>
                <a:latin typeface="Malgun Gothic"/>
                <a:cs typeface="Malgun Gothic"/>
              </a:rPr>
              <a:t>및</a:t>
            </a:r>
            <a:r>
              <a:rPr sz="1750" spc="-17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55" dirty="0">
                <a:solidFill>
                  <a:srgbClr val="374050"/>
                </a:solidFill>
                <a:latin typeface="Malgun Gothic"/>
                <a:cs typeface="Malgun Gothic"/>
              </a:rPr>
              <a:t>기획</a:t>
            </a:r>
            <a:r>
              <a:rPr sz="1750" spc="-7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10" dirty="0">
                <a:solidFill>
                  <a:srgbClr val="374050"/>
                </a:solidFill>
                <a:latin typeface="Malgun Gothic"/>
                <a:cs typeface="Malgun Gothic"/>
              </a:rPr>
              <a:t>부서와 </a:t>
            </a:r>
            <a:r>
              <a:rPr sz="1750" spc="-405" dirty="0">
                <a:solidFill>
                  <a:srgbClr val="374050"/>
                </a:solidFill>
                <a:latin typeface="Malgun Gothic"/>
                <a:cs typeface="Malgun Gothic"/>
              </a:rPr>
              <a:t>의</a:t>
            </a:r>
            <a:r>
              <a:rPr sz="1750" spc="-7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90" dirty="0">
                <a:solidFill>
                  <a:srgbClr val="374050"/>
                </a:solidFill>
                <a:latin typeface="Malgun Gothic"/>
                <a:cs typeface="Malgun Gothic"/>
              </a:rPr>
              <a:t>정보</a:t>
            </a:r>
            <a:r>
              <a:rPr sz="1750" spc="-22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35" dirty="0">
                <a:solidFill>
                  <a:srgbClr val="374050"/>
                </a:solidFill>
                <a:latin typeface="Malgun Gothic"/>
                <a:cs typeface="Malgun Gothic"/>
              </a:rPr>
              <a:t>비대칭</a:t>
            </a:r>
            <a:r>
              <a:rPr sz="1750" spc="-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95" dirty="0">
                <a:solidFill>
                  <a:srgbClr val="374050"/>
                </a:solidFill>
                <a:latin typeface="Malgun Gothic"/>
                <a:cs typeface="Malgun Gothic"/>
              </a:rPr>
              <a:t>병목을</a:t>
            </a:r>
            <a:r>
              <a:rPr sz="1750" spc="-21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335" dirty="0">
                <a:solidFill>
                  <a:srgbClr val="374050"/>
                </a:solidFill>
                <a:latin typeface="Malgun Gothic"/>
                <a:cs typeface="Malgun Gothic"/>
              </a:rPr>
              <a:t>전면</a:t>
            </a:r>
            <a:r>
              <a:rPr sz="1750" spc="-12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50" spc="-275" dirty="0">
                <a:solidFill>
                  <a:srgbClr val="374050"/>
                </a:solidFill>
                <a:latin typeface="Malgun Gothic"/>
                <a:cs typeface="Malgun Gothic"/>
              </a:rPr>
              <a:t>파쇄합니다.</a:t>
            </a:r>
            <a:endParaRPr sz="1750" dirty="0">
              <a:latin typeface="Malgun Gothic"/>
              <a:cs typeface="Malgun Gothic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0319" y="4536214"/>
            <a:ext cx="219074" cy="2222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692765" cy="7512050"/>
          </a:xfrm>
          <a:custGeom>
            <a:avLst/>
            <a:gdLst/>
            <a:ahLst/>
            <a:cxnLst/>
            <a:rect l="l" t="t" r="r" b="b"/>
            <a:pathLst>
              <a:path w="10692765" h="6017260">
                <a:moveTo>
                  <a:pt x="10692383" y="6016823"/>
                </a:moveTo>
                <a:lnTo>
                  <a:pt x="0" y="6016823"/>
                </a:lnTo>
                <a:lnTo>
                  <a:pt x="0" y="0"/>
                </a:lnTo>
                <a:lnTo>
                  <a:pt x="10692383" y="0"/>
                </a:lnTo>
                <a:lnTo>
                  <a:pt x="10692383" y="6016823"/>
                </a:lnTo>
                <a:close/>
              </a:path>
            </a:pathLst>
          </a:custGeom>
          <a:solidFill>
            <a:srgbClr val="FFFAE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668535" y="1136511"/>
            <a:ext cx="9359900" cy="25400"/>
          </a:xfrm>
          <a:custGeom>
            <a:avLst/>
            <a:gdLst/>
            <a:ahLst/>
            <a:cxnLst/>
            <a:rect l="l" t="t" r="r" b="b"/>
            <a:pathLst>
              <a:path w="9359900" h="25400">
                <a:moveTo>
                  <a:pt x="9359502" y="25070"/>
                </a:moveTo>
                <a:lnTo>
                  <a:pt x="0" y="25070"/>
                </a:lnTo>
                <a:lnTo>
                  <a:pt x="0" y="0"/>
                </a:lnTo>
                <a:lnTo>
                  <a:pt x="9359502" y="0"/>
                </a:lnTo>
                <a:lnTo>
                  <a:pt x="9359502" y="25070"/>
                </a:lnTo>
                <a:close/>
              </a:path>
            </a:pathLst>
          </a:custGeom>
          <a:solidFill>
            <a:srgbClr val="ECFD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800" spc="-675" baseline="4340" dirty="0">
                <a:solidFill>
                  <a:srgbClr val="0FB981"/>
                </a:solidFill>
                <a:latin typeface="Trebuchet MS"/>
                <a:cs typeface="Trebuchet MS"/>
              </a:rPr>
              <a:t>14.</a:t>
            </a:r>
            <a:r>
              <a:rPr sz="4800" spc="202" baseline="4340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3250" spc="-635" dirty="0"/>
              <a:t>우린</a:t>
            </a:r>
            <a:r>
              <a:rPr sz="3250" spc="-290" dirty="0"/>
              <a:t> </a:t>
            </a:r>
            <a:r>
              <a:rPr sz="3250" spc="-570" dirty="0"/>
              <a:t>무엇을</a:t>
            </a:r>
            <a:r>
              <a:rPr sz="3250" spc="-450" dirty="0"/>
              <a:t> </a:t>
            </a:r>
            <a:r>
              <a:rPr sz="3250" spc="-565" dirty="0"/>
              <a:t>선택해야</a:t>
            </a:r>
            <a:r>
              <a:rPr sz="3250" spc="-495" dirty="0"/>
              <a:t> </a:t>
            </a:r>
            <a:r>
              <a:rPr sz="3250" spc="-480" dirty="0"/>
              <a:t>할까요?</a:t>
            </a:r>
            <a:endParaRPr sz="325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68535" y="2298700"/>
            <a:ext cx="9359900" cy="2774950"/>
            <a:chOff x="668535" y="2122601"/>
            <a:chExt cx="9359900" cy="2774950"/>
          </a:xfrm>
        </p:grpSpPr>
        <p:sp>
          <p:nvSpPr>
            <p:cNvPr id="7" name="object 7"/>
            <p:cNvSpPr/>
            <p:nvPr/>
          </p:nvSpPr>
          <p:spPr>
            <a:xfrm>
              <a:off x="672714" y="2126780"/>
              <a:ext cx="9351645" cy="2766695"/>
            </a:xfrm>
            <a:custGeom>
              <a:avLst/>
              <a:gdLst/>
              <a:ahLst/>
              <a:cxnLst/>
              <a:rect l="l" t="t" r="r" b="b"/>
              <a:pathLst>
                <a:path w="9351645" h="2766695">
                  <a:moveTo>
                    <a:pt x="0" y="2603111"/>
                  </a:moveTo>
                  <a:lnTo>
                    <a:pt x="0" y="162955"/>
                  </a:lnTo>
                  <a:lnTo>
                    <a:pt x="195" y="154949"/>
                  </a:lnTo>
                  <a:lnTo>
                    <a:pt x="7014" y="115644"/>
                  </a:lnTo>
                  <a:lnTo>
                    <a:pt x="23177" y="79175"/>
                  </a:lnTo>
                  <a:lnTo>
                    <a:pt x="47728" y="47724"/>
                  </a:lnTo>
                  <a:lnTo>
                    <a:pt x="79187" y="23173"/>
                  </a:lnTo>
                  <a:lnTo>
                    <a:pt x="115651" y="7009"/>
                  </a:lnTo>
                  <a:lnTo>
                    <a:pt x="154950" y="195"/>
                  </a:lnTo>
                  <a:lnTo>
                    <a:pt x="162955" y="0"/>
                  </a:lnTo>
                  <a:lnTo>
                    <a:pt x="9188190" y="0"/>
                  </a:lnTo>
                  <a:lnTo>
                    <a:pt x="9227794" y="4882"/>
                  </a:lnTo>
                  <a:lnTo>
                    <a:pt x="9265007" y="19232"/>
                  </a:lnTo>
                  <a:lnTo>
                    <a:pt x="9297617" y="42202"/>
                  </a:lnTo>
                  <a:lnTo>
                    <a:pt x="9323681" y="72410"/>
                  </a:lnTo>
                  <a:lnTo>
                    <a:pt x="9341623" y="108056"/>
                  </a:lnTo>
                  <a:lnTo>
                    <a:pt x="9350363" y="146980"/>
                  </a:lnTo>
                  <a:lnTo>
                    <a:pt x="9351146" y="162955"/>
                  </a:lnTo>
                  <a:lnTo>
                    <a:pt x="9351146" y="2603111"/>
                  </a:lnTo>
                  <a:lnTo>
                    <a:pt x="9346260" y="2642707"/>
                  </a:lnTo>
                  <a:lnTo>
                    <a:pt x="9331904" y="2679913"/>
                  </a:lnTo>
                  <a:lnTo>
                    <a:pt x="9308939" y="2712528"/>
                  </a:lnTo>
                  <a:lnTo>
                    <a:pt x="9278723" y="2738589"/>
                  </a:lnTo>
                  <a:lnTo>
                    <a:pt x="9243078" y="2756535"/>
                  </a:lnTo>
                  <a:lnTo>
                    <a:pt x="9204162" y="2765276"/>
                  </a:lnTo>
                  <a:lnTo>
                    <a:pt x="9188190" y="2766067"/>
                  </a:lnTo>
                  <a:lnTo>
                    <a:pt x="162955" y="2766067"/>
                  </a:lnTo>
                  <a:lnTo>
                    <a:pt x="123350" y="2761175"/>
                  </a:lnTo>
                  <a:lnTo>
                    <a:pt x="86137" y="2746817"/>
                  </a:lnTo>
                  <a:lnTo>
                    <a:pt x="53527" y="2723847"/>
                  </a:lnTo>
                  <a:lnTo>
                    <a:pt x="27462" y="2693631"/>
                  </a:lnTo>
                  <a:lnTo>
                    <a:pt x="9521" y="2657990"/>
                  </a:lnTo>
                  <a:lnTo>
                    <a:pt x="782" y="2619081"/>
                  </a:lnTo>
                  <a:lnTo>
                    <a:pt x="0" y="2603111"/>
                  </a:lnTo>
                  <a:close/>
                </a:path>
              </a:pathLst>
            </a:custGeom>
            <a:ln w="8356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6884" y="2130957"/>
              <a:ext cx="9343390" cy="560070"/>
            </a:xfrm>
            <a:custGeom>
              <a:avLst/>
              <a:gdLst/>
              <a:ahLst/>
              <a:cxnLst/>
              <a:rect l="l" t="t" r="r" b="b"/>
              <a:pathLst>
                <a:path w="9343390" h="560069">
                  <a:moveTo>
                    <a:pt x="2064105" y="0"/>
                  </a:moveTo>
                  <a:lnTo>
                    <a:pt x="158775" y="0"/>
                  </a:lnTo>
                  <a:lnTo>
                    <a:pt x="143141" y="762"/>
                  </a:lnTo>
                  <a:lnTo>
                    <a:pt x="98018" y="12090"/>
                  </a:lnTo>
                  <a:lnTo>
                    <a:pt x="58102" y="35979"/>
                  </a:lnTo>
                  <a:lnTo>
                    <a:pt x="26733" y="70548"/>
                  </a:lnTo>
                  <a:lnTo>
                    <a:pt x="6794" y="112750"/>
                  </a:lnTo>
                  <a:lnTo>
                    <a:pt x="0" y="158775"/>
                  </a:lnTo>
                  <a:lnTo>
                    <a:pt x="0" y="559892"/>
                  </a:lnTo>
                  <a:lnTo>
                    <a:pt x="2064105" y="559892"/>
                  </a:lnTo>
                  <a:lnTo>
                    <a:pt x="2064105" y="0"/>
                  </a:lnTo>
                  <a:close/>
                </a:path>
                <a:path w="9343390" h="560069">
                  <a:moveTo>
                    <a:pt x="9342793" y="158775"/>
                  </a:moveTo>
                  <a:lnTo>
                    <a:pt x="9335986" y="112750"/>
                  </a:lnTo>
                  <a:lnTo>
                    <a:pt x="9316060" y="70548"/>
                  </a:lnTo>
                  <a:lnTo>
                    <a:pt x="9284691" y="35979"/>
                  </a:lnTo>
                  <a:lnTo>
                    <a:pt x="9244774" y="12090"/>
                  </a:lnTo>
                  <a:lnTo>
                    <a:pt x="9199651" y="762"/>
                  </a:lnTo>
                  <a:lnTo>
                    <a:pt x="9184018" y="0"/>
                  </a:lnTo>
                  <a:lnTo>
                    <a:pt x="6877558" y="0"/>
                  </a:lnTo>
                  <a:lnTo>
                    <a:pt x="6877558" y="559892"/>
                  </a:lnTo>
                  <a:lnTo>
                    <a:pt x="9342793" y="559892"/>
                  </a:lnTo>
                  <a:lnTo>
                    <a:pt x="9342793" y="158775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6884" y="4345482"/>
              <a:ext cx="9343390" cy="543560"/>
            </a:xfrm>
            <a:custGeom>
              <a:avLst/>
              <a:gdLst/>
              <a:ahLst/>
              <a:cxnLst/>
              <a:rect l="l" t="t" r="r" b="b"/>
              <a:pathLst>
                <a:path w="9343390" h="543560">
                  <a:moveTo>
                    <a:pt x="2064105" y="0"/>
                  </a:moveTo>
                  <a:lnTo>
                    <a:pt x="0" y="0"/>
                  </a:lnTo>
                  <a:lnTo>
                    <a:pt x="0" y="384403"/>
                  </a:lnTo>
                  <a:lnTo>
                    <a:pt x="6794" y="430428"/>
                  </a:lnTo>
                  <a:lnTo>
                    <a:pt x="26733" y="472630"/>
                  </a:lnTo>
                  <a:lnTo>
                    <a:pt x="58102" y="507199"/>
                  </a:lnTo>
                  <a:lnTo>
                    <a:pt x="98018" y="531088"/>
                  </a:lnTo>
                  <a:lnTo>
                    <a:pt x="143141" y="542417"/>
                  </a:lnTo>
                  <a:lnTo>
                    <a:pt x="158686" y="543179"/>
                  </a:lnTo>
                  <a:lnTo>
                    <a:pt x="2064105" y="543179"/>
                  </a:lnTo>
                  <a:lnTo>
                    <a:pt x="2064105" y="0"/>
                  </a:lnTo>
                  <a:close/>
                </a:path>
                <a:path w="9343390" h="543560">
                  <a:moveTo>
                    <a:pt x="9342793" y="0"/>
                  </a:moveTo>
                  <a:lnTo>
                    <a:pt x="6877558" y="0"/>
                  </a:lnTo>
                  <a:lnTo>
                    <a:pt x="6877558" y="543179"/>
                  </a:lnTo>
                  <a:lnTo>
                    <a:pt x="9184043" y="543179"/>
                  </a:lnTo>
                  <a:lnTo>
                    <a:pt x="9199651" y="542417"/>
                  </a:lnTo>
                  <a:lnTo>
                    <a:pt x="9244774" y="531088"/>
                  </a:lnTo>
                  <a:lnTo>
                    <a:pt x="9284691" y="507199"/>
                  </a:lnTo>
                  <a:lnTo>
                    <a:pt x="9316060" y="472630"/>
                  </a:lnTo>
                  <a:lnTo>
                    <a:pt x="9335986" y="430428"/>
                  </a:lnTo>
                  <a:lnTo>
                    <a:pt x="9342793" y="384403"/>
                  </a:lnTo>
                  <a:lnTo>
                    <a:pt x="9342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597069"/>
              </p:ext>
            </p:extLst>
          </p:nvPr>
        </p:nvGraphicFramePr>
        <p:xfrm>
          <a:off x="676892" y="2277949"/>
          <a:ext cx="9342755" cy="27850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4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8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5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5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0292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450" b="1" spc="-229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비교</a:t>
                      </a:r>
                      <a:r>
                        <a:rPr sz="1450" b="1" spc="-185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b="1" spc="-25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항목</a:t>
                      </a:r>
                      <a:endParaRPr sz="1450">
                        <a:latin typeface="Malgun Gothic"/>
                        <a:cs typeface="Malgun Gothic"/>
                      </a:endParaRPr>
                    </a:p>
                  </a:txBody>
                  <a:tcPr marL="0" marR="0" marT="158115" marB="0">
                    <a:lnB w="19050">
                      <a:solidFill>
                        <a:srgbClr val="A6F2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500" b="1" spc="-100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FastAPI</a:t>
                      </a:r>
                      <a:r>
                        <a:rPr sz="1500" b="1" spc="-5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20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450" b="1" spc="-20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추천</a:t>
                      </a:r>
                      <a:r>
                        <a:rPr sz="1500" b="1" spc="-20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)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151765" marB="0">
                    <a:lnB w="19050">
                      <a:solidFill>
                        <a:srgbClr val="A6F2D0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500" b="1" spc="-25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Flask</a:t>
                      </a:r>
                      <a:r>
                        <a:rPr sz="1500" b="1" spc="-200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165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450" b="1" spc="-165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전통 </a:t>
                      </a:r>
                      <a:r>
                        <a:rPr sz="1450" b="1" spc="-25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강자</a:t>
                      </a:r>
                      <a:r>
                        <a:rPr sz="1500" b="1" spc="-25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)</a:t>
                      </a:r>
                      <a:endParaRPr sz="1500" dirty="0">
                        <a:latin typeface="Malgun Gothic"/>
                        <a:cs typeface="Malgun Gothic"/>
                      </a:endParaRPr>
                    </a:p>
                  </a:txBody>
                  <a:tcPr marL="0" marR="0" marT="151765" marB="0">
                    <a:lnB w="19050">
                      <a:solidFill>
                        <a:srgbClr val="A6F2D0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500" b="1" spc="-110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Django</a:t>
                      </a:r>
                      <a:r>
                        <a:rPr sz="1500" b="1" spc="-120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20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450" b="1" spc="-20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올인원</a:t>
                      </a:r>
                      <a:r>
                        <a:rPr sz="1500" b="1" spc="-20" dirty="0">
                          <a:solidFill>
                            <a:srgbClr val="055E45"/>
                          </a:solidFill>
                          <a:latin typeface="Malgun Gothic"/>
                          <a:cs typeface="Malgun Gothic"/>
                        </a:rPr>
                        <a:t>)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151765" marB="0">
                    <a:lnB w="19050">
                      <a:solidFill>
                        <a:srgbClr val="A6F2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1450" b="1" spc="-26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데이터</a:t>
                      </a:r>
                      <a:r>
                        <a:rPr sz="1450" b="1" spc="-10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b="1" spc="-22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검증</a:t>
                      </a:r>
                      <a:r>
                        <a:rPr sz="1450" b="1" spc="-19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(Type)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160020" marB="0">
                    <a:lnT w="19050">
                      <a:solidFill>
                        <a:srgbClr val="A6F2D0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94335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1450" b="1" spc="-225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기본</a:t>
                      </a:r>
                      <a:r>
                        <a:rPr sz="1450" b="1" spc="-190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b="1" spc="-254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지원</a:t>
                      </a:r>
                      <a:r>
                        <a:rPr sz="1450" b="1" spc="-130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(Pydantic)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450850">
                        <a:lnSpc>
                          <a:spcPct val="100000"/>
                        </a:lnSpc>
                      </a:pPr>
                      <a:r>
                        <a:rPr sz="1450" b="1" spc="-240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네이티브</a:t>
                      </a:r>
                      <a:r>
                        <a:rPr sz="1450" b="1" spc="-185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b="1" spc="-254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지원</a:t>
                      </a:r>
                      <a:r>
                        <a:rPr sz="1450" b="1" spc="-125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20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450" b="1" spc="-20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완벽</a:t>
                      </a:r>
                      <a:r>
                        <a:rPr sz="1500" b="1" spc="-20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)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160020" marB="0">
                    <a:lnT w="19050">
                      <a:solidFill>
                        <a:srgbClr val="A6F2D0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450" spc="-229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수동</a:t>
                      </a:r>
                      <a:r>
                        <a:rPr sz="1450" spc="-17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6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라이브러리</a:t>
                      </a:r>
                      <a:r>
                        <a:rPr sz="1450" spc="-4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1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추가</a:t>
                      </a:r>
                      <a:r>
                        <a:rPr sz="1450" spc="-204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3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필요</a:t>
                      </a:r>
                      <a:endParaRPr sz="1450">
                        <a:latin typeface="Malgun Gothic"/>
                        <a:cs typeface="Malgun Gothic"/>
                      </a:endParaRPr>
                    </a:p>
                  </a:txBody>
                  <a:tcPr marL="0" marR="0" marT="166370" marB="0">
                    <a:lnT w="19050">
                      <a:solidFill>
                        <a:srgbClr val="A6F2D0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450" spc="-229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수동</a:t>
                      </a:r>
                      <a:r>
                        <a:rPr sz="1450" spc="-17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6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라이브러리</a:t>
                      </a:r>
                      <a:r>
                        <a:rPr sz="1450" spc="-4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1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추가</a:t>
                      </a:r>
                      <a:r>
                        <a:rPr sz="1450" spc="-204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3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필요</a:t>
                      </a:r>
                      <a:endParaRPr sz="1450">
                        <a:latin typeface="Malgun Gothic"/>
                        <a:cs typeface="Malgun Gothic"/>
                      </a:endParaRPr>
                    </a:p>
                  </a:txBody>
                  <a:tcPr marL="0" marR="0" marT="166370" marB="0">
                    <a:lnT w="19050">
                      <a:solidFill>
                        <a:srgbClr val="A6F2D0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450" b="1" spc="-26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비동기</a:t>
                      </a:r>
                      <a:r>
                        <a:rPr sz="1450" b="1" spc="-10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b="1" spc="-27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처리</a:t>
                      </a:r>
                      <a:r>
                        <a:rPr sz="1450" b="1" spc="-9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(Async)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156210" marB="0">
                    <a:lnT w="9525">
                      <a:solidFill>
                        <a:srgbClr val="F2F4F5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0020" marB="0">
                    <a:lnT w="19050">
                      <a:solidFill>
                        <a:srgbClr val="A6F2D0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450" spc="-27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동기식</a:t>
                      </a:r>
                      <a:r>
                        <a:rPr sz="1450" spc="-5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2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기반</a:t>
                      </a:r>
                      <a:r>
                        <a:rPr sz="1450" spc="-19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0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(우회</a:t>
                      </a:r>
                      <a:r>
                        <a:rPr sz="1450" spc="-4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처리)</a:t>
                      </a:r>
                      <a:endParaRPr sz="1450">
                        <a:latin typeface="Malgun Gothic"/>
                        <a:cs typeface="Malgun Gothic"/>
                      </a:endParaRPr>
                    </a:p>
                  </a:txBody>
                  <a:tcPr marL="0" marR="0" marT="162560" marB="0">
                    <a:lnT w="9525">
                      <a:solidFill>
                        <a:srgbClr val="F2F4F5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450" spc="-229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일부</a:t>
                      </a:r>
                      <a:r>
                        <a:rPr sz="1450" spc="-18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7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한정적</a:t>
                      </a:r>
                      <a:r>
                        <a:rPr sz="1450" spc="-6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9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지원</a:t>
                      </a:r>
                      <a:endParaRPr sz="1450">
                        <a:latin typeface="Malgun Gothic"/>
                        <a:cs typeface="Malgun Gothic"/>
                      </a:endParaRPr>
                    </a:p>
                  </a:txBody>
                  <a:tcPr marL="0" marR="0" marT="162560" marB="0">
                    <a:lnT w="9525">
                      <a:solidFill>
                        <a:srgbClr val="F2F4F5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450" b="1" spc="-26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문서</a:t>
                      </a:r>
                      <a:r>
                        <a:rPr sz="1450" b="1" spc="-11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b="1" spc="-2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자동화</a:t>
                      </a:r>
                      <a:endParaRPr sz="1450">
                        <a:latin typeface="Malgun Gothic"/>
                        <a:cs typeface="Malgun Gothic"/>
                      </a:endParaRPr>
                    </a:p>
                  </a:txBody>
                  <a:tcPr marL="0" marR="0" marT="162560" marB="0">
                    <a:lnT w="9525">
                      <a:solidFill>
                        <a:srgbClr val="F2F4F5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500" b="1" spc="-65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Built-</a:t>
                      </a:r>
                      <a:r>
                        <a:rPr sz="1500" b="1" spc="-70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in</a:t>
                      </a:r>
                      <a:r>
                        <a:rPr sz="1500" b="1" spc="-55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80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(Swagger</a:t>
                      </a:r>
                      <a:r>
                        <a:rPr sz="1500" b="1" spc="-150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UI)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156210" marB="0">
                    <a:lnT w="9525">
                      <a:solidFill>
                        <a:srgbClr val="F2F4F5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450" spc="-254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플러그인</a:t>
                      </a:r>
                      <a:r>
                        <a:rPr sz="1450" spc="-114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8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세팅</a:t>
                      </a:r>
                      <a:r>
                        <a:rPr sz="1450" spc="-6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복잡</a:t>
                      </a:r>
                      <a:endParaRPr sz="1450">
                        <a:latin typeface="Malgun Gothic"/>
                        <a:cs typeface="Malgun Gothic"/>
                      </a:endParaRPr>
                    </a:p>
                  </a:txBody>
                  <a:tcPr marL="0" marR="0" marT="162560" marB="0">
                    <a:lnT w="9525">
                      <a:solidFill>
                        <a:srgbClr val="F2F4F5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450" spc="-254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플러그인</a:t>
                      </a:r>
                      <a:r>
                        <a:rPr sz="1450" spc="-114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8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세팅</a:t>
                      </a:r>
                      <a:r>
                        <a:rPr sz="1450" spc="-6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복잡</a:t>
                      </a:r>
                      <a:endParaRPr sz="1450">
                        <a:latin typeface="Malgun Gothic"/>
                        <a:cs typeface="Malgun Gothic"/>
                      </a:endParaRPr>
                    </a:p>
                  </a:txBody>
                  <a:tcPr marL="0" marR="0" marT="162560" marB="0">
                    <a:lnT w="9525">
                      <a:solidFill>
                        <a:srgbClr val="F2F4F5"/>
                      </a:solidFill>
                      <a:prstDash val="solid"/>
                    </a:lnT>
                    <a:lnB w="9525">
                      <a:solidFill>
                        <a:srgbClr val="F2F4F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450" b="1" spc="-22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시작</a:t>
                      </a:r>
                      <a:r>
                        <a:rPr sz="1450" b="1" spc="-204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b="1" spc="-28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편의성</a:t>
                      </a:r>
                      <a:endParaRPr sz="1450">
                        <a:latin typeface="Malgun Gothic"/>
                        <a:cs typeface="Malgun Gothic"/>
                      </a:endParaRPr>
                    </a:p>
                  </a:txBody>
                  <a:tcPr marL="0" marR="0" marT="162560" marB="0">
                    <a:lnT w="9525">
                      <a:solidFill>
                        <a:srgbClr val="F2F4F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450" b="1" spc="-229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매우</a:t>
                      </a:r>
                      <a:r>
                        <a:rPr sz="1450" b="1" spc="-190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b="1" spc="-220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쉬움</a:t>
                      </a:r>
                      <a:r>
                        <a:rPr sz="1450" b="1" spc="-185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165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450" b="1" spc="-165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낮은</a:t>
                      </a:r>
                      <a:r>
                        <a:rPr sz="1450" b="1" spc="-185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b="1" spc="-25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커브</a:t>
                      </a:r>
                      <a:r>
                        <a:rPr sz="1500" b="1" spc="-25" dirty="0">
                          <a:solidFill>
                            <a:srgbClr val="0FB981"/>
                          </a:solidFill>
                          <a:latin typeface="Malgun Gothic"/>
                          <a:cs typeface="Malgun Gothic"/>
                        </a:rPr>
                        <a:t>)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156210" marB="0">
                    <a:lnT w="9525">
                      <a:solidFill>
                        <a:srgbClr val="F2F4F5"/>
                      </a:solidFill>
                      <a:prstDash val="solid"/>
                    </a:lnT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450" spc="-2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보통</a:t>
                      </a:r>
                      <a:endParaRPr sz="1450">
                        <a:latin typeface="Malgun Gothic"/>
                        <a:cs typeface="Malgun Gothic"/>
                      </a:endParaRPr>
                    </a:p>
                  </a:txBody>
                  <a:tcPr marL="0" marR="0" marT="162560" marB="0">
                    <a:lnT w="9525">
                      <a:solidFill>
                        <a:srgbClr val="F2F4F5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450" spc="-229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높음</a:t>
                      </a:r>
                      <a:r>
                        <a:rPr sz="1450" spc="-16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17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(구조가</a:t>
                      </a:r>
                      <a:r>
                        <a:rPr sz="1450" spc="-195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0" dirty="0">
                          <a:solidFill>
                            <a:srgbClr val="374050"/>
                          </a:solidFill>
                          <a:latin typeface="Malgun Gothic"/>
                          <a:cs typeface="Malgun Gothic"/>
                        </a:rPr>
                        <a:t>무거움)</a:t>
                      </a:r>
                      <a:endParaRPr sz="1450" dirty="0">
                        <a:latin typeface="Malgun Gothic"/>
                        <a:cs typeface="Malgun Gothic"/>
                      </a:endParaRPr>
                    </a:p>
                  </a:txBody>
                  <a:tcPr marL="0" marR="0" marT="162560" marB="0">
                    <a:lnT w="9525">
                      <a:solidFill>
                        <a:srgbClr val="F2F4F5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1077</Words>
  <Application>Microsoft Office PowerPoint</Application>
  <PresentationFormat>사용자 지정</PresentationFormat>
  <Paragraphs>152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Malgun Gothic</vt:lpstr>
      <vt:lpstr>Calibri</vt:lpstr>
      <vt:lpstr>Segoe UI Emoji</vt:lpstr>
      <vt:lpstr>Times New Roman</vt:lpstr>
      <vt:lpstr>Trebuchet MS</vt:lpstr>
      <vt:lpstr>Office Theme</vt:lpstr>
      <vt:lpstr>FASTAPI란?</vt:lpstr>
      <vt:lpstr>02. 목차</vt:lpstr>
      <vt:lpstr>03. API는 무슨 역할일까?</vt:lpstr>
      <vt:lpstr>04. 우리 주변의 API들</vt:lpstr>
      <vt:lpstr>05. Web API</vt:lpstr>
      <vt:lpstr>06. 왜 XML이 아니라 JSON이 대세일까?</vt:lpstr>
      <vt:lpstr>07. REST와 RESTful</vt:lpstr>
      <vt:lpstr>08. REST란?</vt:lpstr>
      <vt:lpstr>09. REST vs RESTful 설계 실무 예시</vt:lpstr>
      <vt:lpstr>10. 우리는 진짜 REST'ful' 할까요?</vt:lpstr>
      <vt:lpstr>11. FastAPI가 주는 3가지 선물</vt:lpstr>
      <vt:lpstr>12. 전통적 검증(Flask) vs FastAPI 선언적 검증</vt:lpstr>
      <vt:lpstr>13. Swagger: 자동화의 마법</vt:lpstr>
      <vt:lpstr>14. 우린 무엇을 선택해야 할까요?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404_NOT_FOUND</dc:title>
  <dc:creator>256 android</dc:creator>
  <cp:lastModifiedBy>256 android</cp:lastModifiedBy>
  <cp:revision>2</cp:revision>
  <dcterms:created xsi:type="dcterms:W3CDTF">2026-07-03T05:36:24Z</dcterms:created>
  <dcterms:modified xsi:type="dcterms:W3CDTF">2026-07-03T05:58:21Z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2026-07-03T00:00:00Z</vt:filetime>
  </property>
  <property fmtid="{D5CDD505-2E9C-101B-9397-08002B2CF9AE}" pid="4" name="Creator">
    <vt:lpwstr>Mozilla/5.0 (Windows NT 10.0; Win64; x64) AppleWebKit/537.36 (KHTML, like Gecko) Chrome/148.0.0.0 Safari/537.36</vt:lpwstr>
  </property>
  <property fmtid="{D5CDD505-2E9C-101B-9397-08002B2CF9AE}" pid="5" name="LastSaved">
    <vt:filetime>2026-07-03T00:00:00Z</vt:filetime>
  </property>
  <property fmtid="{D5CDD505-2E9C-101B-9397-08002B2CF9AE}" pid="6" name="Producer">
    <vt:lpwstr>Skia/PDF m148</vt:lpwstr>
  </property>
</Properties>
</file>