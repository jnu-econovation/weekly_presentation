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69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84"/>
  </p:normalViewPr>
  <p:slideViewPr>
    <p:cSldViewPr snapToGrid="0">
      <p:cViewPr varScale="1">
        <p:scale>
          <a:sx n="85" d="100"/>
          <a:sy n="85" d="100"/>
        </p:scale>
        <p:origin x="20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92F59-259C-9530-6EF4-6154F0FF4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EA10E6-476D-363F-6315-CC6965949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4F436-2DCC-4A51-DA0B-FDAC56AC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C748D-26EF-C41D-D04E-E6D05BBE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81446-C252-BEF9-797D-695BDEEF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752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865EC-6AEC-A286-61A5-23F32187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925D0C-D092-2B3E-A4CC-71EECAB02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635EB-7582-09D4-0AA3-F5126434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9D21B-28CD-5074-7C32-13DFD9C6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8FC1B-BC75-0853-0654-4E4720D3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755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B34B6-954D-F181-86E6-18DC6A14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8A3363-0947-E5E9-E738-086498908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A74E0C-171F-EE60-E532-30C3E9C4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41157-8C29-5279-90BC-B1F3D4B95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8F266-E0DA-B893-DB8A-850F6B81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819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CC3EA-687D-893D-6057-520CC25C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CD729-B1F6-72E3-1991-619411E83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0726CB-3615-CDEB-BDA6-FDE44F43C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537CB0-5A88-63D3-92FC-C6C206C5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63ACBA-AF50-3C06-9AE7-44206DEA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B9E6F2-E4A2-39C3-8526-020A51CC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187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74705-78A7-154B-F0B7-521E0CE05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7317C-F1FF-10AD-D178-7FA3CAB71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7CEF4-E140-00B1-3319-24BF31B6B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B8864F-4078-3A2D-9A2F-9B4A05225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82A506-5CA2-1CDD-BCE3-3746C7740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C139F2-4AED-B518-56B0-A30904FD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3793DF-B42B-F309-EA80-FBF98110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B7FAAF-226C-CEBE-36F8-3C2914E8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004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EEB2E-C22B-CA5F-5E54-6551F53A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05AE54-F072-81FD-BB19-58568461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ED114F-E2FD-0178-B323-F05A5713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1AC34A-1663-D9D1-9EDF-6F8B45F2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210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A7558F-DB8A-D994-9A93-68317D5B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5C06D3-15FB-1649-E6B5-F33B3126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12113-72AD-82AF-3F15-FC12A6F2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721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BFE48-6D37-5CDD-660B-EBFA6D5C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2A677-EC87-8959-7EA8-3977C79DF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2FA65C-4E87-1859-5AA3-D8F0A05E0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1715F-D314-0F72-9C8D-2A26A183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00F3BF-945D-46FB-0B93-EDE96A8D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2AD330-68EF-740D-F5D4-7759A7A4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253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C38EC-2B4F-9A7C-ED26-52EBD72A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4BF71B-A29E-9AA5-E42D-8A6A86714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B0FAD3-317E-3015-C471-9EB6F620D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59B676-58C9-F8CA-BAFD-36ABBA8D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D58803-0BBE-2A26-136B-FDB91441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61B34C-892E-92C1-B758-BE5AC3A0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59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1EB70-34BC-9ACA-188B-4295B595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3188A7-3C65-8E00-24EA-9E4AE4564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2966F-CDC5-7EDE-D5E9-014A8AA8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5D622-BB2B-EC15-3511-889A2301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103D97-6470-DDF5-AABC-DBBEA9FE3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50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41DEBB-C40C-C4A7-E52F-EEB083530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E31412-0877-CD00-F753-D59334FF7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4EC8E0-3DC1-D940-B068-B75DA34E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A3DDFD-3BED-5178-3558-1F00EACA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E871AB-E40A-0395-B95C-182A8AC2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674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2CDD10-4933-61D2-8850-521A37A2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B1BC1C-5904-2E11-F93A-EC62FB798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430C6-A21B-316B-B4EE-4CAA3AADE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6F652-E602-534E-9A57-AD627AD4182B}" type="datetimeFigureOut">
              <a:rPr kumimoji="1" lang="ko-KR" altLang="en-US" smtClean="0"/>
              <a:t>2026. 7. 3.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314EC9-CAB6-8B34-9482-FB34B3225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0F94C0-A303-9701-EDC7-97995CC0A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6919F-D5A3-5747-982E-37E0A46581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36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6F43F-3CE0-06B0-72F1-59D0EBF5A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자바 </a:t>
            </a:r>
            <a:r>
              <a:rPr kumimoji="1" lang="en-US" altLang="ko-KR" dirty="0"/>
              <a:t>String</a:t>
            </a:r>
            <a:r>
              <a:rPr kumimoji="1" lang="ko-KR" altLang="en-US" dirty="0"/>
              <a:t>클래스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AB5385-3EF9-1992-E321-B85656E40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en-US" altLang="ko-KR" dirty="0"/>
              <a:t>31</a:t>
            </a:r>
            <a:r>
              <a:rPr kumimoji="1" lang="ko-KR" altLang="en-US" dirty="0"/>
              <a:t>기 김영광</a:t>
            </a:r>
          </a:p>
        </p:txBody>
      </p:sp>
    </p:spTree>
    <p:extLst>
      <p:ext uri="{BB962C8B-B14F-4D97-AF65-F5344CB8AC3E}">
        <p14:creationId xmlns:p14="http://schemas.microsoft.com/office/powerpoint/2010/main" val="296780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3593A-8FA1-E6B1-5D2A-76D7C882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Python</a:t>
            </a:r>
            <a:endParaRPr kumimoji="1" lang="ko-KR" altLang="en-US" dirty="0"/>
          </a:p>
        </p:txBody>
      </p:sp>
      <p:pic>
        <p:nvPicPr>
          <p:cNvPr id="11" name="그림 10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555B544-BB8A-63FE-93BF-A4232149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83" y="1690688"/>
            <a:ext cx="7718234" cy="39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00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9DA3-E0DC-E356-93A7-3B68821E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4D4B3-8164-A74E-47D0-81E0782C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Python</a:t>
            </a:r>
            <a:endParaRPr kumimoji="1" lang="ko-KR" altLang="en-US" dirty="0"/>
          </a:p>
        </p:txBody>
      </p:sp>
      <p:pic>
        <p:nvPicPr>
          <p:cNvPr id="4" name="그림 3" descr="텍스트, 폰트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80305BD-1F29-9E8A-0277-3F022E1F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75" y="2058473"/>
            <a:ext cx="6386249" cy="324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7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96541-E03E-1F90-686F-A63D30C4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Java</a:t>
            </a:r>
            <a:endParaRPr kumimoji="1" lang="ko-KR" altLang="en-US" dirty="0"/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662D014-09D9-4CAA-8509-37510820E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10" y="1824818"/>
            <a:ext cx="9568780" cy="366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A0F8C2-9DAC-D12B-9D1F-7A0A6808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JAVA</a:t>
            </a:r>
            <a:endParaRPr kumimoji="1" lang="ko-KR" altLang="en-US" dirty="0"/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ACA25B-DF9F-D71A-4FB2-E9C67AD2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57" y="2065837"/>
            <a:ext cx="9931916" cy="293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8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70368-FB80-92E7-B6A4-8DEF2769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Java</a:t>
            </a:r>
            <a:endParaRPr kumimoji="1" lang="ko-KR" altLang="en-US" dirty="0"/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CB5136-53E6-ABD5-4B0E-43D72871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37" y="1866215"/>
            <a:ext cx="9435526" cy="367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4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E46BB-91A8-72AE-DC7D-9DC7EDC9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Java</a:t>
            </a:r>
            <a:endParaRPr kumimoji="1" lang="ko-KR" altLang="en-US" dirty="0"/>
          </a:p>
        </p:txBody>
      </p:sp>
      <p:pic>
        <p:nvPicPr>
          <p:cNvPr id="5" name="내용 개체 틀 4" descr="텍스트, 스크린샷, 폰트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AE424DD-A698-59F9-EFDA-827D41AAE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8285" y="2828595"/>
            <a:ext cx="10095429" cy="2685940"/>
          </a:xfrm>
        </p:spPr>
      </p:pic>
    </p:spTree>
    <p:extLst>
      <p:ext uri="{BB962C8B-B14F-4D97-AF65-F5344CB8AC3E}">
        <p14:creationId xmlns:p14="http://schemas.microsoft.com/office/powerpoint/2010/main" val="124536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17ADA-56A1-EE15-1293-4A05A57B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Java</a:t>
            </a:r>
            <a:endParaRPr kumimoji="1" lang="ko-KR" altLang="en-US" dirty="0"/>
          </a:p>
        </p:txBody>
      </p:sp>
      <p:pic>
        <p:nvPicPr>
          <p:cNvPr id="4" name="내용 개체 틀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612E35-07A5-FCC0-2881-EA2EAF4DF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18" y="1990583"/>
            <a:ext cx="5463938" cy="2091286"/>
          </a:xfrm>
          <a:prstGeom prst="rect">
            <a:avLst/>
          </a:prstGeom>
        </p:spPr>
      </p:pic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39E540-071E-C86D-9048-4C47DA70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71" y="1952901"/>
            <a:ext cx="5463939" cy="21289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4A5AA7-DE04-6FD0-7F0B-7D17ECDEE5DA}"/>
              </a:ext>
            </a:extLst>
          </p:cNvPr>
          <p:cNvSpPr txBox="1"/>
          <p:nvPr/>
        </p:nvSpPr>
        <p:spPr>
          <a:xfrm>
            <a:off x="838200" y="4883985"/>
            <a:ext cx="39362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0" dirty="0"/>
              <a:t>-&gt; False</a:t>
            </a:r>
            <a:endParaRPr kumimoji="1" lang="ko-KR" altLang="en-US" sz="8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890D5-3BE2-9777-743C-9A05BDA267DB}"/>
              </a:ext>
            </a:extLst>
          </p:cNvPr>
          <p:cNvSpPr txBox="1"/>
          <p:nvPr/>
        </p:nvSpPr>
        <p:spPr>
          <a:xfrm>
            <a:off x="6982550" y="4789877"/>
            <a:ext cx="36423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0" dirty="0"/>
              <a:t>-&gt; True</a:t>
            </a:r>
            <a:endParaRPr kumimoji="1" lang="ko-KR" altLang="en-US"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C6CEA-BD19-DAA9-3E49-1F85C2C50FFB}"/>
              </a:ext>
            </a:extLst>
          </p:cNvPr>
          <p:cNvSpPr txBox="1"/>
          <p:nvPr/>
        </p:nvSpPr>
        <p:spPr>
          <a:xfrm>
            <a:off x="177018" y="1544602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상황</a:t>
            </a:r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AF72B-09C7-9FC3-1541-EA6B2CAE514B}"/>
              </a:ext>
            </a:extLst>
          </p:cNvPr>
          <p:cNvSpPr txBox="1"/>
          <p:nvPr/>
        </p:nvSpPr>
        <p:spPr>
          <a:xfrm>
            <a:off x="6414471" y="1583569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상황</a:t>
            </a:r>
            <a:r>
              <a:rPr kumimoji="1" lang="en-US" altLang="ko-KR" dirty="0"/>
              <a:t>2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928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A9EA2-584B-D697-8D06-CF2D258B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무슨 차이일까요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51DB8-F315-CD80-3CD4-AA9E35346EAC}"/>
              </a:ext>
            </a:extLst>
          </p:cNvPr>
          <p:cNvSpPr txBox="1"/>
          <p:nvPr/>
        </p:nvSpPr>
        <p:spPr>
          <a:xfrm>
            <a:off x="838200" y="1690688"/>
            <a:ext cx="793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자바에서 </a:t>
            </a:r>
            <a:r>
              <a:rPr kumimoji="1" lang="en-US" altLang="ko-KR" dirty="0"/>
              <a:t>new </a:t>
            </a:r>
            <a:r>
              <a:rPr kumimoji="1" lang="en-US" altLang="ko-KR" dirty="0" err="1"/>
              <a:t>Xxx</a:t>
            </a:r>
            <a:r>
              <a:rPr kumimoji="1" lang="ko-KR" altLang="en-US" dirty="0"/>
              <a:t>는 메모리 주소를 할당 받아서 값을 넣는다는 의미입니다</a:t>
            </a:r>
            <a:r>
              <a:rPr kumimoji="1" lang="en-US" altLang="ko-KR" dirty="0"/>
              <a:t>!</a:t>
            </a:r>
            <a:endParaRPr kumimoji="1" lang="ko-KR" altLang="en-US" dirty="0"/>
          </a:p>
        </p:txBody>
      </p:sp>
      <p:pic>
        <p:nvPicPr>
          <p:cNvPr id="5" name="내용 개체 틀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0E28868-D958-D68B-4B3B-CEE9FB6F6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2774" y="2509543"/>
            <a:ext cx="8026451" cy="307207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253C2348-E3F9-F19F-257F-87F3E48660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259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3D0F-E2EB-DFA7-C42F-CCA2FBC8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5E414-3A94-9492-668E-920098D76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무슨 차이일까요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21212-4413-F125-C150-823B189E0427}"/>
              </a:ext>
            </a:extLst>
          </p:cNvPr>
          <p:cNvSpPr txBox="1"/>
          <p:nvPr/>
        </p:nvSpPr>
        <p:spPr>
          <a:xfrm>
            <a:off x="838200" y="1690688"/>
            <a:ext cx="793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자바에서 </a:t>
            </a:r>
            <a:r>
              <a:rPr kumimoji="1" lang="en-US" altLang="ko-KR" dirty="0"/>
              <a:t>new </a:t>
            </a:r>
            <a:r>
              <a:rPr kumimoji="1" lang="en-US" altLang="ko-KR" dirty="0" err="1"/>
              <a:t>Xxx</a:t>
            </a:r>
            <a:r>
              <a:rPr kumimoji="1" lang="ko-KR" altLang="en-US" dirty="0"/>
              <a:t>는 메모리 주소를 할당 받아서 값을 넣는다는 의미입니다</a:t>
            </a:r>
            <a:r>
              <a:rPr kumimoji="1" lang="en-US" altLang="ko-KR" dirty="0"/>
              <a:t>!</a:t>
            </a:r>
            <a:endParaRPr kumimoji="1" lang="ko-KR" alt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47AA90D-22E6-F438-30F4-2DB221FB6A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8DC332-0515-CC42-4ABC-27527C9D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92" y="2200696"/>
            <a:ext cx="6579015" cy="410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9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EB2F-A9D4-D631-05E8-CB6B39BD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동일성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동등성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C66A8-7AE6-7231-1AF2-274C8D460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843981"/>
            <a:ext cx="11536679" cy="34302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dirty="0"/>
              <a:t>동일성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dirty="0"/>
              <a:t>두 객체의 참조가 동일한 객체</a:t>
            </a:r>
            <a:r>
              <a:rPr lang="en-US" altLang="ko-KR" dirty="0"/>
              <a:t>(</a:t>
            </a:r>
            <a:r>
              <a:rPr lang="ko-KR" altLang="en-US" dirty="0" err="1"/>
              <a:t>주소값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가리키고 있는지       </a:t>
            </a:r>
            <a:r>
              <a:rPr lang="en-US" altLang="ko-KR" dirty="0"/>
              <a:t>	</a:t>
            </a:r>
            <a:r>
              <a:rPr lang="ko-KR" altLang="en-US" dirty="0"/>
              <a:t>     확인</a:t>
            </a:r>
            <a:endParaRPr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ko-KR" altLang="en-US" dirty="0"/>
              <a:t>동등성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dirty="0"/>
              <a:t>두 객체가 논리적으로 </a:t>
            </a:r>
            <a:r>
              <a:rPr lang="ko-KR" altLang="en-US" dirty="0" err="1"/>
              <a:t>같은지</a:t>
            </a:r>
            <a:r>
              <a:rPr lang="ko-KR" altLang="en-US" dirty="0"/>
              <a:t> 확인</a:t>
            </a:r>
            <a:r>
              <a:rPr lang="en-US" altLang="ko-KR" dirty="0"/>
              <a:t>	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C5C27F-98F4-8DF0-25DE-541A5E166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07" y="4209813"/>
            <a:ext cx="10525406" cy="7617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F391A4-1F68-FDBE-0F22-7D2A0B79C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7" y="1886481"/>
            <a:ext cx="10525406" cy="76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57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A515A-B20D-D1C8-71E4-46679464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동일성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동등성</a:t>
            </a:r>
          </a:p>
        </p:txBody>
      </p:sp>
      <p:pic>
        <p:nvPicPr>
          <p:cNvPr id="4" name="내용 개체 틀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EC3E6A-D2B8-288E-4A71-54B0088C4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597" y="2965085"/>
            <a:ext cx="5740400" cy="2197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9432-AA7F-97F3-2347-306F3E60951A}"/>
              </a:ext>
            </a:extLst>
          </p:cNvPr>
          <p:cNvSpPr txBox="1"/>
          <p:nvPr/>
        </p:nvSpPr>
        <p:spPr>
          <a:xfrm>
            <a:off x="171797" y="2147371"/>
            <a:ext cx="18774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400" dirty="0"/>
              <a:t>동일성</a:t>
            </a:r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2B1BB2-A046-CC82-0273-D886BE56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786" y="2916812"/>
            <a:ext cx="5574417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800ED9-7C51-8482-5416-2863854AB875}"/>
              </a:ext>
            </a:extLst>
          </p:cNvPr>
          <p:cNvSpPr txBox="1"/>
          <p:nvPr/>
        </p:nvSpPr>
        <p:spPr>
          <a:xfrm>
            <a:off x="6445786" y="2078468"/>
            <a:ext cx="18774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400" dirty="0"/>
              <a:t>동등성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F6811-0569-54DF-7AFB-3A89F7DD2ED9}"/>
              </a:ext>
            </a:extLst>
          </p:cNvPr>
          <p:cNvSpPr txBox="1"/>
          <p:nvPr/>
        </p:nvSpPr>
        <p:spPr>
          <a:xfrm>
            <a:off x="370038" y="5328586"/>
            <a:ext cx="316144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600" dirty="0"/>
              <a:t>-&gt;</a:t>
            </a:r>
            <a:r>
              <a:rPr kumimoji="1" lang="ko-KR" altLang="en-US" sz="6600" dirty="0"/>
              <a:t> </a:t>
            </a:r>
            <a:r>
              <a:rPr kumimoji="1" lang="en-US" altLang="ko-KR" sz="6600" dirty="0"/>
              <a:t>false</a:t>
            </a:r>
            <a:endParaRPr kumimoji="1" lang="ko-KR" altLang="en-US" sz="6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A9D406-AF71-6555-66C9-53DA534DF483}"/>
              </a:ext>
            </a:extLst>
          </p:cNvPr>
          <p:cNvSpPr txBox="1"/>
          <p:nvPr/>
        </p:nvSpPr>
        <p:spPr>
          <a:xfrm>
            <a:off x="6445786" y="5328586"/>
            <a:ext cx="30387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600" dirty="0"/>
              <a:t>-&gt; True</a:t>
            </a:r>
            <a:endParaRPr kumimoji="1"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1448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EC7C173-5ED6-E242-9587-E1A491AB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그러면 이건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53A9193-C49F-EB57-8032-EE6FAF23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37" y="1866215"/>
            <a:ext cx="9435526" cy="3676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BCFD6-5153-7506-9026-1C0E22D7C069}"/>
              </a:ext>
            </a:extLst>
          </p:cNvPr>
          <p:cNvSpPr txBox="1"/>
          <p:nvPr/>
        </p:nvSpPr>
        <p:spPr>
          <a:xfrm>
            <a:off x="1378237" y="5723434"/>
            <a:ext cx="74699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400" dirty="0"/>
              <a:t>True? False?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5801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6B23-1E21-C0B9-3C0A-E908AC94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67DDD8B-2141-E2BA-A291-C299D946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그러면 이건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BAE8D-6AA7-4190-7EA5-AAD4F067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37" y="1866215"/>
            <a:ext cx="9435526" cy="3676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29AB1B-EADD-87D0-1420-27603C3374BC}"/>
              </a:ext>
            </a:extLst>
          </p:cNvPr>
          <p:cNvSpPr txBox="1"/>
          <p:nvPr/>
        </p:nvSpPr>
        <p:spPr>
          <a:xfrm>
            <a:off x="1378237" y="5723434"/>
            <a:ext cx="74699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4400" dirty="0"/>
              <a:t>True? False?   -&gt; True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95728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7C3D-423A-1784-E85C-F7757E7A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F44FFBB-3C26-8048-CB39-650BD770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그러면 이건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8720F44-AB40-E654-C949-0E536796B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37" y="1866215"/>
            <a:ext cx="9435526" cy="3676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E342D-8406-DAF8-B593-1DEAF5B93DD6}"/>
              </a:ext>
            </a:extLst>
          </p:cNvPr>
          <p:cNvSpPr txBox="1"/>
          <p:nvPr/>
        </p:nvSpPr>
        <p:spPr>
          <a:xfrm>
            <a:off x="1378237" y="5723434"/>
            <a:ext cx="74699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400" dirty="0"/>
              <a:t>동일성</a:t>
            </a:r>
            <a:r>
              <a:rPr kumimoji="1" lang="en-US" altLang="ko-KR" sz="4400" dirty="0"/>
              <a:t>? </a:t>
            </a:r>
            <a:r>
              <a:rPr kumimoji="1" lang="ko-KR" altLang="en-US" sz="4400" dirty="0"/>
              <a:t>동등성</a:t>
            </a:r>
            <a:r>
              <a:rPr kumimoji="1" lang="en-US" altLang="ko-KR" sz="4400" dirty="0"/>
              <a:t>?   -&gt;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46135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8AC0-B9CC-D85B-6EFC-A43092A2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1E88B-7448-C3CD-6422-37D9B346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동일성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동등성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4B507-4F52-0B8B-BD13-B461BA9D4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070258"/>
            <a:ext cx="10515600" cy="343020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kumimoji="1" lang="ko-KR" altLang="en-US" dirty="0"/>
              <a:t>동일성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en-US" altLang="ko-KR" dirty="0"/>
              <a:t>== </a:t>
            </a:r>
            <a:r>
              <a:rPr lang="ko-KR" altLang="en-US" dirty="0"/>
              <a:t>연산자를 사용해서 </a:t>
            </a:r>
            <a:br>
              <a:rPr lang="en-US" altLang="ko-KR" dirty="0"/>
            </a:br>
            <a:r>
              <a:rPr lang="ko-KR" altLang="en-US" dirty="0"/>
              <a:t>        두 객체의 참조가 동일한 객체</a:t>
            </a:r>
            <a:r>
              <a:rPr lang="en-US" altLang="ko-KR" dirty="0"/>
              <a:t>(</a:t>
            </a:r>
            <a:r>
              <a:rPr lang="ko-KR" altLang="en-US" dirty="0" err="1"/>
              <a:t>주소값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가리키고 있는지 확인</a:t>
            </a:r>
            <a:endParaRPr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ko-KR" altLang="en-US" dirty="0"/>
              <a:t>동등성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en" altLang="ko-KR" dirty="0"/>
              <a:t>equals() </a:t>
            </a:r>
            <a:r>
              <a:rPr lang="ko-KR" altLang="en-US" dirty="0"/>
              <a:t>메서드를 사용하여 두 객체가 논리적으로 </a:t>
            </a:r>
            <a:r>
              <a:rPr lang="ko-KR" altLang="en-US" dirty="0" err="1"/>
              <a:t>같은지</a:t>
            </a:r>
            <a:r>
              <a:rPr lang="ko-KR" altLang="en-US" dirty="0"/>
              <a:t> 확인</a:t>
            </a:r>
            <a:r>
              <a:rPr lang="en-US" altLang="ko-KR" dirty="0"/>
              <a:t>	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2719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5D85-398A-51D5-768D-EB3DA1EC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0462E43-376B-4821-8A76-27C3A0E0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그러면 이건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B6AD62-ADD7-98FC-F98B-3C600A54E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37" y="1866215"/>
            <a:ext cx="9435526" cy="3676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95A4D-BD50-DC63-0B69-E544676EF5E0}"/>
              </a:ext>
            </a:extLst>
          </p:cNvPr>
          <p:cNvSpPr txBox="1"/>
          <p:nvPr/>
        </p:nvSpPr>
        <p:spPr>
          <a:xfrm>
            <a:off x="1378237" y="5723434"/>
            <a:ext cx="74699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4400" dirty="0"/>
              <a:t>동일성</a:t>
            </a:r>
            <a:r>
              <a:rPr kumimoji="1" lang="en-US" altLang="ko-KR" sz="4400" dirty="0"/>
              <a:t>? </a:t>
            </a:r>
            <a:r>
              <a:rPr kumimoji="1" lang="ko-KR" altLang="en-US" sz="4400" dirty="0"/>
              <a:t>동등성</a:t>
            </a:r>
            <a:r>
              <a:rPr kumimoji="1" lang="en-US" altLang="ko-KR" sz="4400" dirty="0"/>
              <a:t>?   -&gt;</a:t>
            </a:r>
            <a:r>
              <a:rPr kumimoji="1" lang="ko-KR" altLang="en-US" sz="4400" dirty="0"/>
              <a:t> 동일성</a:t>
            </a:r>
          </a:p>
        </p:txBody>
      </p:sp>
    </p:spTree>
    <p:extLst>
      <p:ext uri="{BB962C8B-B14F-4D97-AF65-F5344CB8AC3E}">
        <p14:creationId xmlns:p14="http://schemas.microsoft.com/office/powerpoint/2010/main" val="8448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3E245-86B1-7E37-13CC-550938E2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즉 같은 객체를 </a:t>
            </a:r>
            <a:r>
              <a:rPr kumimoji="1" lang="ko-KR" altLang="en-US" dirty="0" err="1"/>
              <a:t>가르킵니다</a:t>
            </a:r>
            <a:r>
              <a:rPr kumimoji="1" lang="en-US" altLang="ko-KR" dirty="0"/>
              <a:t>!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358CD2-68D2-B2F9-B2D2-54AE24836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031" y="1900991"/>
            <a:ext cx="9147938" cy="389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53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5B1D5-E3A1-FFDE-6415-D29E9A27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엥 왜요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9" name="그림 8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32D5D75-9EF0-104A-2F00-18ED02972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4" y="1552226"/>
            <a:ext cx="6496524" cy="37535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E130CC-1E36-FCFE-3745-5EC85658D544}"/>
              </a:ext>
            </a:extLst>
          </p:cNvPr>
          <p:cNvSpPr txBox="1"/>
          <p:nvPr/>
        </p:nvSpPr>
        <p:spPr>
          <a:xfrm>
            <a:off x="7599664" y="1866674"/>
            <a:ext cx="3825086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dirty="0"/>
              <a:t>이렇게 같은 문자열이 사용할 때</a:t>
            </a:r>
            <a:br>
              <a:rPr kumimoji="1" lang="en-US" altLang="ko-KR" dirty="0"/>
            </a:br>
            <a:r>
              <a:rPr kumimoji="1" lang="ko-KR" altLang="en-US" dirty="0"/>
              <a:t>계속 메모리 주소를 참조하게 해서</a:t>
            </a:r>
            <a:br>
              <a:rPr kumimoji="1" lang="en-US" altLang="ko-KR" dirty="0"/>
            </a:br>
            <a:r>
              <a:rPr kumimoji="1" lang="ko-KR" altLang="en-US" dirty="0"/>
              <a:t>메모리 공간을 차지하게 하면 </a:t>
            </a:r>
            <a:br>
              <a:rPr kumimoji="1" lang="en-US" altLang="ko-KR" dirty="0"/>
            </a:br>
            <a:r>
              <a:rPr kumimoji="1" lang="ko-KR" altLang="en-US" dirty="0"/>
              <a:t>메모리 낭비로 이어진다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3FCA43-2D7E-EE77-9F1B-6289BD97D9FD}"/>
              </a:ext>
            </a:extLst>
          </p:cNvPr>
          <p:cNvSpPr txBox="1"/>
          <p:nvPr/>
        </p:nvSpPr>
        <p:spPr>
          <a:xfrm>
            <a:off x="8753826" y="4079630"/>
            <a:ext cx="15167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Str 1 = x001</a:t>
            </a:r>
            <a:br>
              <a:rPr kumimoji="1" lang="en-US" altLang="ko-KR" dirty="0"/>
            </a:br>
            <a:r>
              <a:rPr kumimoji="1" lang="en-US" altLang="ko-KR" dirty="0"/>
              <a:t>Str 2 = x002</a:t>
            </a:r>
            <a:br>
              <a:rPr kumimoji="1" lang="en-US" altLang="ko-KR" dirty="0"/>
            </a:br>
            <a:r>
              <a:rPr kumimoji="1" lang="en-US" altLang="ko-KR" dirty="0"/>
              <a:t>       --</a:t>
            </a:r>
          </a:p>
          <a:p>
            <a:r>
              <a:rPr kumimoji="1" lang="en-US" altLang="ko-KR" dirty="0"/>
              <a:t>       --</a:t>
            </a:r>
          </a:p>
          <a:p>
            <a:r>
              <a:rPr kumimoji="1" lang="en-US" altLang="ko-KR" dirty="0"/>
              <a:t>Str 8 = x008</a:t>
            </a:r>
            <a:endParaRPr kumimoji="1"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A5F54A3-0579-108B-17B4-148ADC8B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336" y="3800851"/>
            <a:ext cx="3825086" cy="238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26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4C54A-F5CA-D087-04AB-994440BF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String pool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B8837A-C24D-79AB-F289-83660B3DB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74" y="1586475"/>
            <a:ext cx="11864926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자바에서는 메모리 효율과 성능 최적화를 위해 문자열 풀을 사용합니다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795574F-FD71-E8FA-28FB-AF91370E1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07369"/>
            <a:ext cx="5715000" cy="2006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18ACFE0-9276-D105-1B4B-56C1132AC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717" y="3310669"/>
            <a:ext cx="7010719" cy="29849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C7C3BF-B2F2-C8A1-C2AF-B7052714C521}"/>
              </a:ext>
            </a:extLst>
          </p:cNvPr>
          <p:cNvSpPr txBox="1"/>
          <p:nvPr/>
        </p:nvSpPr>
        <p:spPr>
          <a:xfrm>
            <a:off x="5051686" y="6369828"/>
            <a:ext cx="5522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같은 문자열이면 같은 메모리 참조를 바라게 합니다</a:t>
            </a:r>
          </a:p>
        </p:txBody>
      </p:sp>
    </p:spTree>
    <p:extLst>
      <p:ext uri="{BB962C8B-B14F-4D97-AF65-F5344CB8AC3E}">
        <p14:creationId xmlns:p14="http://schemas.microsoft.com/office/powerpoint/2010/main" val="136526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8FD9D-F292-7D0F-F42F-2A207AAF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그러면 값이 바뀌면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9D4A9B6-09B1-65C6-C495-480A25DFB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4761" y="2575132"/>
            <a:ext cx="6802478" cy="2896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3FD1CF-83CB-1241-2887-40CAE2D69683}"/>
              </a:ext>
            </a:extLst>
          </p:cNvPr>
          <p:cNvSpPr txBox="1"/>
          <p:nvPr/>
        </p:nvSpPr>
        <p:spPr>
          <a:xfrm>
            <a:off x="389744" y="1668051"/>
            <a:ext cx="9174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dirty="0"/>
              <a:t>만약 </a:t>
            </a:r>
            <a:r>
              <a:rPr kumimoji="1" lang="en-US" altLang="ko-KR" sz="2800" dirty="0"/>
              <a:t>str3</a:t>
            </a:r>
            <a:r>
              <a:rPr kumimoji="1" lang="ko-KR" altLang="en-US" sz="2800" dirty="0"/>
              <a:t>의 값을 </a:t>
            </a:r>
            <a:r>
              <a:rPr kumimoji="1" lang="en-US" altLang="ko-KR" sz="2800" dirty="0"/>
              <a:t>“world”</a:t>
            </a:r>
            <a:r>
              <a:rPr kumimoji="1" lang="ko-KR" altLang="en-US" sz="2800" dirty="0"/>
              <a:t>로 바꾸면 </a:t>
            </a:r>
            <a:r>
              <a:rPr kumimoji="1" lang="en-US" altLang="ko-KR" sz="2800" dirty="0"/>
              <a:t>str4</a:t>
            </a:r>
            <a:r>
              <a:rPr kumimoji="1" lang="ko-KR" altLang="en-US" sz="2800" dirty="0"/>
              <a:t>의 값도 바뀔까</a:t>
            </a:r>
            <a:r>
              <a:rPr kumimoji="1" lang="en-US" altLang="ko-KR" sz="2800" dirty="0"/>
              <a:t>??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7900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9DA66-C37A-9F2E-0BFC-78D5B592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불변객체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56941-4CF3-3A49-ADC0-18548E715623}"/>
              </a:ext>
            </a:extLst>
          </p:cNvPr>
          <p:cNvSpPr txBox="1"/>
          <p:nvPr/>
        </p:nvSpPr>
        <p:spPr>
          <a:xfrm>
            <a:off x="838200" y="1459855"/>
            <a:ext cx="984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/>
              <a:t>쉽게 말해 한번 만들어진 </a:t>
            </a:r>
            <a:r>
              <a:rPr kumimoji="1" lang="en-US" altLang="ko-KR" sz="2400" dirty="0"/>
              <a:t>String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Pool</a:t>
            </a:r>
            <a:r>
              <a:rPr kumimoji="1" lang="ko-KR" altLang="en-US" sz="2400" dirty="0" err="1"/>
              <a:t>에</a:t>
            </a:r>
            <a:r>
              <a:rPr kumimoji="1" lang="ko-KR" altLang="en-US" sz="2400" dirty="0"/>
              <a:t> 있는 값은 변경되지 않습니다</a:t>
            </a:r>
            <a:r>
              <a:rPr kumimoji="1" lang="en-US" altLang="ko-KR" sz="2400" dirty="0"/>
              <a:t>!!</a:t>
            </a:r>
            <a:endParaRPr kumimoji="1"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028A4-5FF8-4A76-EA65-A4738458F34B}"/>
              </a:ext>
            </a:extLst>
          </p:cNvPr>
          <p:cNvSpPr txBox="1"/>
          <p:nvPr/>
        </p:nvSpPr>
        <p:spPr>
          <a:xfrm>
            <a:off x="944380" y="2083633"/>
            <a:ext cx="403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그러면 </a:t>
            </a:r>
            <a:r>
              <a:rPr kumimoji="1" lang="en-US" altLang="ko-KR" dirty="0"/>
              <a:t>str3</a:t>
            </a:r>
            <a:r>
              <a:rPr kumimoji="1" lang="ko-KR" altLang="en-US" dirty="0"/>
              <a:t>의 값은 </a:t>
            </a:r>
            <a:r>
              <a:rPr kumimoji="1" lang="ko-KR" altLang="en-US" dirty="0" err="1"/>
              <a:t>못바꾸는건가요</a:t>
            </a:r>
            <a:r>
              <a:rPr kumimoji="1" lang="en-US" altLang="ko-KR" dirty="0"/>
              <a:t>??</a:t>
            </a:r>
            <a:endParaRPr kumimoji="1" lang="ko-KR" altLang="en-US" dirty="0"/>
          </a:p>
        </p:txBody>
      </p:sp>
      <p:pic>
        <p:nvPicPr>
          <p:cNvPr id="10" name="내용 개체 틀 3">
            <a:extLst>
              <a:ext uri="{FF2B5EF4-FFF2-40B4-BE49-F238E27FC236}">
                <a16:creationId xmlns:a16="http://schemas.microsoft.com/office/drawing/2014/main" id="{2E2A2B53-5B16-5AAF-963C-64419ACDD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125" y="2785418"/>
            <a:ext cx="7611254" cy="3240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F521AA-364B-4670-43F7-C78C46019E2D}"/>
              </a:ext>
            </a:extLst>
          </p:cNvPr>
          <p:cNvSpPr txBox="1"/>
          <p:nvPr/>
        </p:nvSpPr>
        <p:spPr>
          <a:xfrm>
            <a:off x="4002373" y="3429000"/>
            <a:ext cx="452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FF0000"/>
                </a:solidFill>
              </a:rPr>
              <a:t>X</a:t>
            </a:r>
            <a:endParaRPr kumimoji="1"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70F1994-8A4B-7277-5ACA-05E41650308E}"/>
              </a:ext>
            </a:extLst>
          </p:cNvPr>
          <p:cNvCxnSpPr/>
          <p:nvPr/>
        </p:nvCxnSpPr>
        <p:spPr>
          <a:xfrm flipV="1">
            <a:off x="3117954" y="3222885"/>
            <a:ext cx="4077325" cy="20611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54AE84-1D34-32CE-13A5-B3D452D0E7F7}"/>
              </a:ext>
            </a:extLst>
          </p:cNvPr>
          <p:cNvSpPr txBox="1"/>
          <p:nvPr/>
        </p:nvSpPr>
        <p:spPr>
          <a:xfrm>
            <a:off x="1139252" y="6232161"/>
            <a:ext cx="10399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스트링 풀에 없는 새로운 문자열이 생겼다면 새로운 메모리 주소를 참조하게 하여 새로 생성합니다</a:t>
            </a:r>
            <a:r>
              <a:rPr kumimoji="1" lang="en-US" altLang="ko-KR" dirty="0"/>
              <a:t>!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306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01F72-AF21-5200-D425-6FC617C6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불변객체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B024F-F252-911E-189D-64D48FFB5A49}"/>
              </a:ext>
            </a:extLst>
          </p:cNvPr>
          <p:cNvSpPr txBox="1"/>
          <p:nvPr/>
        </p:nvSpPr>
        <p:spPr>
          <a:xfrm>
            <a:off x="1389089" y="2297004"/>
            <a:ext cx="9413822" cy="2478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3600" dirty="0"/>
              <a:t>값이 변경되면 기존 메모리 참조 값에서</a:t>
            </a:r>
            <a:endParaRPr kumimoji="1" lang="en-US" altLang="ko-KR" sz="3600" dirty="0"/>
          </a:p>
          <a:p>
            <a:pPr>
              <a:lnSpc>
                <a:spcPct val="150000"/>
              </a:lnSpc>
            </a:pPr>
            <a:r>
              <a:rPr kumimoji="1" lang="ko-KR" altLang="en-US" sz="3600" dirty="0"/>
              <a:t>변경하는 것이 아니라 </a:t>
            </a:r>
            <a:endParaRPr kumimoji="1" lang="en-US" altLang="ko-KR" sz="3600" dirty="0"/>
          </a:p>
          <a:p>
            <a:pPr>
              <a:lnSpc>
                <a:spcPct val="150000"/>
              </a:lnSpc>
            </a:pPr>
            <a:r>
              <a:rPr kumimoji="1" lang="ko-KR" altLang="en-US" sz="3600" dirty="0"/>
              <a:t>새로운 메모리 주소를 할당해서 값을 넣는 것</a:t>
            </a:r>
          </a:p>
        </p:txBody>
      </p:sp>
    </p:spTree>
    <p:extLst>
      <p:ext uri="{BB962C8B-B14F-4D97-AF65-F5344CB8AC3E}">
        <p14:creationId xmlns:p14="http://schemas.microsoft.com/office/powerpoint/2010/main" val="2404251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349AF-45B1-1B0E-72BD-9EA2AB97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그러면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087A2-6DE2-31C3-0F0C-F5585D044DBF}"/>
              </a:ext>
            </a:extLst>
          </p:cNvPr>
          <p:cNvSpPr txBox="1"/>
          <p:nvPr/>
        </p:nvSpPr>
        <p:spPr>
          <a:xfrm>
            <a:off x="614597" y="2778148"/>
            <a:ext cx="11222944" cy="1301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800" dirty="0"/>
              <a:t>값을 </a:t>
            </a:r>
            <a:r>
              <a:rPr kumimoji="1" lang="ko-KR" altLang="en-US" sz="2800" dirty="0" err="1"/>
              <a:t>변경할떄마다</a:t>
            </a:r>
            <a:r>
              <a:rPr kumimoji="1" lang="ko-KR" altLang="en-US" sz="2800" dirty="0"/>
              <a:t> 새로운 메모리 주소를 </a:t>
            </a:r>
            <a:r>
              <a:rPr kumimoji="1" lang="ko-KR" altLang="en-US" sz="2800" dirty="0" err="1"/>
              <a:t>할당하는건데</a:t>
            </a:r>
            <a:br>
              <a:rPr kumimoji="1" lang="en-US" altLang="ko-KR" sz="2800" dirty="0"/>
            </a:br>
            <a:r>
              <a:rPr kumimoji="1" lang="ko-KR" altLang="en-US" sz="2800" dirty="0"/>
              <a:t>값이 자주 변경되면 너무 많은 메모리 주소를 </a:t>
            </a:r>
            <a:r>
              <a:rPr kumimoji="1" lang="ko-KR" altLang="en-US" sz="2800" dirty="0" err="1"/>
              <a:t>차지하는거</a:t>
            </a:r>
            <a:r>
              <a:rPr kumimoji="1" lang="ko-KR" altLang="en-US" sz="2800" dirty="0"/>
              <a:t> 아닌가요</a:t>
            </a:r>
            <a:r>
              <a:rPr kumimoji="1" lang="en-US" altLang="ko-KR" sz="2800" dirty="0"/>
              <a:t>??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65152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5F43-1664-4F18-00CB-82F502DA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맞습니다</a:t>
            </a:r>
            <a:r>
              <a:rPr kumimoji="1" lang="en-US" altLang="ko-KR" dirty="0"/>
              <a:t>!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8C6CB-6F33-AA5A-40EE-76830FBA83CC}"/>
              </a:ext>
            </a:extLst>
          </p:cNvPr>
          <p:cNvSpPr txBox="1"/>
          <p:nvPr/>
        </p:nvSpPr>
        <p:spPr>
          <a:xfrm>
            <a:off x="2814275" y="2370857"/>
            <a:ext cx="6893234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dirty="0"/>
              <a:t>String str = "A" + "B" + "C" + "D"; </a:t>
            </a:r>
          </a:p>
          <a:p>
            <a:pPr>
              <a:lnSpc>
                <a:spcPct val="150000"/>
              </a:lnSpc>
            </a:pPr>
            <a:r>
              <a:rPr lang="en" altLang="ko-KR" dirty="0"/>
              <a:t>String str = String("A") + String("B") + String("C") + String("D"); </a:t>
            </a:r>
          </a:p>
          <a:p>
            <a:pPr>
              <a:lnSpc>
                <a:spcPct val="150000"/>
              </a:lnSpc>
            </a:pPr>
            <a:r>
              <a:rPr lang="en" altLang="ko-KR" dirty="0"/>
              <a:t>String str = new String("AB") + String("C") + String("D); </a:t>
            </a:r>
          </a:p>
          <a:p>
            <a:pPr>
              <a:lnSpc>
                <a:spcPct val="150000"/>
              </a:lnSpc>
            </a:pPr>
            <a:r>
              <a:rPr lang="en" altLang="ko-KR" dirty="0"/>
              <a:t>String str = new String("ABC") + String("D); </a:t>
            </a:r>
          </a:p>
          <a:p>
            <a:pPr>
              <a:lnSpc>
                <a:spcPct val="150000"/>
              </a:lnSpc>
            </a:pPr>
            <a:r>
              <a:rPr lang="en" altLang="ko-KR" dirty="0"/>
              <a:t>String str = new String("ABCD");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632AA-1DEA-499E-8CFB-DAF9EA235B08}"/>
              </a:ext>
            </a:extLst>
          </p:cNvPr>
          <p:cNvSpPr txBox="1"/>
          <p:nvPr/>
        </p:nvSpPr>
        <p:spPr>
          <a:xfrm>
            <a:off x="1439917" y="5306519"/>
            <a:ext cx="931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이렇게 새로 문자열을 </a:t>
            </a:r>
            <a:r>
              <a:rPr kumimoji="1" lang="ko-KR" altLang="en-US" dirty="0" err="1"/>
              <a:t>생성할때</a:t>
            </a:r>
            <a:r>
              <a:rPr kumimoji="1" lang="ko-KR" altLang="en-US" dirty="0"/>
              <a:t> 마다 문자열 마다 새로운 메모리를 참조하게 </a:t>
            </a:r>
            <a:r>
              <a:rPr kumimoji="1" lang="ko-KR" altLang="en-US" dirty="0" err="1"/>
              <a:t>해야합니다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088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B3240-9E69-B7CB-F742-A4C8804E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String builder - </a:t>
            </a:r>
            <a:r>
              <a:rPr kumimoji="1" lang="ko-KR" altLang="en-US" dirty="0"/>
              <a:t>가변 객체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FDF6C-A401-5A3D-5D68-580AD853B5BB}"/>
              </a:ext>
            </a:extLst>
          </p:cNvPr>
          <p:cNvSpPr txBox="1"/>
          <p:nvPr/>
        </p:nvSpPr>
        <p:spPr>
          <a:xfrm>
            <a:off x="838200" y="1490633"/>
            <a:ext cx="10111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/>
              <a:t>자바는 이런 메모리 남발을 방지하기 위해 </a:t>
            </a:r>
            <a:r>
              <a:rPr kumimoji="1" lang="en-US" altLang="ko-KR" sz="2000" dirty="0"/>
              <a:t>String</a:t>
            </a:r>
            <a:r>
              <a:rPr kumimoji="1" lang="ko-KR" altLang="en-US" sz="2000" dirty="0"/>
              <a:t>을 변경할 수 있는 기능을 제공합니다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85E019B-BE34-D91B-3BAF-ACC1082B8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185857"/>
            <a:ext cx="7302500" cy="383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11915D-4F10-4454-8FCD-68D1BA08B6BC}"/>
              </a:ext>
            </a:extLst>
          </p:cNvPr>
          <p:cNvSpPr txBox="1"/>
          <p:nvPr/>
        </p:nvSpPr>
        <p:spPr>
          <a:xfrm>
            <a:off x="1355073" y="6316371"/>
            <a:ext cx="959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쉽게 이야기해서 스트링 문자열을 배열처럼 다룬다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배열처럼 늘리고 줄이고 하는 것입니다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252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2ACD8-6468-14C5-C847-3074D072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CAA6B-19C6-7B6F-4ADF-C7E9298E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그러면 이 상황에서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1E25D-6965-9ECB-608C-4F0901206EA9}"/>
              </a:ext>
            </a:extLst>
          </p:cNvPr>
          <p:cNvSpPr txBox="1"/>
          <p:nvPr/>
        </p:nvSpPr>
        <p:spPr>
          <a:xfrm>
            <a:off x="3779395" y="2160995"/>
            <a:ext cx="4633209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dirty="0"/>
              <a:t>StringBuilder sb = new StringBuilder();</a:t>
            </a:r>
            <a:r>
              <a:rPr lang="ko-KR" altLang="en-US" dirty="0"/>
              <a:t> </a:t>
            </a:r>
            <a:endParaRPr lang="en" altLang="ko-KR" dirty="0"/>
          </a:p>
          <a:p>
            <a:pPr>
              <a:lnSpc>
                <a:spcPct val="150000"/>
              </a:lnSpc>
            </a:pPr>
            <a:r>
              <a:rPr lang="en" altLang="ko-KR" dirty="0" err="1"/>
              <a:t>sb.append</a:t>
            </a:r>
            <a:r>
              <a:rPr lang="en" altLang="ko-KR" dirty="0"/>
              <a:t>("A"); </a:t>
            </a:r>
          </a:p>
          <a:p>
            <a:pPr>
              <a:lnSpc>
                <a:spcPct val="150000"/>
              </a:lnSpc>
            </a:pPr>
            <a:r>
              <a:rPr lang="en" altLang="ko-KR" dirty="0" err="1"/>
              <a:t>sb.append</a:t>
            </a:r>
            <a:r>
              <a:rPr lang="en" altLang="ko-KR" dirty="0"/>
              <a:t>("B"); </a:t>
            </a:r>
          </a:p>
          <a:p>
            <a:pPr>
              <a:lnSpc>
                <a:spcPct val="150000"/>
              </a:lnSpc>
            </a:pPr>
            <a:r>
              <a:rPr lang="en" altLang="ko-KR" dirty="0" err="1"/>
              <a:t>sb.append</a:t>
            </a:r>
            <a:r>
              <a:rPr lang="en" altLang="ko-KR" dirty="0"/>
              <a:t>("C"); </a:t>
            </a:r>
          </a:p>
          <a:p>
            <a:pPr>
              <a:lnSpc>
                <a:spcPct val="150000"/>
              </a:lnSpc>
            </a:pPr>
            <a:r>
              <a:rPr lang="en" altLang="ko-KR" dirty="0" err="1"/>
              <a:t>sb.append</a:t>
            </a:r>
            <a:r>
              <a:rPr lang="en" altLang="ko-KR" dirty="0"/>
              <a:t>("D");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D3650-2316-AAE6-7B91-4DA035C6F7F1}"/>
              </a:ext>
            </a:extLst>
          </p:cNvPr>
          <p:cNvSpPr txBox="1"/>
          <p:nvPr/>
        </p:nvSpPr>
        <p:spPr>
          <a:xfrm>
            <a:off x="1648919" y="4957449"/>
            <a:ext cx="9371476" cy="1301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800" dirty="0"/>
              <a:t>쉽게 이야기해서 자바는 메모리 효율을 위해</a:t>
            </a:r>
            <a:endParaRPr kumimoji="1" lang="en-US" altLang="ko-KR" sz="2800" dirty="0"/>
          </a:p>
          <a:p>
            <a:pPr>
              <a:lnSpc>
                <a:spcPct val="150000"/>
              </a:lnSpc>
            </a:pPr>
            <a:r>
              <a:rPr kumimoji="1" lang="en-US" altLang="ko-KR" sz="2800" dirty="0"/>
              <a:t>str[]</a:t>
            </a:r>
            <a:r>
              <a:rPr kumimoji="1" lang="ko-KR" altLang="en-US" sz="2800" dirty="0"/>
              <a:t> 배열을 생성해서 배열에 각 문자열을 </a:t>
            </a:r>
            <a:r>
              <a:rPr kumimoji="1" lang="en-US" altLang="ko-KR" sz="2800" dirty="0"/>
              <a:t>append</a:t>
            </a:r>
            <a:r>
              <a:rPr kumimoji="1" lang="ko-KR" altLang="en-US" sz="2800" dirty="0"/>
              <a:t>합니다</a:t>
            </a:r>
            <a:r>
              <a:rPr kumimoji="1" lang="en-US" altLang="ko-KR" sz="2800" dirty="0"/>
              <a:t>!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78421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46892-5000-F85A-9CCC-C2A93ACE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불변 </a:t>
            </a:r>
            <a:r>
              <a:rPr kumimoji="1" lang="en-US" altLang="ko-KR" dirty="0"/>
              <a:t>vs </a:t>
            </a:r>
            <a:r>
              <a:rPr kumimoji="1" lang="ko-KR" altLang="en-US" dirty="0"/>
              <a:t>가변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8120B-BD49-078E-1816-23CAD6F8D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String </a:t>
            </a:r>
            <a:r>
              <a:rPr lang="ko-KR" altLang="en-US" dirty="0"/>
              <a:t>불변하다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즉 한번 생성되면 그 내용을 변경할 수 없다</a:t>
            </a:r>
            <a:r>
              <a:rPr lang="en-US" altLang="ko-KR" dirty="0"/>
              <a:t>. </a:t>
            </a:r>
            <a:r>
              <a:rPr lang="ko-KR" altLang="en-US" dirty="0"/>
              <a:t>따라서 문자열에 변화를 주려고 할 때마다 새로운 </a:t>
            </a:r>
            <a:r>
              <a:rPr lang="en" altLang="ko-KR" dirty="0"/>
              <a:t>String </a:t>
            </a:r>
            <a:r>
              <a:rPr lang="ko-KR" altLang="en-US" dirty="0"/>
              <a:t>객체가 생성되고 기존 객체는 버려진다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 과정에서 메모리와 처리 시간을 더 많이 소모한다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반면에</a:t>
            </a:r>
            <a:r>
              <a:rPr lang="en-US" altLang="ko-KR" dirty="0"/>
              <a:t>, </a:t>
            </a:r>
            <a:r>
              <a:rPr lang="en" altLang="ko-KR" dirty="0"/>
              <a:t>StringBuilder</a:t>
            </a:r>
            <a:r>
              <a:rPr lang="ko-KR" altLang="en-US" dirty="0"/>
              <a:t>는 가변적이다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하나의 </a:t>
            </a:r>
            <a:r>
              <a:rPr lang="en" altLang="ko-KR" dirty="0"/>
              <a:t>StringBuilder </a:t>
            </a:r>
            <a:r>
              <a:rPr lang="ko-KR" altLang="en-US" dirty="0"/>
              <a:t>객체 안에서 문자열을 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수정할 수 있으며 이때마다 새로운 객체를 생성하지 않는다</a:t>
            </a:r>
            <a:r>
              <a:rPr lang="en-US" altLang="ko-KR" dirty="0"/>
              <a:t>. </a:t>
            </a:r>
            <a:r>
              <a:rPr lang="ko-KR" altLang="en-US" dirty="0"/>
              <a:t>이로 인해 메모리 사용을 줄이고 성능을 향상시킬 수 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단 사이드 이펙트 주의해야 한다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422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5C01B-8F90-DFC3-49E4-1991F902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가변이 더 </a:t>
            </a:r>
            <a:r>
              <a:rPr kumimoji="1" lang="ko-KR" altLang="en-US" dirty="0" err="1"/>
              <a:t>편해보이는데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414E5-07A2-4CCE-A519-D578DBC8395A}"/>
              </a:ext>
            </a:extLst>
          </p:cNvPr>
          <p:cNvSpPr txBox="1"/>
          <p:nvPr/>
        </p:nvSpPr>
        <p:spPr>
          <a:xfrm>
            <a:off x="838200" y="3013501"/>
            <a:ext cx="10995318" cy="1128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400" dirty="0"/>
              <a:t>하지만 자바에서는 모든 </a:t>
            </a:r>
            <a:r>
              <a:rPr kumimoji="1" lang="en-US" altLang="ko-KR" sz="2400" dirty="0"/>
              <a:t>String</a:t>
            </a:r>
            <a:r>
              <a:rPr kumimoji="1" lang="ko-KR" altLang="en-US" sz="2400" dirty="0"/>
              <a:t>은 불변이어야 합니다</a:t>
            </a:r>
            <a:r>
              <a:rPr kumimoji="1" lang="en-US" altLang="ko-KR" sz="2400" dirty="0"/>
              <a:t>!!</a:t>
            </a:r>
            <a:br>
              <a:rPr kumimoji="1" lang="en-US" altLang="ko-KR" sz="2400" dirty="0"/>
            </a:br>
            <a:r>
              <a:rPr kumimoji="1" lang="ko-KR" altLang="en-US" sz="2400" dirty="0"/>
              <a:t>그래서 가변으로 스트링 문자열을 더한 후에도 불변의 상태로 </a:t>
            </a:r>
            <a:r>
              <a:rPr kumimoji="1" lang="ko-KR" altLang="en-US" sz="2400" dirty="0" err="1"/>
              <a:t>변경해야합니다</a:t>
            </a:r>
            <a:r>
              <a:rPr kumimoji="1" lang="en-US" altLang="ko-KR" sz="2400" dirty="0"/>
              <a:t>!</a:t>
            </a:r>
            <a:endParaRPr kumimoji="1"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8367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B7655-123F-81A5-7B33-C02533DD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왜 불변이어야 하죠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7CB124-9F38-BC92-5A7E-A8E9303E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23" y="1856021"/>
            <a:ext cx="7998553" cy="3405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B72B41-047A-5A81-8C9A-51F0362336FD}"/>
              </a:ext>
            </a:extLst>
          </p:cNvPr>
          <p:cNvSpPr txBox="1"/>
          <p:nvPr/>
        </p:nvSpPr>
        <p:spPr>
          <a:xfrm>
            <a:off x="2323476" y="5696262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문자열 풀 안에 값들이 계속 바뀌어서 문자열 풀을 사용할 수가 없다</a:t>
            </a:r>
            <a:r>
              <a:rPr kumimoji="1" lang="en-US" altLang="ko-KR" dirty="0"/>
              <a:t>!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+</a:t>
            </a:r>
            <a:r>
              <a:rPr kumimoji="1" lang="ko-KR" altLang="en-US" dirty="0"/>
              <a:t> 보안</a:t>
            </a:r>
            <a:r>
              <a:rPr kumimoji="1" lang="en-US" altLang="ko-KR" dirty="0"/>
              <a:t>,</a:t>
            </a:r>
            <a:r>
              <a:rPr kumimoji="1" lang="ko-KR" altLang="en-US" dirty="0"/>
              <a:t> 스레드 상황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해쉬코드캐싱</a:t>
            </a:r>
            <a:r>
              <a:rPr kumimoji="1" lang="en-US" altLang="ko-KR" dirty="0"/>
              <a:t>,,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1845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8405A-A268-66D0-8E4E-998F2725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956B5C-AC0B-FC39-C8F4-669FFAB16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ko-KR" altLang="en-US" dirty="0"/>
              <a:t>자바에서 </a:t>
            </a:r>
            <a:r>
              <a:rPr kumimoji="1" lang="en-US" altLang="ko-KR" dirty="0"/>
              <a:t>==</a:t>
            </a:r>
            <a:r>
              <a:rPr kumimoji="1" lang="ko-KR" altLang="en-US" dirty="0"/>
              <a:t> 비교는 동일성 비교이다</a:t>
            </a:r>
            <a:endParaRPr kumimoji="1"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en-US" altLang="ko-KR" dirty="0"/>
              <a:t>new </a:t>
            </a:r>
            <a:r>
              <a:rPr kumimoji="1" lang="en-US" altLang="ko-KR" dirty="0" err="1"/>
              <a:t>Xxx</a:t>
            </a:r>
            <a:r>
              <a:rPr kumimoji="1" lang="ko-KR" altLang="en-US" dirty="0"/>
              <a:t>로 문자열을 생성하면 같은 문자열이더라도 메모리 주소가 다르다</a:t>
            </a:r>
            <a:endParaRPr kumimoji="1"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en-US" altLang="ko-KR" dirty="0"/>
              <a:t>new </a:t>
            </a:r>
            <a:r>
              <a:rPr kumimoji="1" lang="en-US" altLang="ko-KR" dirty="0" err="1"/>
              <a:t>XXx</a:t>
            </a:r>
            <a:r>
              <a:rPr kumimoji="1" lang="ko-KR" altLang="en-US" dirty="0"/>
              <a:t>로 문자를 더하면 메모리 낭비가 심하다</a:t>
            </a:r>
            <a:endParaRPr kumimoji="1" lang="en-US" altLang="ko-KR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ko-KR" altLang="en-US" dirty="0"/>
              <a:t>그래서 자바는 가변기능으로 문자열을 배열처럼 더해준다</a:t>
            </a:r>
            <a:r>
              <a:rPr kumimoji="1" lang="en-US" altLang="ko-KR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kumimoji="1" lang="ko-KR" altLang="en-US" dirty="0"/>
              <a:t>문자열을 불변으로 써야 스트링 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쓰레드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보안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해쉬캐싱</a:t>
            </a:r>
            <a:r>
              <a:rPr kumimoji="1" lang="ko-KR" altLang="en-US" dirty="0"/>
              <a:t> 등 이점이 있다</a:t>
            </a:r>
            <a:r>
              <a:rPr kumimoji="1" lang="en-US" altLang="ko-KR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kumimoji="1" lang="en-US" altLang="ko-KR" dirty="0"/>
          </a:p>
          <a:p>
            <a:pPr marL="0" indent="0" algn="ctr">
              <a:lnSpc>
                <a:spcPct val="150000"/>
              </a:lnSpc>
              <a:buNone/>
            </a:pPr>
            <a:r>
              <a:rPr kumimoji="1" lang="ko-KR" altLang="en-US" dirty="0"/>
              <a:t>결론 자바에서 문자열을 비교할 땐 동등성 비교를 하자</a:t>
            </a:r>
          </a:p>
        </p:txBody>
      </p:sp>
    </p:spTree>
    <p:extLst>
      <p:ext uri="{BB962C8B-B14F-4D97-AF65-F5344CB8AC3E}">
        <p14:creationId xmlns:p14="http://schemas.microsoft.com/office/powerpoint/2010/main" val="1045262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66586-060D-B835-515A-B49F1BAD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D766A-BA8F-EA27-8A47-1863FF1BC0C3}"/>
              </a:ext>
            </a:extLst>
          </p:cNvPr>
          <p:cNvSpPr txBox="1"/>
          <p:nvPr/>
        </p:nvSpPr>
        <p:spPr>
          <a:xfrm>
            <a:off x="5311170" y="3013501"/>
            <a:ext cx="1569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800" dirty="0"/>
              <a:t>Q&amp;A</a:t>
            </a:r>
            <a:endParaRPr kumimoji="1"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15277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214638-2E72-D04F-AF49-0E26B4EBB695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cc6c4e71-7a4f-47f4-a705-d600c480782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670</Words>
  <Application>Microsoft Macintosh PowerPoint</Application>
  <PresentationFormat>와이드스크린</PresentationFormat>
  <Paragraphs>98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자바 String클래스</vt:lpstr>
      <vt:lpstr>Python</vt:lpstr>
      <vt:lpstr>Python</vt:lpstr>
      <vt:lpstr>Java</vt:lpstr>
      <vt:lpstr>JAVA</vt:lpstr>
      <vt:lpstr>Java</vt:lpstr>
      <vt:lpstr>Java</vt:lpstr>
      <vt:lpstr>Java</vt:lpstr>
      <vt:lpstr>무슨 차이일까요?</vt:lpstr>
      <vt:lpstr>무슨 차이일까요?</vt:lpstr>
      <vt:lpstr>동일성, 동등성</vt:lpstr>
      <vt:lpstr>동일성, 동등성</vt:lpstr>
      <vt:lpstr>그러면 이건?</vt:lpstr>
      <vt:lpstr>그러면 이건?</vt:lpstr>
      <vt:lpstr>그러면 이건?</vt:lpstr>
      <vt:lpstr>동일성, 동등성</vt:lpstr>
      <vt:lpstr>그러면 이건?</vt:lpstr>
      <vt:lpstr>즉 같은 객체를 가르킵니다!</vt:lpstr>
      <vt:lpstr>엥 왜요?</vt:lpstr>
      <vt:lpstr>String pool</vt:lpstr>
      <vt:lpstr>그러면 값이 바뀌면?</vt:lpstr>
      <vt:lpstr>불변객체</vt:lpstr>
      <vt:lpstr>불변객체</vt:lpstr>
      <vt:lpstr>그러면?</vt:lpstr>
      <vt:lpstr>맞습니다!</vt:lpstr>
      <vt:lpstr>String builder - 가변 객체</vt:lpstr>
      <vt:lpstr>그러면 이 상황에서?</vt:lpstr>
      <vt:lpstr>불변 vs 가변</vt:lpstr>
      <vt:lpstr>가변이 더 편해보이는데?</vt:lpstr>
      <vt:lpstr>왜 불변이어야 하죠?</vt:lpstr>
      <vt:lpstr>정리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김영광</dc:creator>
  <cp:lastModifiedBy>김영광</cp:lastModifiedBy>
  <cp:revision>2</cp:revision>
  <dcterms:created xsi:type="dcterms:W3CDTF">2026-07-02T16:14:49Z</dcterms:created>
  <dcterms:modified xsi:type="dcterms:W3CDTF">2026-07-03T06:49:02Z</dcterms:modified>
</cp:coreProperties>
</file>