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256" r:id="rId3"/>
    <p:sldId id="257" r:id="rId4"/>
    <p:sldId id="262" r:id="rId5"/>
    <p:sldId id="263" r:id="rId6"/>
    <p:sldId id="264" r:id="rId7"/>
    <p:sldId id="259" r:id="rId8"/>
    <p:sldId id="261" r:id="rId9"/>
    <p:sldId id="269" r:id="rId10"/>
    <p:sldId id="270" r:id="rId11"/>
    <p:sldId id="273" r:id="rId12"/>
    <p:sldId id="281" r:id="rId13"/>
    <p:sldId id="279" r:id="rId14"/>
    <p:sldId id="277" r:id="rId15"/>
    <p:sldId id="258" r:id="rId16"/>
    <p:sldId id="282" r:id="rId17"/>
    <p:sldId id="278" r:id="rId18"/>
    <p:sldId id="26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EFB3"/>
    <a:srgbClr val="FFC79C"/>
    <a:srgbClr val="9999FF"/>
    <a:srgbClr val="D8D8FF"/>
    <a:srgbClr val="D4B9F9"/>
    <a:srgbClr val="FFFFFF"/>
    <a:srgbClr val="FAFAFA"/>
    <a:srgbClr val="99CCFF"/>
    <a:srgbClr val="D7D7FF"/>
    <a:srgbClr val="97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80188" autoAdjust="0"/>
  </p:normalViewPr>
  <p:slideViewPr>
    <p:cSldViewPr snapToGrid="0" showGuides="1">
      <p:cViewPr varScale="1">
        <p:scale>
          <a:sx n="91" d="100"/>
          <a:sy n="91" d="100"/>
        </p:scale>
        <p:origin x="135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4A286-18DE-40F4-84BC-25239CC65692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8214E-FECE-4BEF-98EE-E4C2EDBD63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636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65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132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436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0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005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672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smtClean="0">
                <a:solidFill>
                  <a:schemeClr val="tx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실용성</a:t>
            </a:r>
            <a:endParaRPr lang="en-US" altLang="ko-KR" sz="1200" dirty="0" smtClean="0">
              <a:solidFill>
                <a:schemeClr val="tx1"/>
              </a:solidFill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smtClean="0">
                <a:solidFill>
                  <a:schemeClr val="tx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개발 용이성　：　적은　화면　개수，　간단한　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644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627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157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or </a:t>
            </a:r>
            <a:r>
              <a:rPr lang="ko-KR" altLang="en-US" dirty="0" smtClean="0"/>
              <a:t>카페 확장 가능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643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841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설문조사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시장 파악</a:t>
            </a:r>
            <a:r>
              <a:rPr lang="en-US" altLang="ko-KR" dirty="0" smtClean="0"/>
              <a:t>, </a:t>
            </a:r>
            <a:r>
              <a:rPr lang="ko-KR" altLang="en-US" dirty="0" smtClean="0"/>
              <a:t>페르소나 설정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핵심 구현 설정</a:t>
            </a: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MVP </a:t>
            </a:r>
            <a:r>
              <a:rPr lang="ko-KR" altLang="en-US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개발</a:t>
            </a:r>
            <a:r>
              <a:rPr lang="en-US" altLang="ko-KR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(PWA) - (PWA or QR)</a:t>
            </a:r>
            <a:endParaRPr lang="ko-KR" altLang="en-US" dirty="0" smtClean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 smtClean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데이터 분석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54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서비스 초기에는 </a:t>
            </a:r>
            <a:r>
              <a:rPr lang="ko-KR" altLang="en-US" dirty="0" err="1" smtClean="0"/>
              <a:t>완벽함보다</a:t>
            </a:r>
            <a:r>
              <a:rPr lang="ko-KR" altLang="en-US" dirty="0" smtClean="0"/>
              <a:t> **빠른 실행</a:t>
            </a:r>
            <a:r>
              <a:rPr lang="en-US" altLang="ko-KR" dirty="0" smtClean="0"/>
              <a:t>(</a:t>
            </a:r>
            <a:r>
              <a:rPr lang="ko-KR" altLang="en-US" dirty="0" smtClean="0"/>
              <a:t>속도</a:t>
            </a:r>
            <a:r>
              <a:rPr lang="en-US" altLang="ko-KR" dirty="0" smtClean="0"/>
              <a:t>)**</a:t>
            </a:r>
            <a:r>
              <a:rPr lang="ko-KR" altLang="en-US" dirty="0" smtClean="0"/>
              <a:t>이 중요</a:t>
            </a:r>
            <a:endParaRPr lang="en-US" altLang="ko-KR" dirty="0" smtClean="0"/>
          </a:p>
          <a:p>
            <a:r>
              <a:rPr lang="ko-KR" altLang="en-US" dirty="0" smtClean="0"/>
              <a:t>초기에는 </a:t>
            </a:r>
            <a:r>
              <a:rPr lang="ko-KR" altLang="en-US" b="1" dirty="0" err="1" smtClean="0"/>
              <a:t>웹뷰나</a:t>
            </a:r>
            <a:r>
              <a:rPr lang="ko-KR" altLang="en-US" b="1" dirty="0" smtClean="0"/>
              <a:t> ＰＷＡ</a:t>
            </a:r>
            <a:r>
              <a:rPr lang="ko-KR" altLang="en-US" b="0" baseline="0" dirty="0" smtClean="0"/>
              <a:t> </a:t>
            </a:r>
            <a:r>
              <a:rPr lang="ko-KR" altLang="en-US" dirty="0" smtClean="0"/>
              <a:t>이용</a:t>
            </a:r>
            <a:r>
              <a:rPr lang="ko-KR" altLang="en-US" baseline="0" dirty="0" smtClean="0"/>
              <a:t> 빠르게 테스트 버전 </a:t>
            </a:r>
            <a:r>
              <a:rPr lang="ko-KR" altLang="en-US" baseline="0" dirty="0" err="1" smtClean="0"/>
              <a:t>개발＞</a:t>
            </a:r>
            <a:r>
              <a:rPr lang="ko-KR" altLang="en-US" dirty="0" err="1" smtClean="0"/>
              <a:t>사용자의</a:t>
            </a:r>
            <a:r>
              <a:rPr lang="ko-KR" altLang="en-US" dirty="0" smtClean="0"/>
              <a:t> 반응을 확인하고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점진적으로 개선하는 전략을 선택</a:t>
            </a:r>
            <a:endParaRPr lang="en-US" altLang="ko-KR" dirty="0" smtClean="0"/>
          </a:p>
          <a:p>
            <a:r>
              <a:rPr lang="ko-KR" altLang="en-US" dirty="0" smtClean="0"/>
              <a:t>핵심은 </a:t>
            </a:r>
            <a:r>
              <a:rPr lang="ko-KR" altLang="en-US" b="1" dirty="0" smtClean="0"/>
              <a:t>검증</a:t>
            </a:r>
            <a:r>
              <a:rPr lang="en-US" altLang="ko-KR" dirty="0" smtClean="0"/>
              <a:t>. </a:t>
            </a:r>
            <a:r>
              <a:rPr lang="ko-KR" altLang="en-US" dirty="0" smtClean="0"/>
              <a:t>꼭 필요한 최소 기능만으로 일단 출시한 후</a:t>
            </a:r>
            <a:r>
              <a:rPr lang="ko-KR" altLang="en-US" baseline="0" dirty="0" smtClean="0"/>
              <a:t> 기능과 사용자 반응을 실시간으로 반영．</a:t>
            </a:r>
            <a:endParaRPr lang="en-US" altLang="ko-KR" baseline="0" dirty="0" smtClean="0"/>
          </a:p>
          <a:p>
            <a:r>
              <a:rPr lang="ko-KR" altLang="en-US" baseline="0" dirty="0" smtClean="0"/>
              <a:t>사용자가 이용하기 편하게 접근성 좋은 </a:t>
            </a:r>
            <a:r>
              <a:rPr lang="ko-KR" altLang="en-US" baseline="0" dirty="0" err="1" smtClean="0"/>
              <a:t>ＵＩＵＸ구현，</a:t>
            </a:r>
            <a:r>
              <a:rPr lang="ko-KR" altLang="en-US" dirty="0" err="1" smtClean="0"/>
              <a:t>유저</a:t>
            </a:r>
            <a:r>
              <a:rPr lang="ko-KR" altLang="en-US" dirty="0" smtClean="0"/>
              <a:t> 반응을 주기적으로 살피고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피드백을 반영해 지속적으로 개선해 </a:t>
            </a:r>
            <a:r>
              <a:rPr lang="ko-KR" altLang="en-US" dirty="0" err="1" smtClean="0"/>
              <a:t>나갈것</a:t>
            </a:r>
            <a:r>
              <a:rPr lang="en-US" altLang="ko-KR" dirty="0" smtClean="0"/>
              <a:t>.</a:t>
            </a:r>
          </a:p>
          <a:p>
            <a:endParaRPr lang="ko-KR" altLang="en-US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214E-FECE-4BEF-98EE-E4C2EDBD639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376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8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5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87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14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082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90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29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40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27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25E6F-6FD0-4A57-AAB2-C9E4C3F1370A}" type="datetimeFigureOut">
              <a:rPr lang="ko-KR" altLang="en-US" smtClean="0"/>
              <a:t>2025-04-04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ED86D-7AD0-40D5-A3AA-154656A8EC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99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1945105" y="1667709"/>
            <a:ext cx="8017043" cy="1364247"/>
          </a:xfrm>
          <a:prstGeom prst="rect">
            <a:avLst/>
          </a:prstGeom>
          <a:solidFill>
            <a:srgbClr val="9999FF"/>
          </a:solidFill>
          <a:ln>
            <a:noFill/>
          </a:ln>
          <a:effectLst>
            <a:glow rad="101600">
              <a:srgbClr val="9999FF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6000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신입기수</a:t>
            </a:r>
            <a:r>
              <a:rPr lang="ko-KR" altLang="en-US" sz="6000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 ２팀 중간발표</a:t>
            </a:r>
            <a:endParaRPr lang="ko-KR" altLang="en-US" sz="6000" dirty="0"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08812" y="5727030"/>
            <a:ext cx="3188368" cy="577514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에코노베이션</a:t>
            </a:r>
            <a:r>
              <a:rPr lang="ko-KR" altLang="en-US" sz="1600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 </a:t>
            </a:r>
            <a:r>
              <a:rPr lang="ko-KR" altLang="en-US" sz="1600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신입기수</a:t>
            </a:r>
            <a:r>
              <a:rPr lang="ko-KR" altLang="en-US" sz="1600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 ２팀</a:t>
            </a:r>
            <a:endParaRPr lang="ko-KR" altLang="en-US" sz="1600" dirty="0"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645570" y="5694947"/>
            <a:ext cx="2578767" cy="577514"/>
          </a:xfrm>
          <a:prstGeom prst="rect">
            <a:avLst/>
          </a:prstGeom>
          <a:noFill/>
          <a:ln>
            <a:solidFill>
              <a:srgbClr val="FFC7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dirty="0" smtClean="0">
                <a:solidFill>
                  <a:srgbClr val="FFC79C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２０２５。０４。０３</a:t>
            </a:r>
            <a:endParaRPr lang="ko-KR" altLang="en-US" sz="1600" dirty="0">
              <a:solidFill>
                <a:srgbClr val="FFC79C"/>
              </a:solidFill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372727" y="5694947"/>
            <a:ext cx="2578767" cy="577514"/>
          </a:xfrm>
          <a:prstGeom prst="rect">
            <a:avLst/>
          </a:prstGeom>
          <a:noFill/>
          <a:ln>
            <a:solidFill>
              <a:srgbClr val="FFC7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dirty="0" smtClean="0">
                <a:solidFill>
                  <a:srgbClr val="FFC79C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발표자 ： 이승희</a:t>
            </a:r>
            <a:endParaRPr lang="ko-KR" altLang="en-US" sz="1600" dirty="0">
              <a:solidFill>
                <a:srgbClr val="FFC79C"/>
              </a:solidFill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212181" y="5727029"/>
            <a:ext cx="2578767" cy="545431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이승희 </a:t>
            </a:r>
            <a:r>
              <a:rPr lang="ko-KR" altLang="en-US" sz="1600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ㅣ</a:t>
            </a:r>
            <a:r>
              <a:rPr lang="ko-KR" altLang="en-US" sz="1600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 </a:t>
            </a:r>
            <a:r>
              <a:rPr lang="ko-KR" altLang="en-US" sz="1600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박태은</a:t>
            </a:r>
            <a:r>
              <a:rPr lang="ko-KR" altLang="en-US" sz="1600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 </a:t>
            </a:r>
            <a:r>
              <a:rPr lang="ko-KR" altLang="en-US" sz="1600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ㅣ</a:t>
            </a:r>
            <a:r>
              <a:rPr lang="ko-KR" altLang="en-US" sz="1600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 </a:t>
            </a:r>
            <a:r>
              <a:rPr lang="ko-KR" altLang="en-US" sz="1600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최영현</a:t>
            </a:r>
            <a:endParaRPr lang="ko-KR" altLang="en-US" sz="1600" dirty="0"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680681" y="1173870"/>
            <a:ext cx="2545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9999FF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ＴＥＡＭ ＰＲＯＪＥＣＴ</a:t>
            </a:r>
            <a:endParaRPr lang="ko-KR" altLang="en-US" dirty="0">
              <a:solidFill>
                <a:srgbClr val="9999FF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 flipV="1">
            <a:off x="419100" y="3300661"/>
            <a:ext cx="11455400" cy="124507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0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46501" y="2767280"/>
            <a:ext cx="4976042" cy="1323439"/>
          </a:xfrm>
          <a:prstGeom prst="rect">
            <a:avLst/>
          </a:prstGeom>
          <a:noFill/>
        </p:spPr>
        <p:txBody>
          <a:bodyPr wrap="none" rtlCol="0">
            <a:prstTxWarp prst="textWave2">
              <a:avLst/>
            </a:prstTxWarp>
            <a:spAutoFit/>
          </a:bodyPr>
          <a:lstStyle/>
          <a:p>
            <a:r>
              <a:rPr lang="ko-KR" altLang="en-US" sz="8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밥</a:t>
            </a:r>
            <a:r>
              <a:rPr lang="en-US" altLang="ko-KR" sz="8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(BAP)</a:t>
            </a:r>
            <a:r>
              <a:rPr lang="ko-KR" altLang="en-US" sz="8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팀</a:t>
            </a:r>
            <a:endParaRPr lang="ko-KR" altLang="en-US" sz="8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Picture 2" descr="iOS 17.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978" y="3010537"/>
            <a:ext cx="836926" cy="83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88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9099" y="1033834"/>
            <a:ext cx="1022663" cy="1775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2478170" y="4653700"/>
            <a:ext cx="898359" cy="413084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accent2"/>
                </a:solidFill>
              </a:rPr>
              <a:t>PM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325979" y="4653700"/>
            <a:ext cx="1540042" cy="413084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accent6"/>
                </a:solidFill>
              </a:rPr>
              <a:t>Front-end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8476222" y="4653701"/>
            <a:ext cx="1540042" cy="413084"/>
          </a:xfrm>
          <a:prstGeom prst="roundRect">
            <a:avLst>
              <a:gd name="adj" fmla="val 50000"/>
            </a:avLst>
          </a:prstGeom>
          <a:ln>
            <a:solidFill>
              <a:srgbClr val="9999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9999FF"/>
                </a:solidFill>
              </a:rPr>
              <a:t>Back-end</a:t>
            </a:r>
            <a:endParaRPr lang="ko-KR" altLang="en-US" dirty="0">
              <a:solidFill>
                <a:srgbClr val="9999FF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761669" y="1819372"/>
            <a:ext cx="2449260" cy="2582945"/>
          </a:xfrm>
          <a:prstGeom prst="ellipse">
            <a:avLst/>
          </a:prstGeom>
          <a:blipFill dpi="0" rotWithShape="1">
            <a:blip r:embed="rId3"/>
            <a:srcRect/>
            <a:tile tx="0" ty="-444500" sx="100000" sy="100000" flip="none" algn="ctr"/>
          </a:blip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2056025" y="5181601"/>
            <a:ext cx="1742649" cy="413084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accent2"/>
                </a:solidFill>
              </a:rPr>
              <a:t>29</a:t>
            </a:r>
            <a:r>
              <a:rPr lang="ko-KR" altLang="en-US" dirty="0" smtClean="0">
                <a:solidFill>
                  <a:schemeClr val="accent2"/>
                </a:solidFill>
              </a:rPr>
              <a:t>기</a:t>
            </a:r>
            <a:r>
              <a:rPr lang="en-US" altLang="ko-KR" dirty="0" smtClean="0">
                <a:solidFill>
                  <a:schemeClr val="accent2"/>
                </a:solidFill>
              </a:rPr>
              <a:t> </a:t>
            </a:r>
            <a:r>
              <a:rPr lang="ko-KR" altLang="en-US" dirty="0" smtClean="0">
                <a:solidFill>
                  <a:schemeClr val="accent2"/>
                </a:solidFill>
              </a:rPr>
              <a:t>이승희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219224" y="5181601"/>
            <a:ext cx="1753551" cy="413084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29</a:t>
            </a:r>
            <a:r>
              <a:rPr lang="ko-KR" altLang="en-US" dirty="0" smtClean="0">
                <a:solidFill>
                  <a:schemeClr val="accent6"/>
                </a:solidFill>
              </a:rPr>
              <a:t>기 </a:t>
            </a:r>
            <a:r>
              <a:rPr lang="ko-KR" altLang="en-US" dirty="0" err="1" smtClean="0">
                <a:solidFill>
                  <a:schemeClr val="accent6"/>
                </a:solidFill>
              </a:rPr>
              <a:t>박태은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8393325" y="5175683"/>
            <a:ext cx="1721756" cy="413084"/>
          </a:xfrm>
          <a:prstGeom prst="roundRect">
            <a:avLst>
              <a:gd name="adj" fmla="val 50000"/>
            </a:avLst>
          </a:prstGeom>
          <a:ln>
            <a:solidFill>
              <a:srgbClr val="9999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9999FF"/>
                </a:solidFill>
              </a:rPr>
              <a:t>29</a:t>
            </a:r>
            <a:r>
              <a:rPr lang="ko-KR" altLang="en-US" dirty="0" smtClean="0">
                <a:solidFill>
                  <a:srgbClr val="9999FF"/>
                </a:solidFill>
              </a:rPr>
              <a:t>기 </a:t>
            </a:r>
            <a:r>
              <a:rPr lang="ko-KR" altLang="en-US" dirty="0" err="1" smtClean="0">
                <a:solidFill>
                  <a:srgbClr val="9999FF"/>
                </a:solidFill>
              </a:rPr>
              <a:t>최영현</a:t>
            </a:r>
            <a:endParaRPr lang="ko-KR" altLang="en-US" dirty="0">
              <a:solidFill>
                <a:srgbClr val="9999FF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98080" y="873606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팀원 소개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449519" y="242707"/>
            <a:ext cx="18582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>
                <a:solidFill>
                  <a:srgbClr val="FFC79C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ＴＥＡＭ ＭＥＭＢＥＲ</a:t>
            </a:r>
            <a:endParaRPr lang="ko-KR" altLang="en-US" sz="1400" dirty="0">
              <a:solidFill>
                <a:srgbClr val="FFC79C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4871369" y="1819372"/>
            <a:ext cx="2449260" cy="2582945"/>
          </a:xfrm>
          <a:prstGeom prst="ellipse">
            <a:avLst/>
          </a:prstGeom>
          <a:blipFill dpi="0" rotWithShape="1">
            <a:blip r:embed="rId4"/>
            <a:srcRect/>
            <a:tile tx="63500" ty="635000" sx="100000" sy="100000" flip="none" algn="ctr"/>
          </a:blipFill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/>
          <p:cNvSpPr/>
          <p:nvPr/>
        </p:nvSpPr>
        <p:spPr>
          <a:xfrm>
            <a:off x="8029573" y="1819372"/>
            <a:ext cx="2449260" cy="2582945"/>
          </a:xfrm>
          <a:prstGeom prst="ellipse">
            <a:avLst/>
          </a:prstGeom>
          <a:blipFill dpi="0" rotWithShape="1">
            <a:blip r:embed="rId5"/>
            <a:srcRect/>
            <a:tile tx="0" ty="635000" sx="100000" sy="100000" flip="none" algn="ctr"/>
          </a:blipFill>
          <a:ln>
            <a:noFill/>
          </a:ln>
          <a:effectLst>
            <a:glow rad="101600">
              <a:srgbClr val="9999FF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762" y="931997"/>
            <a:ext cx="276264" cy="26673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8813" y="5253621"/>
            <a:ext cx="190527" cy="257211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757" y="5272674"/>
            <a:ext cx="276264" cy="238158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9835" y="5282199"/>
            <a:ext cx="257211" cy="200053"/>
          </a:xfrm>
          <a:prstGeom prst="rect">
            <a:avLst/>
          </a:prstGeom>
        </p:spPr>
      </p:pic>
      <p:sp>
        <p:nvSpPr>
          <p:cNvPr id="27" name="직사각형 26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０１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169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5419968" y="2176008"/>
            <a:ext cx="3408722" cy="4057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5427103" y="4460053"/>
            <a:ext cx="3408722" cy="2996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5419968" y="3114489"/>
            <a:ext cx="3408722" cy="8954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19099" y="1033834"/>
            <a:ext cx="1022663" cy="1775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2478170" y="4653700"/>
            <a:ext cx="898359" cy="413084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accent2"/>
                </a:solidFill>
              </a:rPr>
              <a:t>PM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2056025" y="5181601"/>
            <a:ext cx="1742649" cy="413084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accent2"/>
                </a:solidFill>
              </a:rPr>
              <a:t>29</a:t>
            </a:r>
            <a:r>
              <a:rPr lang="ko-KR" altLang="en-US" dirty="0" smtClean="0">
                <a:solidFill>
                  <a:schemeClr val="accent2"/>
                </a:solidFill>
              </a:rPr>
              <a:t>기</a:t>
            </a:r>
            <a:r>
              <a:rPr lang="en-US" altLang="ko-KR" dirty="0" smtClean="0">
                <a:solidFill>
                  <a:schemeClr val="accent2"/>
                </a:solidFill>
              </a:rPr>
              <a:t> </a:t>
            </a:r>
            <a:r>
              <a:rPr lang="ko-KR" altLang="en-US" dirty="0" smtClean="0">
                <a:solidFill>
                  <a:schemeClr val="accent2"/>
                </a:solidFill>
              </a:rPr>
              <a:t>이승희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448300" y="4108053"/>
            <a:ext cx="809837" cy="3357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사용툴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5448300" y="2712816"/>
            <a:ext cx="601447" cy="3357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담당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448300" y="3071106"/>
            <a:ext cx="1997663" cy="839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ＵＸ／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ＵＩ 구현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자료조사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팀 일정 관리 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066" y="5259537"/>
            <a:ext cx="190527" cy="257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8300" y="4423969"/>
            <a:ext cx="1961843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Figma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en-US" altLang="ko-KR" dirty="0" smtClean="0"/>
              <a:t>Notion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339" y="2789760"/>
            <a:ext cx="164545" cy="181866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203" y="4183402"/>
            <a:ext cx="181866" cy="173206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448300" y="2185794"/>
            <a:ext cx="2582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자율</a:t>
            </a:r>
            <a:r>
              <a:rPr lang="en-US" altLang="ko-KR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/</a:t>
            </a:r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경영학과　２１학번</a:t>
            </a:r>
            <a:endParaRPr lang="en-US" altLang="ko-KR" dirty="0" smtClean="0"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49519" y="242707"/>
            <a:ext cx="18582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>
                <a:solidFill>
                  <a:srgbClr val="FFC79C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ＴＥＡＭ ＭＥＭＢＥＲ</a:t>
            </a:r>
            <a:endParaRPr lang="ko-KR" altLang="en-US" sz="1400" dirty="0">
              <a:solidFill>
                <a:srgbClr val="FFC79C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０１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98080" y="873606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팀원 소개</a:t>
            </a:r>
            <a:endParaRPr lang="ko-KR" altLang="en-US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762" y="931997"/>
            <a:ext cx="276264" cy="266737"/>
          </a:xfrm>
          <a:prstGeom prst="rect">
            <a:avLst/>
          </a:prstGeom>
        </p:spPr>
      </p:pic>
      <p:sp>
        <p:nvSpPr>
          <p:cNvPr id="30" name="타원 29"/>
          <p:cNvSpPr/>
          <p:nvPr/>
        </p:nvSpPr>
        <p:spPr>
          <a:xfrm>
            <a:off x="1761669" y="1816400"/>
            <a:ext cx="2449260" cy="2582945"/>
          </a:xfrm>
          <a:prstGeom prst="ellipse">
            <a:avLst/>
          </a:prstGeom>
          <a:blipFill dpi="0" rotWithShape="1">
            <a:blip r:embed="rId7"/>
            <a:srcRect/>
            <a:tile tx="0" ty="-444500" sx="100000" sy="100000" flip="none" algn="ctr"/>
          </a:blip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7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/>
          <p:cNvSpPr/>
          <p:nvPr/>
        </p:nvSpPr>
        <p:spPr>
          <a:xfrm>
            <a:off x="5419968" y="2168743"/>
            <a:ext cx="3408722" cy="4284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5427103" y="4354091"/>
            <a:ext cx="3408722" cy="2996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5419968" y="3114490"/>
            <a:ext cx="3408722" cy="6262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19099" y="1033834"/>
            <a:ext cx="1022663" cy="177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2154253" y="4653700"/>
            <a:ext cx="1540042" cy="413084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accent6"/>
                </a:solidFill>
              </a:rPr>
              <a:t>Front-end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2047498" y="5181601"/>
            <a:ext cx="1753551" cy="413084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29</a:t>
            </a:r>
            <a:r>
              <a:rPr lang="ko-KR" altLang="en-US" dirty="0" smtClean="0">
                <a:solidFill>
                  <a:schemeClr val="accent6"/>
                </a:solidFill>
              </a:rPr>
              <a:t>기 </a:t>
            </a:r>
            <a:r>
              <a:rPr lang="ko-KR" altLang="en-US" dirty="0" err="1" smtClean="0">
                <a:solidFill>
                  <a:schemeClr val="accent6"/>
                </a:solidFill>
              </a:rPr>
              <a:t>박태은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181" y="5269064"/>
            <a:ext cx="276264" cy="238158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5427103" y="3989233"/>
            <a:ext cx="809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사용툴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5448300" y="2740543"/>
            <a:ext cx="601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담당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5448300" y="3073651"/>
            <a:ext cx="13628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앱 개발</a:t>
            </a:r>
            <a:endParaRPr lang="en-US" altLang="ko-KR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UI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디자인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48300" y="4284368"/>
            <a:ext cx="929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Flutter</a:t>
            </a:r>
            <a:endParaRPr lang="en-US" altLang="ko-KR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401" y="2829945"/>
            <a:ext cx="209579" cy="19052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6913" y="4073059"/>
            <a:ext cx="200053" cy="190527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448299" y="2189763"/>
            <a:ext cx="2885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소프트웨어공학과　２１학번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49519" y="242707"/>
            <a:ext cx="18582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>
                <a:solidFill>
                  <a:srgbClr val="CBEFB3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ＴＥＡＭ ＭＥＭＢＥＲ</a:t>
            </a:r>
            <a:endParaRPr lang="ko-KR" altLang="en-US" sz="1400" dirty="0">
              <a:solidFill>
                <a:srgbClr val="CBEFB3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０１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98080" y="873606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팀원 소개</a:t>
            </a:r>
            <a:endParaRPr lang="ko-KR" altLang="en-US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762" y="931997"/>
            <a:ext cx="276264" cy="266737"/>
          </a:xfrm>
          <a:prstGeom prst="rect">
            <a:avLst/>
          </a:prstGeom>
        </p:spPr>
      </p:pic>
      <p:sp>
        <p:nvSpPr>
          <p:cNvPr id="27" name="타원 26"/>
          <p:cNvSpPr/>
          <p:nvPr/>
        </p:nvSpPr>
        <p:spPr>
          <a:xfrm>
            <a:off x="1699643" y="1819372"/>
            <a:ext cx="2449260" cy="2582945"/>
          </a:xfrm>
          <a:prstGeom prst="ellipse">
            <a:avLst/>
          </a:prstGeom>
          <a:blipFill dpi="0" rotWithShape="1">
            <a:blip r:embed="rId7"/>
            <a:srcRect/>
            <a:tile tx="63500" ty="635000" sx="100000" sy="100000" flip="none" algn="ctr"/>
          </a:blipFill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300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5415662" y="2126830"/>
            <a:ext cx="3408722" cy="433428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5427103" y="4343581"/>
            <a:ext cx="3408722" cy="2996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5419968" y="3082960"/>
            <a:ext cx="3408722" cy="6262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419099" y="1033834"/>
            <a:ext cx="1022663" cy="17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2157329" y="4653701"/>
            <a:ext cx="1540042" cy="413084"/>
          </a:xfrm>
          <a:prstGeom prst="roundRect">
            <a:avLst>
              <a:gd name="adj" fmla="val 50000"/>
            </a:avLst>
          </a:prstGeom>
          <a:ln>
            <a:solidFill>
              <a:srgbClr val="9999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9999FF"/>
                </a:solidFill>
              </a:rPr>
              <a:t>Back-end</a:t>
            </a:r>
            <a:endParaRPr lang="ko-KR" altLang="en-US" dirty="0">
              <a:solidFill>
                <a:srgbClr val="9999FF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2088573" y="5181601"/>
            <a:ext cx="1696485" cy="413084"/>
          </a:xfrm>
          <a:prstGeom prst="roundRect">
            <a:avLst>
              <a:gd name="adj" fmla="val 50000"/>
            </a:avLst>
          </a:prstGeom>
          <a:ln>
            <a:solidFill>
              <a:srgbClr val="9999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rgbClr val="9999FF"/>
                </a:solidFill>
              </a:rPr>
              <a:t>29</a:t>
            </a:r>
            <a:r>
              <a:rPr lang="ko-KR" altLang="en-US" dirty="0" smtClean="0">
                <a:solidFill>
                  <a:srgbClr val="9999FF"/>
                </a:solidFill>
              </a:rPr>
              <a:t>기 </a:t>
            </a:r>
            <a:r>
              <a:rPr lang="ko-KR" altLang="en-US" dirty="0" err="1" smtClean="0">
                <a:solidFill>
                  <a:srgbClr val="9999FF"/>
                </a:solidFill>
              </a:rPr>
              <a:t>최영현</a:t>
            </a:r>
            <a:endParaRPr lang="ko-KR" altLang="en-US" dirty="0">
              <a:solidFill>
                <a:srgbClr val="9999FF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13182" t="-9910" r="18140" b="16418"/>
          <a:stretch/>
        </p:blipFill>
        <p:spPr>
          <a:xfrm>
            <a:off x="3522519" y="5268192"/>
            <a:ext cx="176646" cy="187035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5415662" y="3989234"/>
            <a:ext cx="809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사용툴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5436859" y="2712126"/>
            <a:ext cx="601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담당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5436859" y="3045234"/>
            <a:ext cx="21788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서버 개발</a:t>
            </a:r>
            <a:endParaRPr lang="en-US" altLang="ko-KR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데이터베이스 설계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36859" y="4284369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Node.js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224" y="2793932"/>
            <a:ext cx="219106" cy="18100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015" y="4073060"/>
            <a:ext cx="200053" cy="190527"/>
          </a:xfrm>
          <a:prstGeom prst="rect">
            <a:avLst/>
          </a:prstGeom>
        </p:spPr>
      </p:pic>
      <p:sp>
        <p:nvSpPr>
          <p:cNvPr id="34" name="직사각형 33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436858" y="2159396"/>
            <a:ext cx="2885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소프트웨어공학과　２１학번</a:t>
            </a:r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49519" y="242707"/>
            <a:ext cx="18582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ＴＥＡＭ ＭＥＭＢＥＲ</a:t>
            </a:r>
            <a:endParaRPr lang="ko-KR" altLang="en-US" sz="1400" dirty="0">
              <a:solidFill>
                <a:srgbClr val="9999FF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０１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98080" y="873606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팀원 소개</a:t>
            </a:r>
            <a:endParaRPr lang="ko-KR" altLang="en-US" dirty="0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762" y="931997"/>
            <a:ext cx="276264" cy="266737"/>
          </a:xfrm>
          <a:prstGeom prst="rect">
            <a:avLst/>
          </a:prstGeom>
        </p:spPr>
      </p:pic>
      <p:sp>
        <p:nvSpPr>
          <p:cNvPr id="25" name="타원 24"/>
          <p:cNvSpPr/>
          <p:nvPr/>
        </p:nvSpPr>
        <p:spPr>
          <a:xfrm>
            <a:off x="1702720" y="1819372"/>
            <a:ext cx="2449260" cy="2582945"/>
          </a:xfrm>
          <a:prstGeom prst="ellipse">
            <a:avLst/>
          </a:prstGeom>
          <a:blipFill dpi="0" rotWithShape="1">
            <a:blip r:embed="rId7"/>
            <a:srcRect/>
            <a:tile tx="0" ty="635000" sx="100000" sy="100000" flip="none" algn="ctr"/>
          </a:blipFill>
          <a:ln>
            <a:noFill/>
          </a:ln>
          <a:effectLst>
            <a:glow rad="101600">
              <a:srgbClr val="9999FF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21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461140" y="1065364"/>
            <a:ext cx="1858153" cy="1894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4705015" y="2582403"/>
            <a:ext cx="14417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5400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밥</a:t>
            </a:r>
            <a:endParaRPr lang="ko-KR" altLang="en-US" sz="5400" dirty="0"/>
          </a:p>
        </p:txBody>
      </p:sp>
      <p:sp>
        <p:nvSpPr>
          <p:cNvPr id="23" name="직사각형 22"/>
          <p:cNvSpPr/>
          <p:nvPr/>
        </p:nvSpPr>
        <p:spPr>
          <a:xfrm>
            <a:off x="419100" y="921959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Sans Serif Collection" panose="020B0502040504020204" pitchFamily="34" charset="0"/>
                <a:ea typeface="a타이틀고딕5" panose="02020600000000000000" pitchFamily="18" charset="-127"/>
                <a:cs typeface="Sans Serif Collection" panose="020B0502040504020204" pitchFamily="34" charset="0"/>
              </a:rPr>
              <a:t>ＴＥＡＭ </a:t>
            </a:r>
            <a:r>
              <a:rPr lang="ko-KR" altLang="en-US" dirty="0" smtClean="0">
                <a:latin typeface="Sans Serif Collection" panose="020B0502040504020204" pitchFamily="34" charset="0"/>
                <a:ea typeface="a타이틀고딕5" panose="02020600000000000000" pitchFamily="18" charset="-127"/>
                <a:cs typeface="Sans Serif Collection" panose="020B0502040504020204" pitchFamily="34" charset="0"/>
              </a:rPr>
              <a:t>밥인 이유</a:t>
            </a:r>
            <a:endParaRPr lang="ko-KR" altLang="en-US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098" y="961840"/>
            <a:ext cx="142895" cy="209579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pic>
        <p:nvPicPr>
          <p:cNvPr id="36" name="Picture 2" descr="iOS 17.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177" y="2376063"/>
            <a:ext cx="1272950" cy="127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49519" y="242707"/>
            <a:ext cx="25074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>
                <a:solidFill>
                  <a:srgbClr val="FFC79C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ＷＨＹ ＷＥ ＡＲＥ ＴＥＡＭ 밥</a:t>
            </a:r>
            <a:endParaRPr lang="ko-KR" altLang="en-US" sz="1400" dirty="0">
              <a:solidFill>
                <a:srgbClr val="FFC79C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０２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845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OS 17.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177" y="2376063"/>
            <a:ext cx="1272950" cy="127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3460173" y="2550873"/>
            <a:ext cx="3774767" cy="3444744"/>
            <a:chOff x="3106882" y="2851614"/>
            <a:chExt cx="3774767" cy="3444744"/>
          </a:xfrm>
        </p:grpSpPr>
        <p:sp>
          <p:nvSpPr>
            <p:cNvPr id="22" name="직사각형 21"/>
            <p:cNvSpPr/>
            <p:nvPr/>
          </p:nvSpPr>
          <p:spPr>
            <a:xfrm>
              <a:off x="3106882" y="2851614"/>
              <a:ext cx="3774767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5400" dirty="0" smtClean="0">
                  <a:latin typeface="a타이틀고딕5" panose="02020600000000000000" pitchFamily="18" charset="-127"/>
                  <a:ea typeface="a타이틀고딕5" panose="02020600000000000000" pitchFamily="18" charset="-127"/>
                </a:rPr>
                <a:t>Ｂ．Ａ．Ｐ</a:t>
              </a:r>
              <a:endParaRPr lang="ko-KR" altLang="en-US" sz="5400" dirty="0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3225717" y="3774944"/>
              <a:ext cx="461665" cy="252141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C79C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ＡＣＫ－ＥＮＤ ＆</a:t>
              </a:r>
              <a:endParaRPr lang="en-US" altLang="ko-KR" b="1" dirty="0" smtClean="0">
                <a:solidFill>
                  <a:srgbClr val="FFC79C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04384" y="3774944"/>
              <a:ext cx="461665" cy="544380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CBEFB3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ＰＰ</a:t>
              </a:r>
              <a:endParaRPr lang="ko-KR" altLang="en-US" b="1" dirty="0">
                <a:solidFill>
                  <a:srgbClr val="CBEFB3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85135" y="3774944"/>
              <a:ext cx="461665" cy="31835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ko-KR" altLang="en-US" b="1" dirty="0" err="1">
                  <a:solidFill>
                    <a:srgbClr val="9999FF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Ｍ</a:t>
              </a:r>
              <a:endParaRPr lang="ko-KR" altLang="en-US" b="1" dirty="0">
                <a:solidFill>
                  <a:srgbClr val="9999FF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74927" y="4131291"/>
              <a:ext cx="461665" cy="212654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C79C"/>
                  </a:solidFill>
                  <a:latin typeface="a타이틀고딕2" panose="02020600000000000000" pitchFamily="18" charset="-127"/>
                  <a:ea typeface="a타이틀고딕2" panose="02020600000000000000" pitchFamily="18" charset="-127"/>
                </a:rPr>
                <a:t>ＦＲＯＮＴ－ＥＮＤ</a:t>
              </a:r>
              <a:endParaRPr lang="ko-KR" altLang="en-US" b="1" dirty="0">
                <a:solidFill>
                  <a:srgbClr val="FFC79C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endParaRPr>
            </a:p>
          </p:txBody>
        </p:sp>
      </p:grpSp>
      <p:sp>
        <p:nvSpPr>
          <p:cNvPr id="20" name="직사각형 19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098" y="961840"/>
            <a:ext cx="142895" cy="209579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49519" y="242707"/>
            <a:ext cx="25074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>
                <a:solidFill>
                  <a:srgbClr val="FFC79C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ＷＨＹ ＷＥ ＡＲＥ ＴＥＡＭ 밥</a:t>
            </a:r>
            <a:endParaRPr lang="ko-KR" altLang="en-US" sz="1400" dirty="0">
              <a:solidFill>
                <a:srgbClr val="FFC79C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０２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1140" y="1065364"/>
            <a:ext cx="1858153" cy="1894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419100" y="921959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Sans Serif Collection" panose="020B0502040504020204" pitchFamily="34" charset="0"/>
                <a:ea typeface="a타이틀고딕5" panose="02020600000000000000" pitchFamily="18" charset="-127"/>
                <a:cs typeface="Sans Serif Collection" panose="020B0502040504020204" pitchFamily="34" charset="0"/>
              </a:rPr>
              <a:t>ＴＥＡＭ </a:t>
            </a:r>
            <a:r>
              <a:rPr lang="ko-KR" altLang="en-US" dirty="0" smtClean="0">
                <a:latin typeface="Sans Serif Collection" panose="020B0502040504020204" pitchFamily="34" charset="0"/>
                <a:ea typeface="a타이틀고딕5" panose="02020600000000000000" pitchFamily="18" charset="-127"/>
                <a:cs typeface="Sans Serif Collection" panose="020B0502040504020204" pitchFamily="34" charset="0"/>
              </a:rPr>
              <a:t>밥인 이유</a:t>
            </a:r>
            <a:endParaRPr lang="ko-KR" altLang="en-US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53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5055340" y="1516056"/>
            <a:ext cx="1005403" cy="2155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5055339" y="2375682"/>
            <a:ext cx="593433" cy="208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5055339" y="3571476"/>
            <a:ext cx="593433" cy="1794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5055339" y="5243243"/>
            <a:ext cx="593433" cy="2114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055340" y="1369030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핵심기능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398080" y="1401688"/>
            <a:ext cx="4241081" cy="461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814259" y="1636114"/>
            <a:ext cx="3408722" cy="433428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과팅</a:t>
            </a:r>
            <a:r>
              <a:rPr lang="ko-KR" altLang="en-US" dirty="0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APP</a:t>
            </a:r>
            <a:endParaRPr lang="ko-KR" altLang="en-US" dirty="0">
              <a:solidFill>
                <a:schemeClr val="tx1"/>
              </a:solidFill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19099" y="1033833"/>
            <a:ext cx="1191987" cy="2320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０３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055340" y="3426169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단점</a:t>
            </a:r>
            <a:endParaRPr lang="en-US" altLang="ko-KR" dirty="0" smtClean="0"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055340" y="2259100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장점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5055340" y="1694319"/>
            <a:ext cx="4033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채팅 기능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매칭 필터 설정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학과인증기능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055340" y="5092806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관건</a:t>
            </a:r>
            <a:endParaRPr lang="en-US" altLang="ko-KR" dirty="0" smtClean="0"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055340" y="2584389"/>
            <a:ext cx="54713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간편한 매칭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&gt;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앱에서 자동 매칭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번거로운 주선 과정 없음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안전한 만남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&gt;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본인 인증 시스템으로 신뢰성 확보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055340" y="3751458"/>
            <a:ext cx="359585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1.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사용자 불균형 문제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한 성별이나 특정 학과 몰릴 가능성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2.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지속적인 참여 유도 어려움</a:t>
            </a:r>
            <a:endParaRPr lang="en-US" altLang="ko-KR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한 두 번 사용 후 이탈 가능성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55340" y="5418095"/>
            <a:ext cx="40414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초기사용자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확보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&gt;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홍보전략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재미있는 매칭 경험 제공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&gt;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게임 요소 추가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98080" y="873606"/>
            <a:ext cx="1217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주제 후보</a:t>
            </a:r>
            <a:r>
              <a:rPr lang="en-US" altLang="ko-KR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1</a:t>
            </a:r>
            <a:endParaRPr lang="ko-KR" altLang="en-US" dirty="0"/>
          </a:p>
        </p:txBody>
      </p:sp>
      <p:pic>
        <p:nvPicPr>
          <p:cNvPr id="1026" name="Picture 2" descr="생성된 이미지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840" y="2253236"/>
            <a:ext cx="2337560" cy="3506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/>
          <p:cNvSpPr/>
          <p:nvPr/>
        </p:nvSpPr>
        <p:spPr>
          <a:xfrm>
            <a:off x="449519" y="242707"/>
            <a:ext cx="26356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T O P I C  </a:t>
            </a:r>
            <a:r>
              <a:rPr lang="en-US" altLang="ko-KR" sz="1400" dirty="0" err="1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C</a:t>
            </a:r>
            <a:r>
              <a:rPr lang="en-US" altLang="ko-KR" sz="1400" dirty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A N D I D A T E S</a:t>
            </a:r>
            <a:endParaRPr lang="ko-KR" altLang="en-US" sz="1400" dirty="0">
              <a:solidFill>
                <a:srgbClr val="9999FF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12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055340" y="1516056"/>
            <a:ext cx="1005403" cy="2155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5055339" y="2375682"/>
            <a:ext cx="593433" cy="208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5055339" y="3571476"/>
            <a:ext cx="593433" cy="1794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5055339" y="5243243"/>
            <a:ext cx="593433" cy="2114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398080" y="1401688"/>
            <a:ext cx="4241081" cy="461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814259" y="1636114"/>
            <a:ext cx="3408722" cy="433428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재능매칭</a:t>
            </a:r>
            <a:r>
              <a:rPr lang="ko-KR" altLang="en-US" dirty="0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APP</a:t>
            </a:r>
            <a:endParaRPr lang="ko-KR" altLang="en-US" dirty="0">
              <a:solidFill>
                <a:schemeClr val="tx1"/>
              </a:solidFill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055340" y="3426169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단점</a:t>
            </a:r>
            <a:endParaRPr lang="en-US" altLang="ko-KR" dirty="0" smtClean="0"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055340" y="2259100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장점</a:t>
            </a:r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055340" y="1369030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핵심기능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5055340" y="1694319"/>
            <a:ext cx="2268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매칭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게시판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dirty="0" err="1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채팅기능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055340" y="5092806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관건</a:t>
            </a:r>
            <a:endParaRPr lang="en-US" altLang="ko-KR" dirty="0" smtClean="0"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055340" y="2584389"/>
            <a:ext cx="44342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핵심 기능만으로도 기본적인 서비스 운영 가능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초기 개발 비용과 시간이 비교적 적게 듦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55340" y="3751458"/>
            <a:ext cx="607089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1.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게시판 방식의 한계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사용자가 직접 글을 올려야 해서 비효율적인 매칭 발생 가능성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2.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사용자 확보 및 유지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사용자 흥미 떨어질 가능성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055340" y="5418095"/>
            <a:ext cx="17027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신뢰성 확보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사용자 </a:t>
            </a:r>
            <a:r>
              <a:rPr lang="ko-KR" altLang="en-US" dirty="0" err="1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유지전략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19099" y="1033833"/>
            <a:ext cx="1191987" cy="2320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398080" y="873606"/>
            <a:ext cx="1217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주제 후보</a:t>
            </a:r>
            <a:r>
              <a:rPr lang="en-US" altLang="ko-KR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2</a:t>
            </a:r>
            <a:endParaRPr lang="ko-KR" altLang="en-US" dirty="0"/>
          </a:p>
        </p:txBody>
      </p:sp>
      <p:pic>
        <p:nvPicPr>
          <p:cNvPr id="2052" name="Picture 4" descr="생성된 이미지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269" y="2228292"/>
            <a:ext cx="2324701" cy="348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직사각형 30"/>
          <p:cNvSpPr/>
          <p:nvPr/>
        </p:nvSpPr>
        <p:spPr>
          <a:xfrm>
            <a:off x="449519" y="242707"/>
            <a:ext cx="26356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T O P I C  </a:t>
            </a:r>
            <a:r>
              <a:rPr lang="en-US" altLang="ko-KR" sz="1400" dirty="0" err="1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C</a:t>
            </a:r>
            <a:r>
              <a:rPr lang="en-US" altLang="ko-KR" sz="1400" dirty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A N D I D A T E S</a:t>
            </a:r>
            <a:endParaRPr lang="ko-KR" altLang="en-US" sz="1400" dirty="0">
              <a:solidFill>
                <a:srgbClr val="9999FF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０３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422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/>
          <p:cNvSpPr/>
          <p:nvPr/>
        </p:nvSpPr>
        <p:spPr>
          <a:xfrm>
            <a:off x="5055340" y="1391737"/>
            <a:ext cx="1005403" cy="2155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/>
          <p:nvPr/>
        </p:nvSpPr>
        <p:spPr>
          <a:xfrm>
            <a:off x="5055340" y="1244711"/>
            <a:ext cx="1000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기획배경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398080" y="1401688"/>
            <a:ext cx="4241081" cy="461851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814259" y="1636114"/>
            <a:ext cx="3408722" cy="433428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노웨잇</a:t>
            </a:r>
            <a:r>
              <a:rPr lang="en-US" altLang="ko-KR" dirty="0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(no wait)</a:t>
            </a:r>
            <a:endParaRPr lang="ko-KR" altLang="en-US" dirty="0">
              <a:solidFill>
                <a:schemeClr val="tx1"/>
              </a:solidFill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49519" y="242707"/>
            <a:ext cx="26356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T O P I C  </a:t>
            </a:r>
            <a:r>
              <a:rPr lang="en-US" altLang="ko-KR" sz="1400" dirty="0" err="1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C</a:t>
            </a:r>
            <a:r>
              <a:rPr lang="en-US" altLang="ko-KR" sz="1400" dirty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 A N D I D A T E S</a:t>
            </a:r>
            <a:endParaRPr lang="ko-KR" altLang="en-US" sz="1400" dirty="0">
              <a:solidFill>
                <a:srgbClr val="9999FF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055339" y="2559542"/>
            <a:ext cx="2464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술집 혼잡도 파악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(5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단계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)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19099" y="1033833"/>
            <a:ext cx="1191987" cy="2320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98080" y="873606"/>
            <a:ext cx="1217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주제 후보</a:t>
            </a:r>
            <a:r>
              <a:rPr lang="en-US" altLang="ko-KR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3</a:t>
            </a:r>
            <a:endParaRPr lang="ko-KR" altLang="en-US" dirty="0"/>
          </a:p>
        </p:txBody>
      </p:sp>
      <p:pic>
        <p:nvPicPr>
          <p:cNvPr id="1026" name="Picture 2" descr="https://sdmntprsouthcentralus.oaiusercontent.com/files/00000000-e54c-51f7-8b32-cda00b9f8d08/raw?se=2025-04-03T17%3A34%3A31Z&amp;sp=r&amp;sv=2024-08-04&amp;sr=b&amp;scid=42fdaaa3-8199-5509-8bd9-51ccdd4f2fc9&amp;skoid=7c382de0-129f-486b-9922-6e4a89c6eb7d&amp;sktid=a48cca56-e6da-484e-a814-9c849652bcb3&amp;skt=2025-04-03T12%3A17%3A08Z&amp;ske=2025-04-04T12%3A17%3A08Z&amp;sks=b&amp;skv=2024-08-04&amp;sig=yGqZ%2BJXm8M9EQI7A9rIa8eCeSIhby5sPi8lc3vZLEb8%3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327" y="2224870"/>
            <a:ext cx="2358586" cy="353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직사각형 47"/>
          <p:cNvSpPr/>
          <p:nvPr/>
        </p:nvSpPr>
        <p:spPr>
          <a:xfrm>
            <a:off x="1831123" y="4082190"/>
            <a:ext cx="1117817" cy="2308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ko-KR" altLang="en-US" sz="900" b="1" spc="300" dirty="0" err="1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더맥소</a:t>
            </a:r>
            <a:r>
              <a:rPr lang="ko-KR" altLang="en-US" sz="900" b="1" spc="300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         </a:t>
            </a:r>
            <a:endParaRPr lang="ko-KR" altLang="en-US" sz="900" b="1" spc="3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831123" y="4378680"/>
            <a:ext cx="793807" cy="2308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ko-KR" altLang="en-US" sz="900" b="1" spc="300" dirty="0" err="1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한라맥주</a:t>
            </a:r>
            <a:endParaRPr lang="ko-KR" altLang="en-US" sz="900" b="1" spc="3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831123" y="4675170"/>
            <a:ext cx="1117817" cy="2308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ko-KR" altLang="en-US" sz="900" b="1" spc="300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올리브            </a:t>
            </a:r>
            <a:endParaRPr lang="ko-KR" altLang="en-US" sz="900" b="1" spc="3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055341" y="5612265"/>
            <a:ext cx="683308" cy="2155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직사각형 54"/>
          <p:cNvSpPr/>
          <p:nvPr/>
        </p:nvSpPr>
        <p:spPr>
          <a:xfrm>
            <a:off x="5055340" y="5790528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술집 섭외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055340" y="5458440"/>
            <a:ext cx="601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관건</a:t>
            </a:r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5055340" y="2357680"/>
            <a:ext cx="1005403" cy="2155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5055339" y="3081574"/>
            <a:ext cx="593433" cy="208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5055339" y="4157547"/>
            <a:ext cx="593433" cy="1794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5055340" y="401363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단점</a:t>
            </a:r>
            <a:endParaRPr lang="en-US" altLang="ko-KR" dirty="0" smtClean="0"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055340" y="2964992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장점</a:t>
            </a:r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5055340" y="2210654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핵심기능</a:t>
            </a:r>
            <a:endParaRPr lang="ko-KR" altLang="en-US" dirty="0"/>
          </a:p>
        </p:txBody>
      </p:sp>
      <p:sp>
        <p:nvSpPr>
          <p:cNvPr id="72" name="직사각형 71"/>
          <p:cNvSpPr/>
          <p:nvPr/>
        </p:nvSpPr>
        <p:spPr>
          <a:xfrm>
            <a:off x="5055340" y="4337529"/>
            <a:ext cx="443102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1.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초기 데이터 확보의 어려움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&gt;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초기 사용자와 술집 사장님의 협조가 필요함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2.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지속적 업데이트 의존성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&gt;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부정확한 정보로 이어질 수 있음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53907" y="4451347"/>
            <a:ext cx="5502880" cy="1472671"/>
            <a:chOff x="27135" y="4451347"/>
            <a:chExt cx="5502880" cy="1472671"/>
          </a:xfrm>
        </p:grpSpPr>
        <p:pic>
          <p:nvPicPr>
            <p:cNvPr id="74" name="Picture 4" descr="iOS 18.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35" y="4611825"/>
              <a:ext cx="1312192" cy="1312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모서리가 둥근 사각형 설명선 76"/>
            <p:cNvSpPr/>
            <p:nvPr/>
          </p:nvSpPr>
          <p:spPr>
            <a:xfrm>
              <a:off x="1904887" y="4451347"/>
              <a:ext cx="3625128" cy="682541"/>
            </a:xfrm>
            <a:prstGeom prst="wedgeRoundRectCallout">
              <a:avLst>
                <a:gd name="adj1" fmla="val -59825"/>
                <a:gd name="adj2" fmla="val 38521"/>
                <a:gd name="adj3" fmla="val 16667"/>
              </a:avLst>
            </a:prstGeom>
            <a:ln>
              <a:solidFill>
                <a:srgbClr val="FFC79C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accent2"/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직관적인 </a:t>
              </a:r>
              <a:r>
                <a:rPr lang="en-US" altLang="ko-KR" dirty="0" smtClean="0">
                  <a:solidFill>
                    <a:schemeClr val="accent2"/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UI</a:t>
              </a:r>
              <a:endParaRPr lang="ko-KR" altLang="en-US" dirty="0">
                <a:solidFill>
                  <a:schemeClr val="accent2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03053" y="951265"/>
            <a:ext cx="4989643" cy="1740694"/>
            <a:chOff x="103053" y="951265"/>
            <a:chExt cx="4989643" cy="1740694"/>
          </a:xfrm>
        </p:grpSpPr>
        <p:pic>
          <p:nvPicPr>
            <p:cNvPr id="75" name="Picture 2" descr="iOS 18.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53" y="1319241"/>
              <a:ext cx="1372717" cy="1372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모서리가 둥근 사각형 설명선 77"/>
            <p:cNvSpPr/>
            <p:nvPr/>
          </p:nvSpPr>
          <p:spPr>
            <a:xfrm>
              <a:off x="1831123" y="951265"/>
              <a:ext cx="3261573" cy="569789"/>
            </a:xfrm>
            <a:prstGeom prst="wedgeRoundRectCallout">
              <a:avLst>
                <a:gd name="adj1" fmla="val -58536"/>
                <a:gd name="adj2" fmla="val 45899"/>
                <a:gd name="adj3" fmla="val 16667"/>
              </a:avLst>
            </a:prstGeom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 smtClean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실사용자를</a:t>
              </a:r>
              <a:r>
                <a:rPr lang="ko-KR" altLang="en-US" dirty="0" smtClean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 </a:t>
              </a:r>
              <a:r>
                <a:rPr lang="ko-KR" altLang="en-US" dirty="0" err="1" smtClean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유입하고싶어요</a:t>
              </a:r>
              <a:r>
                <a:rPr lang="en-US" altLang="ko-KR" dirty="0" smtClean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!</a:t>
              </a:r>
              <a:endParaRPr lang="ko-KR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6920943" y="2313685"/>
            <a:ext cx="4932537" cy="1285349"/>
            <a:chOff x="6920943" y="2313685"/>
            <a:chExt cx="4932537" cy="1285349"/>
          </a:xfrm>
        </p:grpSpPr>
        <p:pic>
          <p:nvPicPr>
            <p:cNvPr id="76" name="Picture 6" descr="iOS 18.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32" y="2313685"/>
              <a:ext cx="1285348" cy="1285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모서리가 둥근 사각형 설명선 78"/>
            <p:cNvSpPr/>
            <p:nvPr/>
          </p:nvSpPr>
          <p:spPr>
            <a:xfrm>
              <a:off x="6920943" y="2331041"/>
              <a:ext cx="3261573" cy="569789"/>
            </a:xfrm>
            <a:prstGeom prst="wedgeRoundRectCallout">
              <a:avLst>
                <a:gd name="adj1" fmla="val 60695"/>
                <a:gd name="adj2" fmla="val -5750"/>
                <a:gd name="adj3" fmla="val 16667"/>
              </a:avLst>
            </a:prstGeom>
            <a:ln>
              <a:solidFill>
                <a:srgbClr val="D4B9F9"/>
              </a:solidFill>
            </a:ln>
            <a:effectLst>
              <a:glow rad="63500">
                <a:srgbClr val="D4B9F9">
                  <a:alpha val="40000"/>
                </a:srgb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rgbClr val="9999FF"/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이왕이면 </a:t>
              </a:r>
              <a:r>
                <a:rPr lang="ko-KR" altLang="en-US" dirty="0" err="1" smtClean="0">
                  <a:solidFill>
                    <a:srgbClr val="9999FF"/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쓸모있는</a:t>
              </a:r>
              <a:r>
                <a:rPr lang="ko-KR" altLang="en-US" dirty="0" smtClean="0">
                  <a:solidFill>
                    <a:srgbClr val="9999FF"/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 거</a:t>
              </a:r>
              <a:r>
                <a:rPr lang="en-US" altLang="ko-KR" dirty="0" smtClean="0">
                  <a:solidFill>
                    <a:srgbClr val="9999FF"/>
                  </a:solidFill>
                  <a:latin typeface="a타이틀고딕1" panose="02020600000000000000" pitchFamily="18" charset="-127"/>
                  <a:ea typeface="a타이틀고딕1" panose="02020600000000000000" pitchFamily="18" charset="-127"/>
                </a:rPr>
                <a:t>!</a:t>
              </a:r>
              <a:endParaRPr lang="ko-KR" altLang="en-US" dirty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endParaRPr>
            </a:p>
          </p:txBody>
        </p:sp>
      </p:grpSp>
      <p:sp>
        <p:nvSpPr>
          <p:cNvPr id="82" name="직사각형 81"/>
          <p:cNvSpPr/>
          <p:nvPr/>
        </p:nvSpPr>
        <p:spPr>
          <a:xfrm>
            <a:off x="5055340" y="1570000"/>
            <a:ext cx="63113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회식 시즌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(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개강 후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2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주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시험 후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2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주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)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에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2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차 장소 찾기가 어려움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술집을 직접 돌아다니며 빈자리 확인하는 과정에서 불편함 발생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055339" y="3336352"/>
            <a:ext cx="2595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실시간 혼잡도 제공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간편한 사용자 인터페이스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０３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804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398080" y="1401688"/>
            <a:ext cx="4241081" cy="461851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814259" y="1636114"/>
            <a:ext cx="3408722" cy="433428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노웨잇</a:t>
            </a:r>
            <a:r>
              <a:rPr lang="en-US" altLang="ko-KR" dirty="0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(no wait)</a:t>
            </a:r>
            <a:endParaRPr lang="ko-KR" altLang="en-US" dirty="0">
              <a:solidFill>
                <a:schemeClr val="tx1"/>
              </a:solidFill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49519" y="242707"/>
            <a:ext cx="9124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T O P I </a:t>
            </a:r>
            <a:r>
              <a:rPr lang="en-US" altLang="ko-KR" sz="1400" dirty="0" smtClean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C</a:t>
            </a:r>
            <a:endParaRPr lang="ko-KR" altLang="en-US" sz="1400" dirty="0">
              <a:solidFill>
                <a:srgbClr val="9999FF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19099" y="1033833"/>
            <a:ext cx="1191987" cy="2320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398080" y="873606"/>
            <a:ext cx="1072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주제 선정</a:t>
            </a:r>
            <a:endParaRPr lang="ko-KR" altLang="en-US" dirty="0"/>
          </a:p>
        </p:txBody>
      </p:sp>
      <p:pic>
        <p:nvPicPr>
          <p:cNvPr id="1026" name="Picture 2" descr="https://sdmntprsouthcentralus.oaiusercontent.com/files/00000000-e54c-51f7-8b32-cda00b9f8d08/raw?se=2025-04-03T17%3A34%3A31Z&amp;sp=r&amp;sv=2024-08-04&amp;sr=b&amp;scid=42fdaaa3-8199-5509-8bd9-51ccdd4f2fc9&amp;skoid=7c382de0-129f-486b-9922-6e4a89c6eb7d&amp;sktid=a48cca56-e6da-484e-a814-9c849652bcb3&amp;skt=2025-04-03T12%3A17%3A08Z&amp;ske=2025-04-04T12%3A17%3A08Z&amp;sks=b&amp;skv=2024-08-04&amp;sig=yGqZ%2BJXm8M9EQI7A9rIa8eCeSIhby5sPi8lc3vZLEb8%3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327" y="2224870"/>
            <a:ext cx="2358586" cy="353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직사각형 47"/>
          <p:cNvSpPr/>
          <p:nvPr/>
        </p:nvSpPr>
        <p:spPr>
          <a:xfrm>
            <a:off x="1831123" y="4082190"/>
            <a:ext cx="1117817" cy="2308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ko-KR" altLang="en-US" sz="900" b="1" spc="300" dirty="0" err="1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더맥소</a:t>
            </a:r>
            <a:r>
              <a:rPr lang="ko-KR" altLang="en-US" sz="900" b="1" spc="300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         </a:t>
            </a:r>
            <a:endParaRPr lang="ko-KR" altLang="en-US" sz="900" b="1" spc="3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831123" y="4378680"/>
            <a:ext cx="793807" cy="2308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ko-KR" altLang="en-US" sz="900" b="1" spc="300" dirty="0" err="1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한라맥주</a:t>
            </a:r>
            <a:endParaRPr lang="ko-KR" altLang="en-US" sz="900" b="1" spc="3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831123" y="4675170"/>
            <a:ext cx="1117817" cy="2308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ko-KR" altLang="en-US" sz="900" b="1" spc="300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올리브            </a:t>
            </a:r>
            <a:endParaRPr lang="ko-KR" altLang="en-US" sz="900" b="1" spc="3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055341" y="2784728"/>
            <a:ext cx="1000594" cy="2330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5055340" y="2962991"/>
            <a:ext cx="464261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술집 혼잡도 실시간 파악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(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단계별 혼잡도 표시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)</a:t>
            </a: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- 2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차 회식 장소 탐색 편의성 제공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혼잡도 표시를 통해 인구 밀집 분산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055340" y="2630903"/>
            <a:ext cx="2741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핵심 </a:t>
            </a:r>
            <a:r>
              <a:rPr lang="ko-KR" altLang="en-US" dirty="0" err="1">
                <a:latin typeface="a타이틀고딕5" panose="02020600000000000000" pitchFamily="18" charset="-127"/>
                <a:ea typeface="a타이틀고딕5" panose="02020600000000000000" pitchFamily="18" charset="-127"/>
              </a:rPr>
              <a:t>기능（</a:t>
            </a:r>
            <a:r>
              <a:rPr lang="ko-KR" altLang="en-US" dirty="0" err="1">
                <a:solidFill>
                  <a:schemeClr val="accent2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Ｃ</a:t>
            </a:r>
            <a:r>
              <a:rPr lang="ko-KR" altLang="en-US" dirty="0" err="1">
                <a:latin typeface="a타이틀고딕5" panose="02020600000000000000" pitchFamily="18" charset="-127"/>
                <a:ea typeface="a타이틀고딕5" panose="02020600000000000000" pitchFamily="18" charset="-127"/>
              </a:rPr>
              <a:t>ｏｍｐａｎｙ</a:t>
            </a:r>
            <a:r>
              <a:rPr lang="ko-KR" altLang="en-US" dirty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）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5055341" y="4352881"/>
            <a:ext cx="746370" cy="2135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5055340" y="4531144"/>
            <a:ext cx="47820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전남대 학생 중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2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차 회식 장소를 찾는 모든 사람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상대적으로 조용한 술집을 원하는 일반 개인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55340" y="4199056"/>
            <a:ext cx="26805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타겟층（</a:t>
            </a:r>
            <a:r>
              <a:rPr lang="ko-KR" altLang="en-US" dirty="0" err="1" smtClean="0">
                <a:solidFill>
                  <a:schemeClr val="accent2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Ｃ</a:t>
            </a:r>
            <a:r>
              <a:rPr lang="ko-KR" altLang="en-US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ｏｓｔｏｍｅｒ</a:t>
            </a:r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）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154566" y="1675311"/>
            <a:ext cx="1548822" cy="58477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en-US" altLang="ko-KR" sz="3200" dirty="0" smtClean="0">
                <a:solidFill>
                  <a:srgbClr val="FFC79C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3C </a:t>
            </a:r>
            <a:r>
              <a:rPr lang="ko-KR" altLang="en-US" sz="3200" dirty="0" smtClean="0">
                <a:solidFill>
                  <a:srgbClr val="FFC79C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분석</a:t>
            </a:r>
            <a:endParaRPr lang="ko-KR" altLang="en-US" sz="3200" dirty="0"/>
          </a:p>
        </p:txBody>
      </p:sp>
      <p:sp>
        <p:nvSpPr>
          <p:cNvPr id="31" name="직사각형 30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０３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055340" y="1672196"/>
            <a:ext cx="1747275" cy="575734"/>
          </a:xfrm>
          <a:prstGeom prst="roundRect">
            <a:avLst>
              <a:gd name="adj" fmla="val 50000"/>
            </a:avLst>
          </a:prstGeom>
          <a:noFill/>
          <a:ln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58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398080" y="1401688"/>
            <a:ext cx="4241081" cy="461851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814259" y="1636114"/>
            <a:ext cx="3408722" cy="433428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노웨잇</a:t>
            </a:r>
            <a:r>
              <a:rPr lang="en-US" altLang="ko-KR" dirty="0" smtClean="0">
                <a:solidFill>
                  <a:schemeClr val="tx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(no wait)</a:t>
            </a:r>
            <a:endParaRPr lang="ko-KR" altLang="en-US" dirty="0">
              <a:solidFill>
                <a:schemeClr val="tx1"/>
              </a:solidFill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49519" y="242707"/>
            <a:ext cx="9124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T O P I </a:t>
            </a:r>
            <a:r>
              <a:rPr lang="en-US" altLang="ko-KR" sz="1400" dirty="0" smtClean="0">
                <a:solidFill>
                  <a:srgbClr val="9999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C</a:t>
            </a:r>
            <a:endParaRPr lang="ko-KR" altLang="en-US" sz="1400" dirty="0">
              <a:solidFill>
                <a:srgbClr val="9999FF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19099" y="1033833"/>
            <a:ext cx="1191987" cy="2320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398080" y="873606"/>
            <a:ext cx="1072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주제 선정</a:t>
            </a:r>
            <a:endParaRPr lang="ko-KR" altLang="en-US" dirty="0"/>
          </a:p>
        </p:txBody>
      </p:sp>
      <p:pic>
        <p:nvPicPr>
          <p:cNvPr id="1026" name="Picture 2" descr="https://sdmntprsouthcentralus.oaiusercontent.com/files/00000000-e54c-51f7-8b32-cda00b9f8d08/raw?se=2025-04-03T17%3A34%3A31Z&amp;sp=r&amp;sv=2024-08-04&amp;sr=b&amp;scid=42fdaaa3-8199-5509-8bd9-51ccdd4f2fc9&amp;skoid=7c382de0-129f-486b-9922-6e4a89c6eb7d&amp;sktid=a48cca56-e6da-484e-a814-9c849652bcb3&amp;skt=2025-04-03T12%3A17%3A08Z&amp;ske=2025-04-04T12%3A17%3A08Z&amp;sks=b&amp;skv=2024-08-04&amp;sig=yGqZ%2BJXm8M9EQI7A9rIa8eCeSIhby5sPi8lc3vZLEb8%3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327" y="2224870"/>
            <a:ext cx="2358586" cy="3537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직사각형 47"/>
          <p:cNvSpPr/>
          <p:nvPr/>
        </p:nvSpPr>
        <p:spPr>
          <a:xfrm>
            <a:off x="1831123" y="4082190"/>
            <a:ext cx="1117817" cy="2308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ko-KR" altLang="en-US" sz="900" b="1" spc="300" dirty="0" err="1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더맥소</a:t>
            </a:r>
            <a:r>
              <a:rPr lang="ko-KR" altLang="en-US" sz="900" b="1" spc="300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         </a:t>
            </a:r>
            <a:endParaRPr lang="ko-KR" altLang="en-US" sz="900" b="1" spc="3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831123" y="4378680"/>
            <a:ext cx="793807" cy="2308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ko-KR" altLang="en-US" sz="900" b="1" spc="300" dirty="0" err="1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한라맥주</a:t>
            </a:r>
            <a:endParaRPr lang="ko-KR" altLang="en-US" sz="900" b="1" spc="3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831123" y="4675170"/>
            <a:ext cx="1117817" cy="2308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r>
              <a:rPr lang="ko-KR" altLang="en-US" sz="900" b="1" spc="300" dirty="0" smtClean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올리브            </a:t>
            </a:r>
            <a:endParaRPr lang="ko-KR" altLang="en-US" sz="900" b="1" spc="3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055341" y="1799280"/>
            <a:ext cx="800218" cy="2155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5055340" y="1977543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- </a:t>
            </a:r>
            <a:r>
              <a:rPr lang="ko-KR" altLang="en-US" dirty="0" err="1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테이블링</a:t>
            </a:r>
            <a:endParaRPr lang="en-US" altLang="ko-KR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055340" y="1645455"/>
            <a:ext cx="3092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경쟁사（</a:t>
            </a:r>
            <a:r>
              <a:rPr lang="ko-KR" altLang="en-US" dirty="0" err="1" smtClean="0">
                <a:solidFill>
                  <a:schemeClr val="accent2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Ｃ</a:t>
            </a:r>
            <a:r>
              <a:rPr lang="ko-KR" altLang="en-US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ｏｍｐｅｔｉｔｏｒ</a:t>
            </a:r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）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170292"/>
              </p:ext>
            </p:extLst>
          </p:nvPr>
        </p:nvGraphicFramePr>
        <p:xfrm>
          <a:off x="5055342" y="3284538"/>
          <a:ext cx="6442977" cy="17526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424586">
                  <a:extLst>
                    <a:ext uri="{9D8B030D-6E8A-4147-A177-3AD203B41FA5}">
                      <a16:colId xmlns:a16="http://schemas.microsoft.com/office/drawing/2014/main" val="372576052"/>
                    </a:ext>
                  </a:extLst>
                </a:gridCol>
                <a:gridCol w="2460427">
                  <a:extLst>
                    <a:ext uri="{9D8B030D-6E8A-4147-A177-3AD203B41FA5}">
                      <a16:colId xmlns:a16="http://schemas.microsoft.com/office/drawing/2014/main" val="2631406700"/>
                    </a:ext>
                  </a:extLst>
                </a:gridCol>
                <a:gridCol w="2557964">
                  <a:extLst>
                    <a:ext uri="{9D8B030D-6E8A-4147-A177-3AD203B41FA5}">
                      <a16:colId xmlns:a16="http://schemas.microsoft.com/office/drawing/2014/main" val="3079917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항목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 smtClean="0">
                          <a:solidFill>
                            <a:srgbClr val="9999FF"/>
                          </a:solidFill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테이블링</a:t>
                      </a:r>
                      <a:endParaRPr lang="ko-KR" altLang="en-US" sz="1600" b="0" dirty="0">
                        <a:solidFill>
                          <a:srgbClr val="9999FF"/>
                        </a:solidFill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 smtClean="0">
                          <a:solidFill>
                            <a:srgbClr val="9999FF"/>
                          </a:solidFill>
                          <a:latin typeface="a타이틀고딕2" panose="02020600000000000000" pitchFamily="18" charset="-127"/>
                          <a:ea typeface="a타이틀고딕2" panose="02020600000000000000" pitchFamily="18" charset="-127"/>
                        </a:rPr>
                        <a:t>노웨잇</a:t>
                      </a:r>
                      <a:endParaRPr lang="ko-KR" altLang="en-US" sz="1600" b="0" dirty="0">
                        <a:solidFill>
                          <a:srgbClr val="9999FF"/>
                        </a:solidFill>
                        <a:latin typeface="a타이틀고딕2" panose="02020600000000000000" pitchFamily="18" charset="-127"/>
                        <a:ea typeface="a타이틀고딕2" panose="02020600000000000000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386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기능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예약시스템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실시간　혼잡도　표시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2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Full </a:t>
                      </a:r>
                      <a:r>
                        <a:rPr lang="ko-KR" altLang="en-US" sz="1400" dirty="0" smtClean="0"/>
                        <a:t>매장 확인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가능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예약</a:t>
                      </a:r>
                      <a:r>
                        <a:rPr lang="ko-KR" altLang="en-US" sz="1400" baseline="0" dirty="0" smtClean="0"/>
                        <a:t> </a:t>
                      </a:r>
                      <a:r>
                        <a:rPr lang="ko-KR" altLang="en-US" sz="1400" dirty="0" smtClean="0"/>
                        <a:t>마감</a:t>
                      </a:r>
                      <a:r>
                        <a:rPr lang="ko-KR" altLang="en-US" sz="1400" baseline="0" dirty="0" smtClean="0"/>
                        <a:t> </a:t>
                      </a:r>
                      <a:r>
                        <a:rPr lang="ko-KR" altLang="en-US" sz="1400" dirty="0" smtClean="0"/>
                        <a:t>여부</a:t>
                      </a:r>
                      <a:r>
                        <a:rPr lang="ko-KR" altLang="en-US" sz="1400" baseline="0" dirty="0" smtClean="0"/>
                        <a:t> </a:t>
                      </a:r>
                      <a:r>
                        <a:rPr lang="ko-KR" altLang="en-US" sz="1400" dirty="0" smtClean="0"/>
                        <a:t>표시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가능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혼잡도</a:t>
                      </a:r>
                      <a:r>
                        <a:rPr lang="ko-KR" altLang="en-US" sz="1400" baseline="0" dirty="0" smtClean="0"/>
                        <a:t> </a:t>
                      </a:r>
                      <a:r>
                        <a:rPr lang="ko-KR" altLang="en-US" sz="1400" dirty="0" smtClean="0"/>
                        <a:t>단계별</a:t>
                      </a:r>
                      <a:r>
                        <a:rPr lang="ko-KR" altLang="en-US" sz="1400" baseline="0" dirty="0" smtClean="0"/>
                        <a:t> </a:t>
                      </a:r>
                      <a:r>
                        <a:rPr lang="ko-KR" altLang="en-US" sz="1400" dirty="0" smtClean="0"/>
                        <a:t>표시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42054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혼잡도</a:t>
                      </a:r>
                      <a:r>
                        <a:rPr lang="ko-KR" altLang="en-US" sz="1400" baseline="0" dirty="0" smtClean="0"/>
                        <a:t> </a:t>
                      </a:r>
                      <a:r>
                        <a:rPr lang="ko-KR" altLang="en-US" sz="1400" dirty="0" smtClean="0"/>
                        <a:t>표시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없음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Ｏ</a:t>
                      </a:r>
                      <a:r>
                        <a:rPr lang="en-US" altLang="ko-KR" sz="1400" dirty="0" smtClean="0"/>
                        <a:t>(5</a:t>
                      </a:r>
                      <a:r>
                        <a:rPr lang="ko-KR" altLang="en-US" sz="1400" dirty="0" smtClean="0"/>
                        <a:t>단계로 </a:t>
                      </a:r>
                      <a:r>
                        <a:rPr lang="ko-KR" altLang="en-US" sz="1400" dirty="0" err="1" smtClean="0"/>
                        <a:t>상세표시</a:t>
                      </a:r>
                      <a:r>
                        <a:rPr lang="en-US" altLang="ko-KR" sz="1400" dirty="0" smtClean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66609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사용자 편의성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예약할 곳 미리 정할 때 유용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즉시 방문할 곳 찾을 때 유용</a:t>
                      </a:r>
                      <a:endParaRPr lang="en-US" altLang="ko-KR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788869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5181016" y="5161830"/>
            <a:ext cx="5455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&gt; </a:t>
            </a:r>
            <a:r>
              <a:rPr lang="ko-KR" altLang="en-US" dirty="0" err="1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노웨잇은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＂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예약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＂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보다 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"</a:t>
            </a:r>
            <a:r>
              <a:rPr lang="ko-KR" altLang="en-US" b="1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실시간 탐색</a:t>
            </a:r>
            <a:r>
              <a:rPr lang="en-US" altLang="ko-KR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"</a:t>
            </a: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에 특화된 서비스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469" y="2521803"/>
            <a:ext cx="228632" cy="219106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109785" y="2476760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r>
              <a:rPr lang="ko-KR" altLang="en-US" sz="14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차이점 </a:t>
            </a:r>
            <a:r>
              <a:rPr lang="en-US" altLang="ko-KR" sz="14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: </a:t>
            </a:r>
            <a:r>
              <a:rPr lang="ko-KR" altLang="en-US" sz="1400" dirty="0" err="1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테이블링은</a:t>
            </a: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예약 </a:t>
            </a:r>
            <a:r>
              <a:rPr lang="ko-KR" altLang="en-US" sz="14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시스템으로</a:t>
            </a:r>
            <a:r>
              <a:rPr lang="en-US" altLang="ko-KR" sz="14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, Full</a:t>
            </a:r>
            <a:r>
              <a:rPr lang="ko-KR" altLang="en-US" sz="14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인 곳만 확인할 수 있지만</a:t>
            </a:r>
            <a:endParaRPr lang="en-US" altLang="ko-KR" sz="14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r>
              <a:rPr lang="ko-KR" altLang="en-US" sz="1400" dirty="0" err="1">
                <a:latin typeface="a타이틀고딕1" panose="02020600000000000000" pitchFamily="18" charset="-127"/>
                <a:ea typeface="a타이틀고딕1" panose="02020600000000000000" pitchFamily="18" charset="-127"/>
              </a:rPr>
              <a:t>노웨잇은</a:t>
            </a:r>
            <a:r>
              <a:rPr lang="ko-KR" altLang="en-US" sz="14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단계별로 혼잡도를 더욱 구체적으로 표시함</a:t>
            </a:r>
            <a:r>
              <a:rPr lang="en-US" altLang="ko-KR" sz="14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 </a:t>
            </a:r>
            <a:endParaRPr lang="ko-KR" altLang="en-US" sz="1400" dirty="0"/>
          </a:p>
        </p:txBody>
      </p:sp>
      <p:sp>
        <p:nvSpPr>
          <p:cNvPr id="39" name="직사각형 38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０３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680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398080" y="1085656"/>
            <a:ext cx="1095353" cy="160092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49519" y="242707"/>
            <a:ext cx="28296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i="1" dirty="0" smtClean="0">
                <a:solidFill>
                  <a:srgbClr val="99CC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ＥＸＰＥＣＴＥＤ ＯＵＴＣＯＭＥＳ</a:t>
            </a:r>
            <a:endParaRPr lang="ko-KR" altLang="en-US" sz="1400" i="1" dirty="0">
              <a:solidFill>
                <a:srgbClr val="99CCFF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19100" y="919914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기대효과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０４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53" y="988537"/>
            <a:ext cx="276264" cy="25721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1364649" y="3306679"/>
            <a:ext cx="43422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학생들이 더 쉽게 술집을 찾을 수 있음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혼잡도 정보 제공 → 매장 선택 편리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082757" y="2762368"/>
            <a:ext cx="2447204" cy="413084"/>
            <a:chOff x="2082757" y="2094846"/>
            <a:chExt cx="2447204" cy="413084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40622" y="2221510"/>
              <a:ext cx="200053" cy="181000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2145817" y="2127344"/>
              <a:ext cx="21948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 err="1">
                  <a:solidFill>
                    <a:srgbClr val="9999FF"/>
                  </a:solidFill>
                </a:rPr>
                <a:t>실사용자</a:t>
              </a:r>
              <a:r>
                <a:rPr lang="ko-KR" altLang="en-US" b="1" dirty="0">
                  <a:solidFill>
                    <a:srgbClr val="9999FF"/>
                  </a:solidFill>
                </a:rPr>
                <a:t> 유입 </a:t>
              </a:r>
              <a:r>
                <a:rPr lang="ko-KR" altLang="en-US" b="1" dirty="0" smtClean="0">
                  <a:solidFill>
                    <a:srgbClr val="9999FF"/>
                  </a:solidFill>
                </a:rPr>
                <a:t>증가</a:t>
              </a:r>
              <a:endParaRPr lang="ko-KR" altLang="en-US" dirty="0">
                <a:solidFill>
                  <a:srgbClr val="9999FF"/>
                </a:solidFill>
              </a:endParaRPr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2082757" y="2094846"/>
              <a:ext cx="2447204" cy="413084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9999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9999FF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7556917" y="2762368"/>
            <a:ext cx="2447204" cy="413084"/>
            <a:chOff x="7556917" y="2094846"/>
            <a:chExt cx="2447204" cy="41308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45919" y="2204851"/>
              <a:ext cx="228632" cy="152421"/>
            </a:xfrm>
            <a:prstGeom prst="rect">
              <a:avLst/>
            </a:prstGeom>
          </p:spPr>
        </p:pic>
        <p:sp>
          <p:nvSpPr>
            <p:cNvPr id="12" name="직사각형 11"/>
            <p:cNvSpPr/>
            <p:nvPr/>
          </p:nvSpPr>
          <p:spPr>
            <a:xfrm>
              <a:off x="7556917" y="2127344"/>
              <a:ext cx="21948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>
                  <a:solidFill>
                    <a:srgbClr val="9999FF"/>
                  </a:solidFill>
                </a:rPr>
                <a:t>서비스 확장 가능성</a:t>
              </a: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7556917" y="2094846"/>
              <a:ext cx="2447204" cy="413084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9999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9999FF"/>
                </a:solidFill>
              </a:endParaRPr>
            </a:p>
          </p:txBody>
        </p:sp>
      </p:grpSp>
      <p:sp>
        <p:nvSpPr>
          <p:cNvPr id="24" name="직사각형 23"/>
          <p:cNvSpPr/>
          <p:nvPr/>
        </p:nvSpPr>
        <p:spPr>
          <a:xfrm rot="5400000" flipV="1">
            <a:off x="3638215" y="3700033"/>
            <a:ext cx="4954289" cy="45719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269464" y="3306679"/>
            <a:ext cx="33947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초기 </a:t>
            </a:r>
            <a:r>
              <a:rPr lang="ko-KR" altLang="en-US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성과 확보 시</a:t>
            </a:r>
            <a:br>
              <a:rPr lang="ko-KR" altLang="en-US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</a:br>
            <a:r>
              <a:rPr lang="ko-KR" altLang="en-US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→ </a:t>
            </a:r>
            <a:r>
              <a:rPr lang="ko-KR" altLang="en-US" b="1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광주 지역 전체로 확대 </a:t>
            </a:r>
            <a:r>
              <a:rPr lang="ko-KR" altLang="en-US" b="1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가능</a:t>
            </a:r>
            <a:endParaRPr lang="ko-KR" altLang="en-US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19" name="아래쪽 화살표 18"/>
          <p:cNvSpPr/>
          <p:nvPr/>
        </p:nvSpPr>
        <p:spPr>
          <a:xfrm rot="16200000">
            <a:off x="5825476" y="2984789"/>
            <a:ext cx="798975" cy="851338"/>
          </a:xfrm>
          <a:prstGeom prst="downArrow">
            <a:avLst/>
          </a:prstGeom>
          <a:solidFill>
            <a:schemeClr val="bg1"/>
          </a:solidFill>
          <a:ln>
            <a:solidFill>
              <a:srgbClr val="CBEFB3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72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타원 40"/>
          <p:cNvSpPr/>
          <p:nvPr/>
        </p:nvSpPr>
        <p:spPr>
          <a:xfrm>
            <a:off x="4108384" y="1800674"/>
            <a:ext cx="1498418" cy="149841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6880424" y="1800674"/>
            <a:ext cx="1498418" cy="149841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9674424" y="1800674"/>
            <a:ext cx="1498418" cy="1498418"/>
          </a:xfrm>
          <a:prstGeom prst="ellipse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/>
          <p:cNvSpPr/>
          <p:nvPr/>
        </p:nvSpPr>
        <p:spPr>
          <a:xfrm>
            <a:off x="1287512" y="1801052"/>
            <a:ext cx="1498418" cy="149841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440121" y="1065363"/>
            <a:ext cx="987588" cy="2231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 flipV="1">
            <a:off x="6550860" y="4160940"/>
            <a:ext cx="2301710" cy="48048"/>
          </a:xfrm>
          <a:prstGeom prst="rect">
            <a:avLst/>
          </a:prstGeom>
          <a:solidFill>
            <a:srgbClr val="FFC79C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 flipV="1">
            <a:off x="3692358" y="4163270"/>
            <a:ext cx="2882325" cy="45719"/>
          </a:xfrm>
          <a:prstGeom prst="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 flipV="1">
            <a:off x="770022" y="4160940"/>
            <a:ext cx="3029281" cy="48050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30468" y="1513994"/>
            <a:ext cx="2622331" cy="2101516"/>
          </a:xfrm>
          <a:prstGeom prst="rect">
            <a:avLst/>
          </a:prstGeom>
          <a:noFill/>
          <a:ln w="38100">
            <a:solidFill>
              <a:srgbClr val="CBEFB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524468" y="1513994"/>
            <a:ext cx="2622331" cy="2101516"/>
          </a:xfrm>
          <a:prstGeom prst="rect">
            <a:avLst/>
          </a:prstGeom>
          <a:noFill/>
          <a:ln w="38100">
            <a:solidFill>
              <a:srgbClr val="D7D7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318468" y="1513994"/>
            <a:ext cx="2622331" cy="2101516"/>
          </a:xfrm>
          <a:prstGeom prst="rect">
            <a:avLst/>
          </a:prstGeom>
          <a:noFill/>
          <a:ln w="38100">
            <a:solidFill>
              <a:srgbClr val="FFC79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9112468" y="1513994"/>
            <a:ext cx="2622331" cy="2101516"/>
          </a:xfrm>
          <a:prstGeom prst="rect">
            <a:avLst/>
          </a:prstGeom>
          <a:noFill/>
          <a:ln w="38100">
            <a:solidFill>
              <a:srgbClr val="99CC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770022" y="3872184"/>
            <a:ext cx="577516" cy="577516"/>
          </a:xfrm>
          <a:prstGeom prst="ellipse">
            <a:avLst/>
          </a:prstGeom>
          <a:solidFill>
            <a:srgbClr val="CBEFB3"/>
          </a:solidFill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１단계</a:t>
            </a:r>
          </a:p>
        </p:txBody>
      </p:sp>
      <p:sp>
        <p:nvSpPr>
          <p:cNvPr id="20" name="타원 19"/>
          <p:cNvSpPr/>
          <p:nvPr/>
        </p:nvSpPr>
        <p:spPr>
          <a:xfrm>
            <a:off x="3403600" y="3872184"/>
            <a:ext cx="577516" cy="577516"/>
          </a:xfrm>
          <a:prstGeom prst="ellipse">
            <a:avLst/>
          </a:prstGeom>
          <a:solidFill>
            <a:srgbClr val="9999FF"/>
          </a:solidFill>
          <a:ln>
            <a:noFill/>
          </a:ln>
          <a:effectLst>
            <a:glow rad="101600">
              <a:srgbClr val="9999FF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２단계</a:t>
            </a:r>
            <a:endParaRPr lang="ko-KR" altLang="en-US" sz="1000" dirty="0">
              <a:solidFill>
                <a:schemeClr val="tx1"/>
              </a:solidFill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037178" y="3872184"/>
            <a:ext cx="577516" cy="577516"/>
          </a:xfrm>
          <a:prstGeom prst="ellipse">
            <a:avLst/>
          </a:prstGeom>
          <a:solidFill>
            <a:srgbClr val="FFC79C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３단계</a:t>
            </a:r>
            <a:endParaRPr lang="ko-KR" altLang="en-US" sz="1000" dirty="0">
              <a:solidFill>
                <a:schemeClr val="tx1"/>
              </a:solidFill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8670756" y="3872184"/>
            <a:ext cx="577516" cy="577516"/>
          </a:xfrm>
          <a:prstGeom prst="ellipse">
            <a:avLst/>
          </a:prstGeom>
          <a:solidFill>
            <a:srgbClr val="99CCFF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４단계</a:t>
            </a:r>
            <a:endParaRPr lang="ko-KR" altLang="en-US" sz="1000" dirty="0">
              <a:solidFill>
                <a:schemeClr val="tx1"/>
              </a:solidFill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24" name="직사각형 23"/>
          <p:cNvSpPr/>
          <p:nvPr/>
        </p:nvSpPr>
        <p:spPr>
          <a:xfrm flipV="1">
            <a:off x="11486147" y="4028018"/>
            <a:ext cx="255857" cy="26125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611049" y="4547259"/>
            <a:ext cx="22349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아이디어 구상 및 기획</a:t>
            </a:r>
            <a:endParaRPr lang="ko-KR" altLang="en-US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485868" y="4547259"/>
            <a:ext cx="2238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디자인 작성 및 피드백</a:t>
            </a:r>
            <a:endParaRPr lang="ko-KR" altLang="en-US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037178" y="4547259"/>
            <a:ext cx="1560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개발 및 테스트</a:t>
            </a:r>
            <a:endParaRPr lang="ko-KR" altLang="en-US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927430" y="4547259"/>
            <a:ext cx="2315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최종 버전 출시 및 배포</a:t>
            </a:r>
            <a:endParaRPr lang="ko-KR" altLang="en-US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9216355" y="4160940"/>
            <a:ext cx="2301710" cy="4804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09600" y="4995130"/>
            <a:ext cx="2930610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팀 회의 및 아이디어 </a:t>
            </a:r>
            <a:r>
              <a:rPr lang="ko-KR" altLang="en-US" sz="1400" dirty="0" err="1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브레인스토밍</a:t>
            </a:r>
            <a:endParaRPr lang="en-US" altLang="ko-KR" sz="1400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시장조사</a:t>
            </a:r>
            <a:endParaRPr lang="en-US" altLang="ko-KR" sz="14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프로젝트 기획서 작성</a:t>
            </a:r>
            <a:endParaRPr lang="en-US" altLang="ko-KR" sz="1400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507334" y="4995130"/>
            <a:ext cx="224452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ＵＸ／ＵＩ 디자인</a:t>
            </a:r>
            <a:endParaRPr lang="en-US" altLang="ko-KR" sz="1400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피드백 세션을 통한 수정</a:t>
            </a:r>
            <a:endParaRPr lang="en-US" altLang="ko-KR" sz="1400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개발 모델 제작</a:t>
            </a:r>
            <a:endParaRPr lang="ko-KR" altLang="en-US" sz="1400" dirty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037178" y="4995130"/>
            <a:ext cx="26260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MVP </a:t>
            </a: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개발</a:t>
            </a:r>
            <a:r>
              <a:rPr lang="en-US" altLang="ko-KR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(</a:t>
            </a: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핵심 기능만</a:t>
            </a:r>
            <a:r>
              <a:rPr lang="en-US" altLang="ko-KR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사용자 테스트 및 피드백 수집</a:t>
            </a:r>
            <a:endParaRPr lang="en-US" altLang="ko-KR" sz="1400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991600" y="4995130"/>
            <a:ext cx="2670924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최종 수정 및 마케팅 계획 수립</a:t>
            </a:r>
            <a:endParaRPr lang="en-US" altLang="ko-KR" sz="1400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애플리케이션 배포</a:t>
            </a:r>
            <a:endParaRPr lang="en-US" altLang="ko-KR" sz="1400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smtClean="0">
                <a:latin typeface="a타이틀고딕1" panose="02020600000000000000" pitchFamily="18" charset="-127"/>
                <a:ea typeface="a타이틀고딕1" panose="02020600000000000000" pitchFamily="18" charset="-127"/>
              </a:rPr>
              <a:t>사용자 피드백 수집</a:t>
            </a:r>
            <a:endParaRPr lang="en-US" altLang="ko-KR" sz="1400" dirty="0" smtClean="0"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pic>
        <p:nvPicPr>
          <p:cNvPr id="1033" name="Picture 9" descr="iOS 17.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303" y="1969465"/>
            <a:ext cx="1160836" cy="116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iOS 17.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297" y="1879289"/>
            <a:ext cx="1160836" cy="116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iOS 17.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297" y="1912207"/>
            <a:ext cx="1160836" cy="116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 descr="iOS 17.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215" y="1989965"/>
            <a:ext cx="1160836" cy="116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직사각형 38"/>
          <p:cNvSpPr/>
          <p:nvPr/>
        </p:nvSpPr>
        <p:spPr>
          <a:xfrm>
            <a:off x="1297815" y="3781697"/>
            <a:ext cx="1087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CBEFB3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４－５월 </a:t>
            </a:r>
            <a:endParaRPr lang="ko-KR" altLang="en-US" dirty="0">
              <a:solidFill>
                <a:srgbClr val="CBEFB3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094489" y="3781697"/>
            <a:ext cx="1087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9999FF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４－５월 </a:t>
            </a:r>
            <a:endParaRPr lang="ko-KR" altLang="en-US" dirty="0">
              <a:solidFill>
                <a:srgbClr val="9999FF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674952" y="3781697"/>
            <a:ext cx="1087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FFC79C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５</a:t>
            </a:r>
            <a:r>
              <a:rPr lang="ko-KR" altLang="en-US" dirty="0">
                <a:solidFill>
                  <a:srgbClr val="FFC79C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－</a:t>
            </a:r>
            <a:r>
              <a:rPr lang="ko-KR" altLang="en-US" dirty="0" smtClean="0">
                <a:solidFill>
                  <a:srgbClr val="FFC79C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７월 </a:t>
            </a:r>
            <a:endParaRPr lang="ko-KR" altLang="en-US" dirty="0">
              <a:solidFill>
                <a:srgbClr val="FFC79C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9288716" y="3781697"/>
            <a:ext cx="1087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６－７월 </a:t>
            </a:r>
            <a:endParaRPr lang="ko-KR" alt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8730" y="939041"/>
            <a:ext cx="247685" cy="295316"/>
          </a:xfrm>
          <a:prstGeom prst="rect">
            <a:avLst/>
          </a:prstGeom>
        </p:spPr>
      </p:pic>
      <p:sp>
        <p:nvSpPr>
          <p:cNvPr id="54" name="직사각형 53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49519" y="242707"/>
            <a:ext cx="25074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>
                <a:solidFill>
                  <a:srgbClr val="CBEFB3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ＰＦＯＧＥＣＴ </a:t>
            </a:r>
            <a:r>
              <a:rPr lang="ko-KR" altLang="en-US" sz="1400" i="1" dirty="0" smtClean="0">
                <a:solidFill>
                  <a:srgbClr val="CBEFB3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ＰＲＯＣＥＳＳ</a:t>
            </a:r>
            <a:endParaRPr lang="ko-KR" altLang="en-US" sz="1400" i="1" dirty="0">
              <a:solidFill>
                <a:srgbClr val="CBEFB3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9100" y="886290"/>
            <a:ext cx="1008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실행계획</a:t>
            </a:r>
            <a:endParaRPr lang="ko-KR" altLang="en-US" dirty="0"/>
          </a:p>
        </p:txBody>
      </p:sp>
      <p:sp>
        <p:nvSpPr>
          <p:cNvPr id="56" name="직사각형 55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０５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79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직사각형 90"/>
          <p:cNvSpPr/>
          <p:nvPr/>
        </p:nvSpPr>
        <p:spPr>
          <a:xfrm>
            <a:off x="1996028" y="1798334"/>
            <a:ext cx="8997793" cy="4313507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3" name="직선 연결선 82"/>
          <p:cNvCxnSpPr>
            <a:stCxn id="71" idx="2"/>
          </p:cNvCxnSpPr>
          <p:nvPr/>
        </p:nvCxnSpPr>
        <p:spPr>
          <a:xfrm>
            <a:off x="3110215" y="1809353"/>
            <a:ext cx="0" cy="431169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>
            <a:off x="5191264" y="1809353"/>
            <a:ext cx="0" cy="431169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>
            <a:off x="7230273" y="1809353"/>
            <a:ext cx="0" cy="431169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>
            <a:off x="9311322" y="1950771"/>
            <a:ext cx="0" cy="431169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440121" y="1065363"/>
            <a:ext cx="987588" cy="2231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730" y="939041"/>
            <a:ext cx="247685" cy="295316"/>
          </a:xfrm>
          <a:prstGeom prst="rect">
            <a:avLst/>
          </a:prstGeom>
        </p:spPr>
      </p:pic>
      <p:sp>
        <p:nvSpPr>
          <p:cNvPr id="54" name="직사각형 53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49519" y="242707"/>
            <a:ext cx="25074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>
                <a:solidFill>
                  <a:srgbClr val="CBEFB3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ＰＦＯＧＥＣＴ </a:t>
            </a:r>
            <a:r>
              <a:rPr lang="ko-KR" altLang="en-US" sz="1400" i="1" dirty="0" smtClean="0">
                <a:solidFill>
                  <a:srgbClr val="CBEFB3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ＰＲＯＣＥＳＳ</a:t>
            </a:r>
            <a:endParaRPr lang="ko-KR" altLang="en-US" sz="1400" i="1" dirty="0">
              <a:solidFill>
                <a:srgbClr val="CBEFB3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9100" y="886290"/>
            <a:ext cx="1015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간트차트</a:t>
            </a:r>
            <a:endParaRPr lang="ko-KR" altLang="en-US" dirty="0"/>
          </a:p>
        </p:txBody>
      </p:sp>
      <p:sp>
        <p:nvSpPr>
          <p:cNvPr id="56" name="직사각형 55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CBEFB3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０５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57674" y="1952950"/>
            <a:ext cx="3976024" cy="280800"/>
          </a:xfrm>
          <a:prstGeom prst="rect">
            <a:avLst/>
          </a:prstGeom>
          <a:solidFill>
            <a:srgbClr val="CBEFB3"/>
          </a:solidFill>
          <a:ln>
            <a:solidFill>
              <a:srgbClr val="CBEFB3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아이디어 구상 및 기획</a:t>
            </a:r>
            <a:endParaRPr lang="ko-KR" altLang="en-US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070856" y="2805007"/>
            <a:ext cx="1962842" cy="288000"/>
          </a:xfrm>
          <a:prstGeom prst="rect">
            <a:avLst/>
          </a:prstGeom>
          <a:solidFill>
            <a:srgbClr val="D8D8FF"/>
          </a:solidFill>
          <a:ln>
            <a:solidFill>
              <a:srgbClr val="D8D8FF"/>
            </a:solidFill>
          </a:ln>
          <a:effectLst>
            <a:glow rad="63500">
              <a:srgbClr val="D8D8FF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MVP </a:t>
            </a:r>
            <a:r>
              <a:rPr lang="ko-KR" altLang="en-US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개발</a:t>
            </a:r>
            <a:endParaRPr lang="ko-KR" altLang="en-US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3110215" y="2386835"/>
            <a:ext cx="1877943" cy="279717"/>
          </a:xfrm>
          <a:prstGeom prst="rect">
            <a:avLst/>
          </a:prstGeom>
          <a:solidFill>
            <a:srgbClr val="CBEFB3"/>
          </a:solidFill>
          <a:ln>
            <a:solidFill>
              <a:srgbClr val="CBEFB3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설문조사</a:t>
            </a:r>
            <a:endParaRPr lang="ko-KR" altLang="en-US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114426" y="3422719"/>
            <a:ext cx="3919272" cy="252249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accent6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사용자 반응 수집 및 실시간 반영</a:t>
            </a:r>
            <a:endParaRPr lang="ko-KR" altLang="en-US" dirty="0">
              <a:solidFill>
                <a:schemeClr val="accent6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402043" y="1798333"/>
            <a:ext cx="515857" cy="2004787"/>
          </a:xfrm>
          <a:prstGeom prst="rect">
            <a:avLst/>
          </a:prstGeom>
          <a:solidFill>
            <a:srgbClr val="CBEFB3"/>
          </a:solidFill>
          <a:ln>
            <a:solidFill>
              <a:srgbClr val="CBEFB3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사용자반응</a:t>
            </a:r>
            <a:endParaRPr lang="en-US" altLang="ko-KR" sz="1600" dirty="0" smtClean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수집</a:t>
            </a:r>
            <a:endParaRPr lang="ko-KR" altLang="en-US" sz="1600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402042" y="3938362"/>
            <a:ext cx="515857" cy="2119225"/>
          </a:xfrm>
          <a:prstGeom prst="rect">
            <a:avLst/>
          </a:prstGeom>
          <a:solidFill>
            <a:srgbClr val="FFC79C"/>
          </a:solidFill>
          <a:ln>
            <a:solidFill>
              <a:srgbClr val="FFC79C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기능구체화</a:t>
            </a:r>
            <a:endParaRPr lang="ko-KR" altLang="en-US" sz="1600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313952" y="4388829"/>
            <a:ext cx="2851060" cy="280800"/>
          </a:xfrm>
          <a:prstGeom prst="rect">
            <a:avLst/>
          </a:prstGeom>
          <a:solidFill>
            <a:srgbClr val="D8D8FF"/>
          </a:solidFill>
          <a:ln>
            <a:solidFill>
              <a:srgbClr val="D8D8FF"/>
            </a:solidFill>
          </a:ln>
          <a:effectLst>
            <a:glow rad="63500">
              <a:srgbClr val="D8D8FF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UI/UX </a:t>
            </a:r>
            <a:r>
              <a:rPr lang="ko-KR" altLang="en-US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디자인 정리</a:t>
            </a:r>
            <a:endParaRPr lang="ko-KR" altLang="en-US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629750" y="5289505"/>
            <a:ext cx="2016477" cy="280800"/>
          </a:xfrm>
          <a:prstGeom prst="rect">
            <a:avLst/>
          </a:prstGeom>
          <a:solidFill>
            <a:srgbClr val="CBEFB3"/>
          </a:solidFill>
          <a:ln>
            <a:solidFill>
              <a:srgbClr val="CBEFB3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마케팅 전략 수립</a:t>
            </a:r>
            <a:endParaRPr lang="ko-KR" altLang="en-US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9359018" y="5740946"/>
            <a:ext cx="1495256" cy="280800"/>
          </a:xfrm>
          <a:prstGeom prst="rect">
            <a:avLst/>
          </a:prstGeom>
          <a:solidFill>
            <a:srgbClr val="CBEFB3"/>
          </a:solidFill>
          <a:ln>
            <a:solidFill>
              <a:srgbClr val="CBEFB3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정식 출시</a:t>
            </a:r>
            <a:endParaRPr lang="ko-KR" altLang="en-US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313951" y="3938491"/>
            <a:ext cx="2851059" cy="280800"/>
          </a:xfrm>
          <a:prstGeom prst="rect">
            <a:avLst/>
          </a:prstGeom>
          <a:solidFill>
            <a:srgbClr val="FFC79C"/>
          </a:solidFill>
          <a:ln>
            <a:solidFill>
              <a:srgbClr val="FFC79C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기능 개선</a:t>
            </a:r>
            <a:endParaRPr lang="ko-KR" altLang="en-US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7542919" y="4839167"/>
            <a:ext cx="2851059" cy="280800"/>
          </a:xfrm>
          <a:prstGeom prst="rect">
            <a:avLst/>
          </a:prstGeom>
          <a:solidFill>
            <a:srgbClr val="FFC79C"/>
          </a:solidFill>
          <a:ln>
            <a:solidFill>
              <a:srgbClr val="FFC79C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성능 개선</a:t>
            </a:r>
            <a:endParaRPr lang="ko-KR" altLang="en-US" dirty="0">
              <a:solidFill>
                <a:schemeClr val="tx1"/>
              </a:solidFill>
              <a:latin typeface="a타이틀고딕2" panose="02020600000000000000" pitchFamily="18" charset="-127"/>
              <a:ea typeface="a타이틀고딕2" panose="02020600000000000000" pitchFamily="18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033698" y="3422719"/>
            <a:ext cx="4762884" cy="252249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accent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어플</a:t>
            </a:r>
            <a:r>
              <a:rPr lang="ko-KR" altLang="en-US" dirty="0">
                <a:solidFill>
                  <a:schemeClr val="accent2"/>
                </a:solidFill>
                <a:latin typeface="a타이틀고딕2" panose="02020600000000000000" pitchFamily="18" charset="-127"/>
                <a:ea typeface="a타이틀고딕2" panose="02020600000000000000" pitchFamily="18" charset="-127"/>
              </a:rPr>
              <a:t> 출시 본격화</a:t>
            </a:r>
          </a:p>
        </p:txBody>
      </p:sp>
      <p:cxnSp>
        <p:nvCxnSpPr>
          <p:cNvPr id="70" name="직선 화살표 연결선 69"/>
          <p:cNvCxnSpPr/>
          <p:nvPr/>
        </p:nvCxnSpPr>
        <p:spPr>
          <a:xfrm>
            <a:off x="6250891" y="3336468"/>
            <a:ext cx="4540323" cy="11393"/>
          </a:xfrm>
          <a:prstGeom prst="straightConnector1">
            <a:avLst/>
          </a:prstGeom>
          <a:ln w="57150">
            <a:solidFill>
              <a:srgbClr val="FFC79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>
            <a:off x="2038068" y="3336468"/>
            <a:ext cx="3995630" cy="0"/>
          </a:xfrm>
          <a:prstGeom prst="straightConnector1">
            <a:avLst/>
          </a:prstGeom>
          <a:ln w="57150">
            <a:solidFill>
              <a:srgbClr val="CBEFB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2913687" y="1440021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CBEFB3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４</a:t>
            </a:r>
            <a:endParaRPr lang="ko-KR" altLang="en-US" dirty="0"/>
          </a:p>
        </p:txBody>
      </p:sp>
      <p:sp>
        <p:nvSpPr>
          <p:cNvPr id="77" name="직사각형 76"/>
          <p:cNvSpPr/>
          <p:nvPr/>
        </p:nvSpPr>
        <p:spPr>
          <a:xfrm>
            <a:off x="5038385" y="1440021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CBEFB3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5</a:t>
            </a:r>
            <a:endParaRPr lang="ko-KR" altLang="en-US" dirty="0"/>
          </a:p>
        </p:txBody>
      </p:sp>
      <p:sp>
        <p:nvSpPr>
          <p:cNvPr id="78" name="직사각형 77"/>
          <p:cNvSpPr/>
          <p:nvPr/>
        </p:nvSpPr>
        <p:spPr>
          <a:xfrm>
            <a:off x="7087743" y="1440021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CBEFB3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6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9137100" y="1440021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BEFB3"/>
                </a:solidFill>
                <a:latin typeface="a타이틀고딕3" panose="02020600000000000000" pitchFamily="18" charset="-127"/>
                <a:ea typeface="a타이틀고딕3" panose="02020600000000000000" pitchFamily="18" charset="-127"/>
              </a:rPr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486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398080" y="1085655"/>
            <a:ext cx="2690340" cy="146164"/>
          </a:xfrm>
          <a:prstGeom prst="rect">
            <a:avLst/>
          </a:prstGeom>
          <a:solidFill>
            <a:srgbClr val="D8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440" y="974608"/>
            <a:ext cx="238158" cy="257211"/>
          </a:xfrm>
          <a:prstGeom prst="rect">
            <a:avLst/>
          </a:prstGeom>
        </p:spPr>
      </p:pic>
      <p:sp>
        <p:nvSpPr>
          <p:cNvPr id="49" name="직사각형 48"/>
          <p:cNvSpPr/>
          <p:nvPr/>
        </p:nvSpPr>
        <p:spPr>
          <a:xfrm flipV="1">
            <a:off x="419100" y="6567365"/>
            <a:ext cx="11455400" cy="4571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98080" y="617114"/>
            <a:ext cx="11455400" cy="1016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CBEFB3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49519" y="242707"/>
            <a:ext cx="16962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i="1" dirty="0" smtClean="0">
                <a:solidFill>
                  <a:srgbClr val="99CCFF"/>
                </a:solidFill>
                <a:latin typeface="a타이틀고딕1" panose="02020600000000000000" pitchFamily="18" charset="-127"/>
                <a:ea typeface="a타이틀고딕1" panose="02020600000000000000" pitchFamily="18" charset="-127"/>
              </a:rPr>
              <a:t>ＫＥＹ ＶＡＬＵＥＳ</a:t>
            </a:r>
            <a:endParaRPr lang="ko-KR" altLang="en-US" sz="1400" i="1" dirty="0">
              <a:solidFill>
                <a:srgbClr val="99CCFF"/>
              </a:solidFill>
              <a:latin typeface="a타이틀고딕1" panose="02020600000000000000" pitchFamily="18" charset="-127"/>
              <a:ea typeface="a타이틀고딕1" panose="02020600000000000000" pitchFamily="18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1379533" y="242707"/>
            <a:ext cx="477993" cy="43200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dirty="0" smtClean="0">
                <a:latin typeface="a타이틀고딕3" panose="02020600000000000000" pitchFamily="18" charset="-127"/>
                <a:ea typeface="a타이틀고딕3" panose="02020600000000000000" pitchFamily="18" charset="-127"/>
              </a:rPr>
              <a:t>０６</a:t>
            </a:r>
            <a:endParaRPr lang="ko-KR" altLang="en-US" sz="1200" dirty="0">
              <a:latin typeface="a타이틀고딕3" panose="02020600000000000000" pitchFamily="18" charset="-127"/>
              <a:ea typeface="a타이틀고딕3" panose="02020600000000000000" pitchFamily="18" charset="-127"/>
            </a:endParaRPr>
          </a:p>
        </p:txBody>
      </p:sp>
      <p:pic>
        <p:nvPicPr>
          <p:cNvPr id="4098" name="Picture 2" descr="16.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644" y="5498232"/>
            <a:ext cx="1091992" cy="109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16.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668" y="5498232"/>
            <a:ext cx="1091992" cy="109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16.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692" y="5498232"/>
            <a:ext cx="1091992" cy="109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16.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716" y="5498232"/>
            <a:ext cx="1091992" cy="109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16.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40" y="5498232"/>
            <a:ext cx="1091992" cy="109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OS 18.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774" y="5605383"/>
            <a:ext cx="524976" cy="52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iOS 18.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239" y="4895749"/>
            <a:ext cx="420621" cy="42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iOS 18.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266" y="5527965"/>
            <a:ext cx="295705" cy="29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iOS 18.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06" y="4793839"/>
            <a:ext cx="524976" cy="52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iOS 18.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220" y="5232260"/>
            <a:ext cx="295705" cy="29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713090" y="2477218"/>
            <a:ext cx="1015021" cy="1567732"/>
            <a:chOff x="3013774" y="2477218"/>
            <a:chExt cx="1015021" cy="1567732"/>
          </a:xfrm>
        </p:grpSpPr>
        <p:sp>
          <p:nvSpPr>
            <p:cNvPr id="22" name="직사각형 21"/>
            <p:cNvSpPr/>
            <p:nvPr/>
          </p:nvSpPr>
          <p:spPr>
            <a:xfrm>
              <a:off x="3013774" y="3398619"/>
              <a:ext cx="101502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3600" dirty="0" smtClean="0">
                  <a:solidFill>
                    <a:schemeClr val="tx2"/>
                  </a:solidFill>
                  <a:latin typeface="a타이틀고딕5" panose="02020600000000000000" pitchFamily="18" charset="-127"/>
                  <a:ea typeface="a타이틀고딕5" panose="02020600000000000000" pitchFamily="18" charset="-127"/>
                </a:rPr>
                <a:t>속도</a:t>
              </a:r>
              <a:endParaRPr lang="ko-KR" altLang="en-US" sz="3600" dirty="0">
                <a:solidFill>
                  <a:schemeClr val="tx2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endParaRPr>
            </a:p>
          </p:txBody>
        </p:sp>
        <p:pic>
          <p:nvPicPr>
            <p:cNvPr id="4102" name="Picture 6" descr="iOS 18.4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4410" y="2477218"/>
              <a:ext cx="830468" cy="8304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그룹 3"/>
          <p:cNvGrpSpPr/>
          <p:nvPr/>
        </p:nvGrpSpPr>
        <p:grpSpPr>
          <a:xfrm>
            <a:off x="5363959" y="2477218"/>
            <a:ext cx="1002197" cy="1567732"/>
            <a:chOff x="5624681" y="2477218"/>
            <a:chExt cx="1002197" cy="1567732"/>
          </a:xfrm>
        </p:grpSpPr>
        <p:sp>
          <p:nvSpPr>
            <p:cNvPr id="24" name="직사각형 23"/>
            <p:cNvSpPr/>
            <p:nvPr/>
          </p:nvSpPr>
          <p:spPr>
            <a:xfrm>
              <a:off x="5624681" y="3398619"/>
              <a:ext cx="1002197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3600" dirty="0" smtClean="0">
                  <a:solidFill>
                    <a:schemeClr val="accent1"/>
                  </a:solidFill>
                  <a:latin typeface="a타이틀고딕5" panose="02020600000000000000" pitchFamily="18" charset="-127"/>
                  <a:ea typeface="a타이틀고딕5" panose="02020600000000000000" pitchFamily="18" charset="-127"/>
                </a:rPr>
                <a:t>검증</a:t>
              </a:r>
              <a:endParaRPr lang="ko-KR" altLang="en-US" sz="3600" dirty="0">
                <a:solidFill>
                  <a:schemeClr val="accent1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endParaRPr>
            </a:p>
          </p:txBody>
        </p:sp>
        <p:pic>
          <p:nvPicPr>
            <p:cNvPr id="4104" name="Picture 8" descr="iOS 18.4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8454" y="2477218"/>
              <a:ext cx="830468" cy="8304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4"/>
          <p:cNvGrpSpPr/>
          <p:nvPr/>
        </p:nvGrpSpPr>
        <p:grpSpPr>
          <a:xfrm>
            <a:off x="7617241" y="2322786"/>
            <a:ext cx="2388795" cy="1722164"/>
            <a:chOff x="7617241" y="2322786"/>
            <a:chExt cx="2388795" cy="1722164"/>
          </a:xfrm>
        </p:grpSpPr>
        <p:sp>
          <p:nvSpPr>
            <p:cNvPr id="26" name="직사각형 25"/>
            <p:cNvSpPr/>
            <p:nvPr/>
          </p:nvSpPr>
          <p:spPr>
            <a:xfrm>
              <a:off x="7617241" y="3398619"/>
              <a:ext cx="238879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3600" dirty="0" smtClean="0">
                  <a:solidFill>
                    <a:srgbClr val="9999FF"/>
                  </a:solidFill>
                  <a:latin typeface="a타이틀고딕5" panose="02020600000000000000" pitchFamily="18" charset="-127"/>
                  <a:ea typeface="a타이틀고딕5" panose="02020600000000000000" pitchFamily="18" charset="-127"/>
                </a:rPr>
                <a:t>사용자</a:t>
              </a:r>
              <a:r>
                <a:rPr lang="en-US" altLang="ko-KR" sz="3600" dirty="0">
                  <a:solidFill>
                    <a:srgbClr val="9999FF"/>
                  </a:solidFill>
                  <a:latin typeface="a타이틀고딕5" panose="02020600000000000000" pitchFamily="18" charset="-127"/>
                  <a:ea typeface="a타이틀고딕5" panose="02020600000000000000" pitchFamily="18" charset="-127"/>
                </a:rPr>
                <a:t> </a:t>
              </a:r>
              <a:r>
                <a:rPr lang="ko-KR" altLang="en-US" sz="3600" dirty="0" smtClean="0">
                  <a:solidFill>
                    <a:srgbClr val="9999FF"/>
                  </a:solidFill>
                  <a:latin typeface="a타이틀고딕5" panose="02020600000000000000" pitchFamily="18" charset="-127"/>
                  <a:ea typeface="a타이틀고딕5" panose="02020600000000000000" pitchFamily="18" charset="-127"/>
                </a:rPr>
                <a:t>친화</a:t>
              </a:r>
              <a:endParaRPr lang="ko-KR" altLang="en-US" sz="3600" dirty="0">
                <a:solidFill>
                  <a:srgbClr val="9999FF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endParaRPr>
            </a:p>
          </p:txBody>
        </p:sp>
        <p:pic>
          <p:nvPicPr>
            <p:cNvPr id="4106" name="Picture 10" descr="iOS 18.4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9008" y="2322786"/>
              <a:ext cx="1020127" cy="10201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" name="직사각형 43"/>
          <p:cNvSpPr/>
          <p:nvPr/>
        </p:nvSpPr>
        <p:spPr>
          <a:xfrm>
            <a:off x="419100" y="919914"/>
            <a:ext cx="2669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프로젝트</a:t>
            </a:r>
            <a:r>
              <a:rPr lang="ko-KR" altLang="en-US" dirty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 </a:t>
            </a:r>
            <a:r>
              <a:rPr lang="ko-KR" altLang="en-US" dirty="0" smtClean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목표 </a:t>
            </a:r>
            <a:r>
              <a:rPr lang="ko-KR" altLang="en-US" dirty="0">
                <a:latin typeface="a타이틀고딕5" panose="02020600000000000000" pitchFamily="18" charset="-127"/>
                <a:ea typeface="a타이틀고딕5" panose="02020600000000000000" pitchFamily="18" charset="-127"/>
              </a:rPr>
              <a:t>＆ 핵심가치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30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2"/>
          <a:srcRect l="6286" t="13234" r="52746" b="44494"/>
          <a:stretch/>
        </p:blipFill>
        <p:spPr>
          <a:xfrm>
            <a:off x="6085019" y="3470542"/>
            <a:ext cx="3777916" cy="2598821"/>
          </a:xfrm>
          <a:prstGeom prst="rect">
            <a:avLst/>
          </a:prstGeom>
          <a:ln>
            <a:noFill/>
          </a:ln>
        </p:spPr>
      </p:pic>
      <p:sp>
        <p:nvSpPr>
          <p:cNvPr id="3" name="직사각형 2"/>
          <p:cNvSpPr/>
          <p:nvPr/>
        </p:nvSpPr>
        <p:spPr>
          <a:xfrm>
            <a:off x="9058456" y="5996082"/>
            <a:ext cx="1046021" cy="3117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1945105" y="1436169"/>
            <a:ext cx="8017043" cy="1364247"/>
          </a:xfrm>
          <a:prstGeom prst="rect">
            <a:avLst/>
          </a:prstGeom>
          <a:noFill/>
          <a:ln>
            <a:solidFill>
              <a:srgbClr val="D7D7FF"/>
            </a:solidFill>
          </a:ln>
          <a:effectLst>
            <a:glow rad="101600">
              <a:srgbClr val="D7D7FF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6000" dirty="0" smtClean="0">
                <a:solidFill>
                  <a:srgbClr val="FFC79C"/>
                </a:solidFill>
                <a:latin typeface="a타이틀고딕5" panose="02020600000000000000" pitchFamily="18" charset="-127"/>
                <a:ea typeface="a타이틀고딕5" panose="02020600000000000000" pitchFamily="18" charset="-127"/>
              </a:rPr>
              <a:t>ＴＨＡＮＫ ＹＯＵ</a:t>
            </a:r>
            <a:endParaRPr lang="ko-KR" altLang="en-US" sz="6000" dirty="0">
              <a:solidFill>
                <a:srgbClr val="FFC79C"/>
              </a:solidFill>
              <a:latin typeface="a타이틀고딕5" panose="02020600000000000000" pitchFamily="18" charset="-127"/>
              <a:ea typeface="a타이틀고딕5" panose="02020600000000000000" pitchFamily="18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581466" y="5736858"/>
            <a:ext cx="523011" cy="3117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2"/>
          <a:srcRect l="53109" t="13973" r="6552" b="45293"/>
          <a:stretch/>
        </p:blipFill>
        <p:spPr>
          <a:xfrm>
            <a:off x="2059259" y="3510741"/>
            <a:ext cx="3719945" cy="2504209"/>
          </a:xfrm>
          <a:prstGeom prst="rect">
            <a:avLst/>
          </a:prstGeom>
          <a:ln>
            <a:noFill/>
          </a:ln>
        </p:spPr>
      </p:pic>
      <p:sp>
        <p:nvSpPr>
          <p:cNvPr id="48" name="직사각형 47"/>
          <p:cNvSpPr/>
          <p:nvPr/>
        </p:nvSpPr>
        <p:spPr>
          <a:xfrm>
            <a:off x="1905764" y="5736858"/>
            <a:ext cx="523011" cy="3117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2092985" y="3554218"/>
            <a:ext cx="3686220" cy="2441864"/>
          </a:xfrm>
          <a:prstGeom prst="roundRect">
            <a:avLst>
              <a:gd name="adj" fmla="val 14557"/>
            </a:avLst>
          </a:prstGeom>
          <a:noFill/>
          <a:ln w="57150">
            <a:solidFill>
              <a:srgbClr val="99CCFF"/>
            </a:solidFill>
          </a:ln>
          <a:effectLst>
            <a:glow rad="63500">
              <a:srgbClr val="99CCFF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6126582" y="3554218"/>
            <a:ext cx="3686220" cy="2441864"/>
          </a:xfrm>
          <a:prstGeom prst="roundRect">
            <a:avLst>
              <a:gd name="adj" fmla="val 14557"/>
            </a:avLst>
          </a:prstGeom>
          <a:noFill/>
          <a:ln w="57150">
            <a:solidFill>
              <a:srgbClr val="99CCFF"/>
            </a:solidFill>
          </a:ln>
          <a:effectLst>
            <a:glow rad="63500">
              <a:srgbClr val="99CCFF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1380" y="3966496"/>
            <a:ext cx="807665" cy="649463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189186" y="189184"/>
            <a:ext cx="11813628" cy="6486478"/>
          </a:xfrm>
          <a:prstGeom prst="rect">
            <a:avLst/>
          </a:prstGeom>
          <a:noFill/>
          <a:ln>
            <a:solidFill>
              <a:srgbClr val="CBEFB3"/>
            </a:solidFill>
          </a:ln>
          <a:effectLst>
            <a:glow rad="101600">
              <a:srgbClr val="CBEFB3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01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5961</TotalTime>
  <Words>838</Words>
  <Application>Microsoft Office PowerPoint</Application>
  <PresentationFormat>와이드스크린</PresentationFormat>
  <Paragraphs>249</Paragraphs>
  <Slides>18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a타이틀고딕1</vt:lpstr>
      <vt:lpstr>a타이틀고딕2</vt:lpstr>
      <vt:lpstr>a타이틀고딕3</vt:lpstr>
      <vt:lpstr>a타이틀고딕5</vt:lpstr>
      <vt:lpstr>맑은 고딕</vt:lpstr>
      <vt:lpstr>함초롬돋움</vt:lpstr>
      <vt:lpstr>Arial</vt:lpstr>
      <vt:lpstr>Sans Serif Collection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154</cp:revision>
  <dcterms:created xsi:type="dcterms:W3CDTF">2025-03-28T16:02:34Z</dcterms:created>
  <dcterms:modified xsi:type="dcterms:W3CDTF">2025-04-04T06:36:52Z</dcterms:modified>
</cp:coreProperties>
</file>